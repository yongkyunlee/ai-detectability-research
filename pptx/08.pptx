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0CA"/>
          </a:solidFill>
        </a:fill>
      </a:tcStyle>
    </a:wholeTbl>
    <a:band2H>
      <a:tcTxStyle b="def" i="def"/>
      <a:tcStyle>
        <a:tcBdr/>
        <a:fill>
          <a:solidFill>
            <a:srgbClr val="E7F0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CDCA"/>
          </a:solidFill>
        </a:fill>
      </a:tcStyle>
    </a:wholeTbl>
    <a:band2H>
      <a:tcTxStyle b="def" i="def"/>
      <a:tcStyle>
        <a:tcBdr/>
        <a:fill>
          <a:solidFill>
            <a:srgbClr val="F0E8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BCBCB"/>
          </a:solidFill>
        </a:fill>
      </a:tcStyle>
    </a:wholeTbl>
    <a:band2H>
      <a:tcTxStyle b="def" i="def"/>
      <a:tcStyle>
        <a:tcBdr/>
        <a:fill>
          <a:solidFill>
            <a:srgbClr val="F5E7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05199"/>
            <a:ext cx="8229242" cy="858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3480"/>
            <a:ext cx="8229242" cy="2982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279549" y="4632644"/>
            <a:ext cx="273652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431999" marR="0" indent="-323998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xt Enrichment and…"/>
          <p:cNvSpPr txBox="1"/>
          <p:nvPr/>
        </p:nvSpPr>
        <p:spPr>
          <a:xfrm>
            <a:off x="776520" y="1097279"/>
            <a:ext cx="7590960" cy="1431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15000"/>
              </a:lnSpc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Context Enrichment and</a:t>
            </a:r>
          </a:p>
          <a:p>
            <a:pPr>
              <a:lnSpc>
                <a:spcPct val="115000"/>
              </a:lnSpc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Style Intervention for Reducing</a:t>
            </a:r>
          </a:p>
          <a:p>
            <a:pPr>
              <a:lnSpc>
                <a:spcPct val="115000"/>
              </a:lnSpc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AI Detectability in Technical Content</a:t>
            </a:r>
          </a:p>
        </p:txBody>
      </p:sp>
      <p:sp>
        <p:nvSpPr>
          <p:cNvPr id="30" name="Yongkyun Lee"/>
          <p:cNvSpPr txBox="1"/>
          <p:nvPr/>
        </p:nvSpPr>
        <p:spPr>
          <a:xfrm>
            <a:off x="776519" y="3200399"/>
            <a:ext cx="4482001" cy="331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>
                <a:solidFill>
                  <a:srgbClr val="3A82F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Yongkyun (Daniel) Lee</a:t>
            </a:r>
          </a:p>
        </p:txBody>
      </p:sp>
      <p:sp>
        <p:nvSpPr>
          <p:cNvPr id="31" name="Mini Research Project  -  March 2025"/>
          <p:cNvSpPr txBox="1"/>
          <p:nvPr/>
        </p:nvSpPr>
        <p:spPr>
          <a:xfrm>
            <a:off x="776519" y="3611879"/>
            <a:ext cx="4482001" cy="256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Mini Research Project  -  March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bout Me"/>
          <p:cNvSpPr txBox="1"/>
          <p:nvPr/>
        </p:nvSpPr>
        <p:spPr>
          <a:xfrm>
            <a:off x="593640" y="274319"/>
            <a:ext cx="44820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About Me</a:t>
            </a:r>
          </a:p>
        </p:txBody>
      </p:sp>
      <p:sp>
        <p:nvSpPr>
          <p:cNvPr id="34" name="yongkyun.daniel.lee@gmail.com  |  linkedin.com/in/yongkyunlee  |  noninertialframe.com"/>
          <p:cNvSpPr txBox="1"/>
          <p:nvPr/>
        </p:nvSpPr>
        <p:spPr>
          <a:xfrm>
            <a:off x="4434118" y="274319"/>
            <a:ext cx="4482006" cy="389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1100">
                <a:solidFill>
                  <a:srgbClr val="3A82F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yongkyun.daniel.lee@gmail.com  |  linkedin.com/in/yongkyunlee  |  noninertialframe.com</a:t>
            </a:r>
          </a:p>
        </p:txBody>
      </p:sp>
      <p:sp>
        <p:nvSpPr>
          <p:cNvPr id="35" name="Rectangle"/>
          <p:cNvSpPr/>
          <p:nvPr/>
        </p:nvSpPr>
        <p:spPr>
          <a:xfrm>
            <a:off x="1188719" y="1005836"/>
            <a:ext cx="27435" cy="3688925"/>
          </a:xfrm>
          <a:prstGeom prst="rect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6" name="Circle"/>
          <p:cNvSpPr/>
          <p:nvPr/>
        </p:nvSpPr>
        <p:spPr>
          <a:xfrm>
            <a:off x="1142999" y="1142999"/>
            <a:ext cx="118881" cy="118881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7" name="Sergeant, Republic of Korea Army"/>
          <p:cNvSpPr txBox="1"/>
          <p:nvPr/>
        </p:nvSpPr>
        <p:spPr>
          <a:xfrm>
            <a:off x="1477560" y="1055834"/>
            <a:ext cx="6996601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Sergeant, Republic of Korea Army</a:t>
            </a:r>
          </a:p>
        </p:txBody>
      </p:sp>
      <p:sp>
        <p:nvSpPr>
          <p:cNvPr id="38" name="Circle"/>
          <p:cNvSpPr/>
          <p:nvPr/>
        </p:nvSpPr>
        <p:spPr>
          <a:xfrm>
            <a:off x="1142999" y="1873000"/>
            <a:ext cx="118881" cy="118881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9" name="Software Engineer, Onehouse"/>
          <p:cNvSpPr txBox="1"/>
          <p:nvPr/>
        </p:nvSpPr>
        <p:spPr>
          <a:xfrm>
            <a:off x="1477560" y="3303851"/>
            <a:ext cx="6996601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Software Engineer, Onehouse</a:t>
            </a:r>
          </a:p>
        </p:txBody>
      </p:sp>
      <p:sp>
        <p:nvSpPr>
          <p:cNvPr id="40" name="Circle"/>
          <p:cNvSpPr/>
          <p:nvPr/>
        </p:nvSpPr>
        <p:spPr>
          <a:xfrm>
            <a:off x="1142999" y="2603000"/>
            <a:ext cx="118881" cy="118881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1" name="Analyst, Goldman Sachs"/>
          <p:cNvSpPr txBox="1"/>
          <p:nvPr/>
        </p:nvSpPr>
        <p:spPr>
          <a:xfrm>
            <a:off x="1477560" y="2515835"/>
            <a:ext cx="6996601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Analyst, Goldman Sachs</a:t>
            </a:r>
          </a:p>
        </p:txBody>
      </p:sp>
      <p:sp>
        <p:nvSpPr>
          <p:cNvPr id="42" name="Circle"/>
          <p:cNvSpPr/>
          <p:nvPr/>
        </p:nvSpPr>
        <p:spPr>
          <a:xfrm>
            <a:off x="1142999" y="3389236"/>
            <a:ext cx="118881" cy="118881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3" name="2021"/>
          <p:cNvSpPr txBox="1"/>
          <p:nvPr/>
        </p:nvSpPr>
        <p:spPr>
          <a:xfrm>
            <a:off x="558578" y="1865302"/>
            <a:ext cx="54864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2021</a:t>
            </a:r>
          </a:p>
        </p:txBody>
      </p:sp>
      <p:sp>
        <p:nvSpPr>
          <p:cNvPr id="44" name="2022-2026"/>
          <p:cNvSpPr txBox="1"/>
          <p:nvPr/>
        </p:nvSpPr>
        <p:spPr>
          <a:xfrm>
            <a:off x="272232" y="3381538"/>
            <a:ext cx="82504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2022-2026</a:t>
            </a:r>
          </a:p>
        </p:txBody>
      </p:sp>
      <p:sp>
        <p:nvSpPr>
          <p:cNvPr id="45" name="2021-2022"/>
          <p:cNvSpPr txBox="1"/>
          <p:nvPr/>
        </p:nvSpPr>
        <p:spPr>
          <a:xfrm>
            <a:off x="272232" y="2595302"/>
            <a:ext cx="82504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2021-2022</a:t>
            </a:r>
          </a:p>
        </p:txBody>
      </p:sp>
      <p:sp>
        <p:nvSpPr>
          <p:cNvPr id="46" name="Circle"/>
          <p:cNvSpPr/>
          <p:nvPr/>
        </p:nvSpPr>
        <p:spPr>
          <a:xfrm>
            <a:off x="1142999" y="4156790"/>
            <a:ext cx="118881" cy="118881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7" name="2016-2018"/>
          <p:cNvSpPr txBox="1"/>
          <p:nvPr/>
        </p:nvSpPr>
        <p:spPr>
          <a:xfrm>
            <a:off x="372139" y="1135302"/>
            <a:ext cx="73508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2016-2018</a:t>
            </a:r>
          </a:p>
        </p:txBody>
      </p:sp>
      <p:sp>
        <p:nvSpPr>
          <p:cNvPr id="48" name="B.S. Computer Science, Caltech"/>
          <p:cNvSpPr txBox="1"/>
          <p:nvPr/>
        </p:nvSpPr>
        <p:spPr>
          <a:xfrm>
            <a:off x="1477560" y="1785834"/>
            <a:ext cx="6996601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B.S. Computer Science, Caltech</a:t>
            </a:r>
          </a:p>
        </p:txBody>
      </p:sp>
      <p:sp>
        <p:nvSpPr>
          <p:cNvPr id="49" name="Portfolio management tool in Private Wealth Management Team"/>
          <p:cNvSpPr txBox="1"/>
          <p:nvPr/>
        </p:nvSpPr>
        <p:spPr>
          <a:xfrm>
            <a:off x="1515635" y="2839597"/>
            <a:ext cx="404065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Portfolio management tool in Private Wealth Management Team </a:t>
            </a:r>
          </a:p>
        </p:txBody>
      </p:sp>
      <p:sp>
        <p:nvSpPr>
          <p:cNvPr id="50" name="Spark Jobs/SQL platform. Quanton Engine optimization. Lakebase."/>
          <p:cNvSpPr txBox="1"/>
          <p:nvPr/>
        </p:nvSpPr>
        <p:spPr>
          <a:xfrm>
            <a:off x="1524100" y="3605374"/>
            <a:ext cx="408530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Spark Jobs/SQL platform. Quanton Engine optimization. Lakebase.</a:t>
            </a:r>
          </a:p>
        </p:txBody>
      </p:sp>
      <p:sp>
        <p:nvSpPr>
          <p:cNvPr id="51" name="2026-Present"/>
          <p:cNvSpPr txBox="1"/>
          <p:nvPr/>
        </p:nvSpPr>
        <p:spPr>
          <a:xfrm>
            <a:off x="272232" y="4149090"/>
            <a:ext cx="825048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2026-Present</a:t>
            </a:r>
          </a:p>
        </p:txBody>
      </p:sp>
      <p:sp>
        <p:nvSpPr>
          <p:cNvPr id="52" name="Founder, Galley"/>
          <p:cNvSpPr txBox="1"/>
          <p:nvPr/>
        </p:nvSpPr>
        <p:spPr>
          <a:xfrm>
            <a:off x="1477560" y="4069627"/>
            <a:ext cx="6996601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Founder, Galley</a:t>
            </a:r>
          </a:p>
        </p:txBody>
      </p:sp>
      <p:sp>
        <p:nvSpPr>
          <p:cNvPr id="53" name="AI team for technical content marketing"/>
          <p:cNvSpPr txBox="1"/>
          <p:nvPr/>
        </p:nvSpPr>
        <p:spPr>
          <a:xfrm>
            <a:off x="1515637" y="4356720"/>
            <a:ext cx="246650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AI team for technical content marketing</a:t>
            </a:r>
          </a:p>
        </p:txBody>
      </p:sp>
      <p:sp>
        <p:nvSpPr>
          <p:cNvPr id="54" name="SIGINT research"/>
          <p:cNvSpPr txBox="1"/>
          <p:nvPr/>
        </p:nvSpPr>
        <p:spPr>
          <a:xfrm>
            <a:off x="1515637" y="1347877"/>
            <a:ext cx="99355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SIGINT research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l;dr"/>
          <p:cNvSpPr txBox="1"/>
          <p:nvPr/>
        </p:nvSpPr>
        <p:spPr>
          <a:xfrm>
            <a:off x="776516" y="365757"/>
            <a:ext cx="3567607" cy="623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6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tl;dr</a:t>
            </a:r>
          </a:p>
        </p:txBody>
      </p:sp>
      <p:sp>
        <p:nvSpPr>
          <p:cNvPr id="57" name="Problem Label"/>
          <p:cNvSpPr txBox="1"/>
          <p:nvPr/>
        </p:nvSpPr>
        <p:spPr>
          <a:xfrm>
            <a:off x="776519" y="1188719"/>
            <a:ext cx="7591081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58" name="Problem Text"/>
          <p:cNvSpPr txBox="1"/>
          <p:nvPr/>
        </p:nvSpPr>
        <p:spPr>
          <a:xfrm>
            <a:off x="776519" y="1554717"/>
            <a:ext cx="7591081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AI-generated technical content is easily detected by both humans and detectors.</a:t>
            </a:r>
          </a:p>
        </p:txBody>
      </p:sp>
      <p:sp>
        <p:nvSpPr>
          <p:cNvPr id="59" name="Method Label"/>
          <p:cNvSpPr txBox="1"/>
          <p:nvPr/>
        </p:nvSpPr>
        <p:spPr>
          <a:xfrm>
            <a:off x="776519" y="2200000"/>
            <a:ext cx="7591081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F972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60" name="Method Text"/>
          <p:cNvSpPr txBox="1"/>
          <p:nvPr/>
        </p:nvSpPr>
        <p:spPr>
          <a:xfrm>
            <a:off x="776519" y="2565998"/>
            <a:ext cx="7591081" cy="574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Ablation study on the effects of context enrichment, style constraints, and post-hoc humanization on detectability and factual accuracy.</a:t>
            </a:r>
          </a:p>
        </p:txBody>
      </p:sp>
      <p:sp>
        <p:nvSpPr>
          <p:cNvPr id="61" name="Key Results Label"/>
          <p:cNvSpPr txBox="1"/>
          <p:nvPr/>
        </p:nvSpPr>
        <p:spPr>
          <a:xfrm>
            <a:off x="776458" y="3477438"/>
            <a:ext cx="7591084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62" name="Key Results Text"/>
          <p:cNvSpPr txBox="1"/>
          <p:nvPr/>
        </p:nvSpPr>
        <p:spPr>
          <a:xfrm>
            <a:off x="776458" y="3843439"/>
            <a:ext cx="7591084" cy="574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All AI conditions showed ~97% GPTZero AI probability vs. 35% for human baselines. Style constraints achieved highest factual precision (99.1%) while humanization degraded accuracy to 97.6%.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Motivation"/>
          <p:cNvSpPr txBox="1"/>
          <p:nvPr/>
        </p:nvSpPr>
        <p:spPr>
          <a:xfrm>
            <a:off x="776516" y="365757"/>
            <a:ext cx="3567607" cy="623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6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Motivation</a:t>
            </a:r>
          </a:p>
        </p:txBody>
      </p:sp>
      <p:sp>
        <p:nvSpPr>
          <p:cNvPr id="65" name="9x Label"/>
          <p:cNvSpPr txBox="1"/>
          <p:nvPr/>
        </p:nvSpPr>
        <p:spPr>
          <a:xfrm>
            <a:off x="776519" y="1100000"/>
            <a:ext cx="7591081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9x Growth in AI-Generated Content</a:t>
            </a:r>
          </a:p>
        </p:txBody>
      </p:sp>
      <p:sp>
        <p:nvSpPr>
          <p:cNvPr id="66" name="9x Text"/>
          <p:cNvSpPr txBox="1"/>
          <p:nvPr/>
        </p:nvSpPr>
        <p:spPr>
          <a:xfrm>
            <a:off x="776519" y="1460000"/>
            <a:ext cx="7591081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Explosive growth in low-quality AI content. Ninefold increase in “AI slop” mentions in 2025 vs. 2024</a:t>
            </a:r>
          </a:p>
        </p:txBody>
      </p:sp>
      <p:sp>
        <p:nvSpPr>
          <p:cNvPr id="67" name="73% Label"/>
          <p:cNvSpPr txBox="1"/>
          <p:nvPr/>
        </p:nvSpPr>
        <p:spPr>
          <a:xfrm>
            <a:off x="776458" y="2050000"/>
            <a:ext cx="7591084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F972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73% of Practitioners Say They Can Identify AI Text</a:t>
            </a:r>
          </a:p>
        </p:txBody>
      </p:sp>
      <p:sp>
        <p:nvSpPr>
          <p:cNvPr id="68" name="73% Text"/>
          <p:cNvSpPr txBox="1"/>
          <p:nvPr/>
        </p:nvSpPr>
        <p:spPr>
          <a:xfrm>
            <a:off x="776458" y="2409999"/>
            <a:ext cx="7591084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Medical experts correctly identified AI-authored text in ~72% of evaluations in a blinded study.</a:t>
            </a:r>
          </a:p>
        </p:txBody>
      </p:sp>
      <p:sp>
        <p:nvSpPr>
          <p:cNvPr id="69" name="99% Label"/>
          <p:cNvSpPr txBox="1"/>
          <p:nvPr/>
        </p:nvSpPr>
        <p:spPr>
          <a:xfrm>
            <a:off x="776519" y="3000000"/>
            <a:ext cx="7591081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EF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Quality is the biggest blocker to publishing more technical content </a:t>
            </a:r>
          </a:p>
        </p:txBody>
      </p:sp>
      <p:sp>
        <p:nvSpPr>
          <p:cNvPr id="70" name="99% Text"/>
          <p:cNvSpPr txBox="1"/>
          <p:nvPr/>
        </p:nvSpPr>
        <p:spPr>
          <a:xfrm>
            <a:off x="776519" y="3359999"/>
            <a:ext cx="7591081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From interviews with 10+ founders and GTM people, low quality of AI-generated blog posts is the issue.</a:t>
            </a:r>
          </a:p>
        </p:txBody>
      </p:sp>
      <p:sp>
        <p:nvSpPr>
          <p:cNvPr id="71" name="References"/>
          <p:cNvSpPr txBox="1"/>
          <p:nvPr/>
        </p:nvSpPr>
        <p:spPr>
          <a:xfrm>
            <a:off x="776519" y="4050000"/>
            <a:ext cx="7591081" cy="92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[1] Meltwater (2025). 9x increase in “AI slop” mentions.</a:t>
            </a:r>
          </a:p>
          <a:p>
            <a:pPr>
              <a:lnSpc>
                <a:spcPct val="150000"/>
              </a:lnSpc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[2] Detecting AI-Generated Text (PMC, 2023). Medical experts: ~72% accuracy.</a:t>
            </a:r>
          </a:p>
          <a:p>
            <a:pPr>
              <a:lnSpc>
                <a:spcPct val="150000"/>
              </a:lnSpc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[3] GPTZero Benchmark (2024). 99.3% overall accuracy, 0.24% FPR.</a:t>
            </a:r>
          </a:p>
          <a:p>
            <a:pPr>
              <a:lnSpc>
                <a:spcPct val="150000"/>
              </a:lnSpc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[4] Originality.ai (2024). 99%+ accuracy, &lt;1% FPR.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Literature Review"/>
          <p:cNvSpPr txBox="1"/>
          <p:nvPr/>
        </p:nvSpPr>
        <p:spPr>
          <a:xfrm>
            <a:off x="776518" y="320036"/>
            <a:ext cx="7590964" cy="55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Literature Review - AI Text Detection</a:t>
            </a:r>
          </a:p>
        </p:txBody>
      </p:sp>
      <p:sp>
        <p:nvSpPr>
          <p:cNvPr id="74" name="Paper 1"/>
          <p:cNvSpPr txBox="1"/>
          <p:nvPr/>
        </p:nvSpPr>
        <p:spPr>
          <a:xfrm>
            <a:off x="776458" y="1197211"/>
            <a:ext cx="7591084" cy="1021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400">
                <a:solidFill>
                  <a:srgbClr val="3A82F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DetectGPT: Zero-Shot Machine-Generated Text Detection using Probability Curvature</a:t>
            </a:r>
          </a:p>
          <a:p>
            <a:pPr>
              <a:defRPr b="1" sz="1400">
                <a:latin typeface="Calibri"/>
                <a:ea typeface="Calibri"/>
                <a:cs typeface="Calibri"/>
                <a:sym typeface="Calibri"/>
              </a:defRPr>
            </a:pPr>
            <a:r>
              <a:t>Mitchell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Detects AI text zero-shot by measuring log-probability curvature under perturbations. Foundational baseline method used in this study.</a:t>
            </a:r>
          </a:p>
        </p:txBody>
      </p:sp>
      <p:sp>
        <p:nvSpPr>
          <p:cNvPr id="75" name="Paper 2"/>
          <p:cNvSpPr txBox="1"/>
          <p:nvPr/>
        </p:nvSpPr>
        <p:spPr>
          <a:xfrm>
            <a:off x="776458" y="2536450"/>
            <a:ext cx="7591084" cy="1021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400">
                <a:solidFill>
                  <a:srgbClr val="3A82F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 Watermark for Large Language Models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4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Kirchenbauer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Partitions vocabulary into green/red token lists during generation, enabling statistical detection. Establishes proactive watermarking approach.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Literature Review"/>
          <p:cNvSpPr txBox="1"/>
          <p:nvPr/>
        </p:nvSpPr>
        <p:spPr>
          <a:xfrm>
            <a:off x="776517" y="320036"/>
            <a:ext cx="8281081" cy="55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Literature Review - Evasion &amp; Robustness</a:t>
            </a:r>
          </a:p>
        </p:txBody>
      </p:sp>
      <p:sp>
        <p:nvSpPr>
          <p:cNvPr id="78" name="Paper 1"/>
          <p:cNvSpPr txBox="1"/>
          <p:nvPr/>
        </p:nvSpPr>
        <p:spPr>
          <a:xfrm>
            <a:off x="776519" y="1249998"/>
            <a:ext cx="7591081" cy="663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97215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Can AI-Generated Text be Reliably Detected?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Sadasivan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Recursive paraphrasing degrades detector accuracy. Proves theoretical impossibility bounds as LLMs improve.</a:t>
            </a:r>
          </a:p>
        </p:txBody>
      </p:sp>
      <p:sp>
        <p:nvSpPr>
          <p:cNvPr id="79" name="Paper 2"/>
          <p:cNvSpPr txBox="1"/>
          <p:nvPr/>
        </p:nvSpPr>
        <p:spPr>
          <a:xfrm>
            <a:off x="776519" y="2149998"/>
            <a:ext cx="7591081" cy="916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97215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Paraphrasing Evades AI-Generated Text Detectors, but Retrieval is an Effective Defense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Krishna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11B-param DIPPER paraphraser defeats watermarking, GPTZero, and DetectGPT. Demonstrates fragility of current detection.</a:t>
            </a:r>
          </a:p>
        </p:txBody>
      </p:sp>
      <p:sp>
        <p:nvSpPr>
          <p:cNvPr id="80" name="Paper 3"/>
          <p:cNvSpPr txBox="1"/>
          <p:nvPr/>
        </p:nvSpPr>
        <p:spPr>
          <a:xfrm>
            <a:off x="776519" y="3200000"/>
            <a:ext cx="7591081" cy="663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97215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HUMPA: Humanized LLM-Paraphraser for Evading AI-Generated Text Detection (ICLR 2025)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Wang et al. (2025)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Trains a proxy LLM via DPO to produce human-like text that evades detectors.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Literature Review"/>
          <p:cNvSpPr txBox="1"/>
          <p:nvPr/>
        </p:nvSpPr>
        <p:spPr>
          <a:xfrm>
            <a:off x="776517" y="320036"/>
            <a:ext cx="8105576" cy="55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Literature Review - Detector Limitations</a:t>
            </a:r>
          </a:p>
        </p:txBody>
      </p:sp>
      <p:sp>
        <p:nvSpPr>
          <p:cNvPr id="83" name="Paper 1"/>
          <p:cNvSpPr txBox="1"/>
          <p:nvPr/>
        </p:nvSpPr>
        <p:spPr>
          <a:xfrm>
            <a:off x="776519" y="1249998"/>
            <a:ext cx="7591081" cy="916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59E0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GPT Detectors Are Biased Against Non-Native English Writers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Liang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Detectors show 61% false positive rate on non-native English writing. Highlights equity concerns in detector deployment and evaluation.</a:t>
            </a:r>
          </a:p>
        </p:txBody>
      </p:sp>
      <p:sp>
        <p:nvSpPr>
          <p:cNvPr id="84" name="Paper 2"/>
          <p:cNvSpPr txBox="1"/>
          <p:nvPr/>
        </p:nvSpPr>
        <p:spPr>
          <a:xfrm>
            <a:off x="776458" y="2303018"/>
            <a:ext cx="7591084" cy="916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59E0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DetectRL: Benchmarking LLM-Generated Text Detection in Real-World Scenarios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Wu et al. (2024)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Benchmarks SOTA detectors on real-world text, showing significant performance drops vs. lab conditions. Motivates ecological validity.</a:t>
            </a:r>
          </a:p>
        </p:txBody>
      </p:sp>
      <p:sp>
        <p:nvSpPr>
          <p:cNvPr id="85" name="Paper 3"/>
          <p:cNvSpPr txBox="1"/>
          <p:nvPr/>
        </p:nvSpPr>
        <p:spPr>
          <a:xfrm>
            <a:off x="776458" y="3356040"/>
            <a:ext cx="7591084" cy="916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59E0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Language Models Optimized to Fool Detectors Still Have a Distinct Style (And How to Change It)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Rivera Soto et al. (2025)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Models trained to evade detectors still retain measurable stylistic fingerprints. Supports using linguistic feature analysis as a complementary detection axis.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Literature Review"/>
          <p:cNvSpPr txBox="1"/>
          <p:nvPr/>
        </p:nvSpPr>
        <p:spPr>
          <a:xfrm>
            <a:off x="776518" y="320036"/>
            <a:ext cx="7590964" cy="55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Literature Review - Accuracy Metrics</a:t>
            </a:r>
          </a:p>
        </p:txBody>
      </p:sp>
      <p:sp>
        <p:nvSpPr>
          <p:cNvPr id="88" name="Paper 1"/>
          <p:cNvSpPr txBox="1"/>
          <p:nvPr/>
        </p:nvSpPr>
        <p:spPr>
          <a:xfrm>
            <a:off x="776519" y="1249998"/>
            <a:ext cx="7591081" cy="663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0FB98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Enabling Large Language Models to Generate Text with Citations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Gao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Proposes citation-level precision and recall metrics for evaluating factual grounding.</a:t>
            </a:r>
          </a:p>
        </p:txBody>
      </p:sp>
      <p:sp>
        <p:nvSpPr>
          <p:cNvPr id="89" name="Paper 2"/>
          <p:cNvSpPr txBox="1"/>
          <p:nvPr/>
        </p:nvSpPr>
        <p:spPr>
          <a:xfrm>
            <a:off x="776458" y="2324831"/>
            <a:ext cx="7591084" cy="663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0FB98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Evaluating Verifiability in Generative Search Engines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Liu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Shows high surface fluency does not guarantee factual accuracy.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Literature Review"/>
          <p:cNvSpPr txBox="1"/>
          <p:nvPr/>
        </p:nvSpPr>
        <p:spPr>
          <a:xfrm>
            <a:off x="776518" y="320036"/>
            <a:ext cx="7590964" cy="55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Literature Review - Gaps</a:t>
            </a:r>
          </a:p>
        </p:txBody>
      </p:sp>
      <p:sp>
        <p:nvSpPr>
          <p:cNvPr id="92" name="Gap Description"/>
          <p:cNvSpPr txBox="1"/>
          <p:nvPr/>
        </p:nvSpPr>
        <p:spPr>
          <a:xfrm>
            <a:off x="776519" y="1400000"/>
            <a:ext cx="7591081" cy="2070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40000"/>
              </a:lnSpc>
              <a:defRPr b="1" sz="14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Existing work addresses detection and evasion separately:</a:t>
            </a:r>
            <a:endParaRPr sz="1300">
              <a:solidFill>
                <a:srgbClr val="63738B"/>
              </a:solidFill>
            </a:endParaRPr>
          </a:p>
          <a:p>
            <a:pPr>
              <a:lnSpc>
                <a:spcPct val="140000"/>
              </a:lnSpc>
              <a:defRPr b="1" sz="1400">
                <a:solidFill>
                  <a:srgbClr val="0FB98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Detection: </a:t>
            </a:r>
            <a:r>
              <a:rPr b="0" sz="1300">
                <a:solidFill>
                  <a:srgbClr val="63738B"/>
                </a:solidFill>
              </a:rPr>
              <a:t>DetectGPT, watermarking, and trained classifiers achieve high accuracy on unmodified AI text.</a:t>
            </a:r>
            <a:endParaRPr sz="1300">
              <a:solidFill>
                <a:srgbClr val="63738B"/>
              </a:solidFill>
            </a:endParaRPr>
          </a:p>
          <a:p>
            <a:pPr>
              <a:lnSpc>
                <a:spcPct val="140000"/>
              </a:lnSpc>
              <a:defRPr b="1" sz="1400">
                <a:solidFill>
                  <a:srgbClr val="F97215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Evasion: </a:t>
            </a:r>
            <a:r>
              <a:rPr b="0" sz="1300">
                <a:solidFill>
                  <a:srgbClr val="63738B"/>
                </a:solidFill>
              </a:rPr>
              <a:t>Paraphrasing (DIPPER, HUMPA) defeats detectors but does not track factual accuracy trade-offs.</a:t>
            </a:r>
            <a:endParaRPr sz="1300">
              <a:solidFill>
                <a:srgbClr val="63738B"/>
              </a:solidFill>
            </a:endParaRPr>
          </a:p>
          <a:p>
            <a:pPr>
              <a:lnSpc>
                <a:spcPct val="140000"/>
              </a:lnSpc>
              <a:defRPr b="1" sz="1400">
                <a:solidFill>
                  <a:srgbClr val="EF434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Bias: </a:t>
            </a:r>
            <a:r>
              <a:rPr b="0" sz="1300">
                <a:solidFill>
                  <a:srgbClr val="63738B"/>
                </a:solidFill>
              </a:rPr>
              <a:t>Detectors show systematic biases (e.g., non-native English) and degrade in real-world conditions.</a:t>
            </a:r>
            <a:endParaRPr sz="1300">
              <a:solidFill>
                <a:srgbClr val="63738B"/>
              </a:solidFill>
            </a:endParaRPr>
          </a:p>
          <a:p>
            <a:pPr>
              <a:lnSpc>
                <a:spcPct val="14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</a:t>
            </a:r>
          </a:p>
          <a:p>
            <a:pPr>
              <a:lnSpc>
                <a:spcPct val="140000"/>
              </a:lnSpc>
              <a:defRPr b="1" sz="14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The Gap: </a:t>
            </a:r>
            <a:r>
              <a:rPr b="0">
                <a:solidFill>
                  <a:srgbClr val="1D283A"/>
                </a:solidFill>
              </a:rPr>
              <a:t>No prior work systematically isolates which content generation pipeline decisions reduce detectability while tracking factual accuracy as a co-metric.</a:t>
            </a:r>
          </a:p>
        </p:txBody>
      </p:sp>
      <p:sp>
        <p:nvSpPr>
          <p:cNvPr id="93" name="This study attempts to fill that gap with a controlled ablation design."/>
          <p:cNvSpPr txBox="1"/>
          <p:nvPr/>
        </p:nvSpPr>
        <p:spPr>
          <a:xfrm>
            <a:off x="801646" y="3881439"/>
            <a:ext cx="5047445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40000"/>
              </a:lnSpc>
              <a:defRPr b="1" sz="14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This study attempts to fill that gap with a controlled ablation design.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Experimental Design"/>
          <p:cNvSpPr txBox="1"/>
          <p:nvPr/>
        </p:nvSpPr>
        <p:spPr>
          <a:xfrm>
            <a:off x="776519" y="320036"/>
            <a:ext cx="7225201" cy="55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Experimental Design</a:t>
            </a:r>
          </a:p>
        </p:txBody>
      </p:sp>
      <p:sp>
        <p:nvSpPr>
          <p:cNvPr id="96" name="4-Condition Ablation Study"/>
          <p:cNvSpPr txBox="1"/>
          <p:nvPr/>
        </p:nvSpPr>
        <p:spPr>
          <a:xfrm>
            <a:off x="776519" y="1034636"/>
            <a:ext cx="7225201" cy="309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i="1" sz="17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4-Condition Ablation Study</a:t>
            </a:r>
          </a:p>
        </p:txBody>
      </p:sp>
      <p:sp>
        <p:nvSpPr>
          <p:cNvPr id="97" name="Rectangle"/>
          <p:cNvSpPr/>
          <p:nvPr/>
        </p:nvSpPr>
        <p:spPr>
          <a:xfrm>
            <a:off x="457018" y="1621558"/>
            <a:ext cx="8229964" cy="5673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98" name="context_rich label"/>
          <p:cNvSpPr txBox="1"/>
          <p:nvPr/>
        </p:nvSpPr>
        <p:spPr>
          <a:xfrm>
            <a:off x="771899" y="1990736"/>
            <a:ext cx="1318340" cy="25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context_rich</a:t>
            </a:r>
          </a:p>
        </p:txBody>
      </p:sp>
      <p:sp>
        <p:nvSpPr>
          <p:cNvPr id="99" name="context_rich desc"/>
          <p:cNvSpPr txBox="1"/>
          <p:nvPr/>
        </p:nvSpPr>
        <p:spPr>
          <a:xfrm>
            <a:off x="2399820" y="1993148"/>
            <a:ext cx="6000001" cy="22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Baseline</a:t>
            </a:r>
            <a:r>
              <a:rPr b="0"/>
              <a:t> - README, source files, GitHub issues, community threads, competitor docs</a:t>
            </a:r>
          </a:p>
        </p:txBody>
      </p:sp>
      <p:sp>
        <p:nvSpPr>
          <p:cNvPr id="100" name="Rectangle"/>
          <p:cNvSpPr/>
          <p:nvPr/>
        </p:nvSpPr>
        <p:spPr>
          <a:xfrm>
            <a:off x="457018" y="2289000"/>
            <a:ext cx="8229964" cy="5673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01" name="style_constrained label"/>
          <p:cNvSpPr txBox="1"/>
          <p:nvPr/>
        </p:nvSpPr>
        <p:spPr>
          <a:xfrm>
            <a:off x="741163" y="2439791"/>
            <a:ext cx="1738805" cy="25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style_constrained</a:t>
            </a:r>
          </a:p>
        </p:txBody>
      </p:sp>
      <p:sp>
        <p:nvSpPr>
          <p:cNvPr id="102" name="style_constrained desc"/>
          <p:cNvSpPr txBox="1"/>
          <p:nvPr/>
        </p:nvSpPr>
        <p:spPr>
          <a:xfrm>
            <a:off x="2399820" y="2471251"/>
            <a:ext cx="6000001" cy="22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+ Persona prompt, anti-pattern rules, sentence structure rules, content rules</a:t>
            </a:r>
          </a:p>
        </p:txBody>
      </p:sp>
      <p:sp>
        <p:nvSpPr>
          <p:cNvPr id="103" name="Rectangle"/>
          <p:cNvSpPr/>
          <p:nvPr/>
        </p:nvSpPr>
        <p:spPr>
          <a:xfrm>
            <a:off x="457018" y="2956440"/>
            <a:ext cx="8229964" cy="5673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04" name="humanized label"/>
          <p:cNvSpPr txBox="1"/>
          <p:nvPr/>
        </p:nvSpPr>
        <p:spPr>
          <a:xfrm>
            <a:off x="741163" y="2923736"/>
            <a:ext cx="1738805" cy="25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F97215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humanized</a:t>
            </a:r>
          </a:p>
        </p:txBody>
      </p:sp>
      <p:sp>
        <p:nvSpPr>
          <p:cNvPr id="105" name="humanized desc"/>
          <p:cNvSpPr txBox="1"/>
          <p:nvPr/>
        </p:nvSpPr>
        <p:spPr>
          <a:xfrm>
            <a:off x="2399820" y="2951766"/>
            <a:ext cx="6000001" cy="22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context_rich output rewritten with “sound human” prompt</a:t>
            </a:r>
          </a:p>
        </p:txBody>
      </p:sp>
      <p:sp>
        <p:nvSpPr>
          <p:cNvPr id="106" name="human_baseline label"/>
          <p:cNvSpPr txBox="1"/>
          <p:nvPr/>
        </p:nvSpPr>
        <p:spPr>
          <a:xfrm>
            <a:off x="741163" y="3401357"/>
            <a:ext cx="1738805" cy="25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B59B6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human_baseline</a:t>
            </a:r>
          </a:p>
        </p:txBody>
      </p:sp>
      <p:sp>
        <p:nvSpPr>
          <p:cNvPr id="107" name="human_baseline desc"/>
          <p:cNvSpPr txBox="1"/>
          <p:nvPr/>
        </p:nvSpPr>
        <p:spPr>
          <a:xfrm>
            <a:off x="2399820" y="3415372"/>
            <a:ext cx="6000001" cy="22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Gold set - real engineer-written blog posts</a:t>
            </a:r>
          </a:p>
        </p:txBody>
      </p:sp>
      <p:sp>
        <p:nvSpPr>
          <p:cNvPr id="108" name="Open Source Projects"/>
          <p:cNvSpPr txBox="1"/>
          <p:nvPr/>
        </p:nvSpPr>
        <p:spPr>
          <a:xfrm>
            <a:off x="755214" y="1520869"/>
            <a:ext cx="8229963" cy="246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2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3 Open Source Projects: </a:t>
            </a:r>
            <a:r>
              <a:rPr b="0"/>
              <a:t>CrewAI  |  DuckDB  |  LangChain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ersona Text"/>
          <p:cNvSpPr txBox="1"/>
          <p:nvPr/>
        </p:nvSpPr>
        <p:spPr>
          <a:xfrm>
            <a:off x="789920" y="1027675"/>
            <a:ext cx="7900001" cy="224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i="1" sz="11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Persona: “You are a senior backend engineer writing for other engineers on your team’s blog. Sound experienced and opinionated.”</a:t>
            </a:r>
          </a:p>
        </p:txBody>
      </p:sp>
      <p:sp>
        <p:nvSpPr>
          <p:cNvPr id="111" name="Section 1 BG"/>
          <p:cNvSpPr/>
          <p:nvPr/>
        </p:nvSpPr>
        <p:spPr>
          <a:xfrm>
            <a:off x="624939" y="1399679"/>
            <a:ext cx="8229964" cy="950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12" name="Sentence Structure Title"/>
          <p:cNvSpPr txBox="1"/>
          <p:nvPr/>
        </p:nvSpPr>
        <p:spPr>
          <a:xfrm>
            <a:off x="767741" y="1419679"/>
            <a:ext cx="2200001" cy="28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Sentence Structure</a:t>
            </a:r>
          </a:p>
        </p:txBody>
      </p:sp>
      <p:sp>
        <p:nvSpPr>
          <p:cNvPr id="113" name="Sentence Structure Content"/>
          <p:cNvSpPr txBox="1"/>
          <p:nvPr/>
        </p:nvSpPr>
        <p:spPr>
          <a:xfrm>
            <a:off x="767741" y="1699680"/>
            <a:ext cx="7900001" cy="631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Vary sentence length aggressively: mix very short (3-7 words) with longer complex ones (25+ words)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Use contractions naturally: don’t, it’s, we’ve, wouldn’t, can’t, I’m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Start some sentences with I, We, So, But, or And. Use occasional sentence fragments for emphasis.</a:t>
            </a:r>
          </a:p>
        </p:txBody>
      </p:sp>
      <p:sp>
        <p:nvSpPr>
          <p:cNvPr id="114" name="Section 2 BG"/>
          <p:cNvSpPr/>
          <p:nvPr/>
        </p:nvSpPr>
        <p:spPr>
          <a:xfrm>
            <a:off x="624939" y="2449680"/>
            <a:ext cx="8229964" cy="1050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15" name="Anti-Pattern Title"/>
          <p:cNvSpPr txBox="1"/>
          <p:nvPr/>
        </p:nvSpPr>
        <p:spPr>
          <a:xfrm>
            <a:off x="767741" y="2469679"/>
            <a:ext cx="2200001" cy="28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EF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Anti-Pattern Rules</a:t>
            </a:r>
          </a:p>
        </p:txBody>
      </p:sp>
      <p:sp>
        <p:nvSpPr>
          <p:cNvPr id="116" name="Anti-Pattern Content"/>
          <p:cNvSpPr txBox="1"/>
          <p:nvPr/>
        </p:nvSpPr>
        <p:spPr>
          <a:xfrm>
            <a:off x="767741" y="2749679"/>
            <a:ext cx="7900001" cy="844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Never use: Moreover, Furthermore, Additionally, Subsequently, Accordingly, Indeed, Notably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Never open with: “In the world of”, “In today’s”, “Let’s dive in”, “It’s important to note”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Ban overused AI words: delve, leverage, streamline, robust, seamless, cutting-edge, pivotal, holistic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No excessive bullet lists, no em dashes, no hedging (“arguably”, “one might argue”)</a:t>
            </a:r>
          </a:p>
        </p:txBody>
      </p:sp>
      <p:sp>
        <p:nvSpPr>
          <p:cNvPr id="117" name="Section 3 BG"/>
          <p:cNvSpPr/>
          <p:nvPr/>
        </p:nvSpPr>
        <p:spPr>
          <a:xfrm>
            <a:off x="624939" y="3708976"/>
            <a:ext cx="8229964" cy="92000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18" name="Content Rules Title"/>
          <p:cNvSpPr txBox="1"/>
          <p:nvPr/>
        </p:nvSpPr>
        <p:spPr>
          <a:xfrm>
            <a:off x="767741" y="3728976"/>
            <a:ext cx="2200001" cy="28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Content Rules</a:t>
            </a:r>
          </a:p>
        </p:txBody>
      </p:sp>
      <p:sp>
        <p:nvSpPr>
          <p:cNvPr id="119" name="Content Rules Content"/>
          <p:cNvSpPr txBox="1"/>
          <p:nvPr/>
        </p:nvSpPr>
        <p:spPr>
          <a:xfrm>
            <a:off x="767741" y="4008976"/>
            <a:ext cx="7900001" cy="631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Include at least one specific version number, date, or command from provided sources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Only mention errors/configs that appear in provided sources. Do not invent examples.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Include one grounded trade-off judgment and 1-2 mild opinions or subjective judgments</a:t>
            </a:r>
          </a:p>
        </p:txBody>
      </p:sp>
      <p:sp>
        <p:nvSpPr>
          <p:cNvPr id="120" name="Experimental Design"/>
          <p:cNvSpPr txBox="1"/>
          <p:nvPr/>
        </p:nvSpPr>
        <p:spPr>
          <a:xfrm>
            <a:off x="776519" y="320037"/>
            <a:ext cx="7225201" cy="55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Style Constraint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Methodology: Two Evaluation Axes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Methodology: Two Evaluation Axes</a:t>
            </a:r>
          </a:p>
        </p:txBody>
      </p:sp>
      <p:sp>
        <p:nvSpPr>
          <p:cNvPr id="123" name="AI Detect BG"/>
          <p:cNvSpPr/>
          <p:nvPr/>
        </p:nvSpPr>
        <p:spPr>
          <a:xfrm>
            <a:off x="640078" y="1045120"/>
            <a:ext cx="8229963" cy="150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4" name="AI Detectability Title"/>
          <p:cNvSpPr txBox="1"/>
          <p:nvPr/>
        </p:nvSpPr>
        <p:spPr>
          <a:xfrm>
            <a:off x="805059" y="1231726"/>
            <a:ext cx="3000001" cy="331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6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AI Detectability</a:t>
            </a:r>
          </a:p>
        </p:txBody>
      </p:sp>
      <p:sp>
        <p:nvSpPr>
          <p:cNvPr id="125" name="AI Detect Method"/>
          <p:cNvSpPr txBox="1"/>
          <p:nvPr/>
        </p:nvSpPr>
        <p:spPr>
          <a:xfrm>
            <a:off x="805059" y="1561726"/>
            <a:ext cx="7900001" cy="224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30000"/>
              </a:lnSpc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GPTZero</a:t>
            </a:r>
            <a:r>
              <a:rPr b="0"/>
              <a:t>: gptzero_generated_prob and gptzero_human_prob per document</a:t>
            </a:r>
          </a:p>
        </p:txBody>
      </p:sp>
      <p:sp>
        <p:nvSpPr>
          <p:cNvPr id="126" name="AI Detect Detail"/>
          <p:cNvSpPr txBox="1"/>
          <p:nvPr/>
        </p:nvSpPr>
        <p:spPr>
          <a:xfrm>
            <a:off x="805059" y="1861726"/>
            <a:ext cx="7900001" cy="496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30000"/>
              </a:lnSpc>
              <a:spcBef>
                <a:spcPts val="5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Each document submitted to GPTZero API (v2/predict/text)</a:t>
            </a:r>
          </a:p>
          <a:p>
            <a:pPr marL="161280" indent="-161280">
              <a:lnSpc>
                <a:spcPct val="130000"/>
              </a:lnSpc>
              <a:spcBef>
                <a:spcPts val="5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Primary metric: generated_prob (probability text is AI-generated, 0-1)</a:t>
            </a:r>
          </a:p>
        </p:txBody>
      </p:sp>
      <p:sp>
        <p:nvSpPr>
          <p:cNvPr id="127" name="Factual BG"/>
          <p:cNvSpPr/>
          <p:nvPr/>
        </p:nvSpPr>
        <p:spPr>
          <a:xfrm>
            <a:off x="457198" y="2650000"/>
            <a:ext cx="8229963" cy="200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8" name="Factual Accuracy Title"/>
          <p:cNvSpPr txBox="1"/>
          <p:nvPr/>
        </p:nvSpPr>
        <p:spPr>
          <a:xfrm>
            <a:off x="805059" y="2773802"/>
            <a:ext cx="3000001" cy="331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6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Factual Accuracy (LLM Judge)</a:t>
            </a:r>
          </a:p>
        </p:txBody>
      </p:sp>
      <p:sp>
        <p:nvSpPr>
          <p:cNvPr id="129" name="Factual Method"/>
          <p:cNvSpPr txBox="1"/>
          <p:nvPr/>
        </p:nvSpPr>
        <p:spPr>
          <a:xfrm>
            <a:off x="805059" y="3103802"/>
            <a:ext cx="7900001" cy="224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Two-step LLM judge pipeline using Claude Opus</a:t>
            </a:r>
          </a:p>
        </p:txBody>
      </p:sp>
      <p:sp>
        <p:nvSpPr>
          <p:cNvPr id="130" name="Factual Detail"/>
          <p:cNvSpPr txBox="1"/>
          <p:nvPr/>
        </p:nvSpPr>
        <p:spPr>
          <a:xfrm>
            <a:off x="805059" y="3403802"/>
            <a:ext cx="7900001" cy="793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40000"/>
              </a:lnSpc>
              <a:spcBef>
                <a:spcPts val="500"/>
              </a:spcBef>
              <a:defRPr b="1"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Step 1 - Claim Extraction:</a:t>
            </a:r>
            <a:r>
              <a:rPr b="0"/>
              <a:t> Extract all atomic factual claims from generated text</a:t>
            </a:r>
          </a:p>
          <a:p>
            <a:pPr marL="161280" indent="-161280">
              <a:lnSpc>
                <a:spcPct val="140000"/>
              </a:lnSpc>
              <a:spcBef>
                <a:spcPts val="500"/>
              </a:spcBef>
              <a:defRPr b="1"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Step 2 - Claim Verification:</a:t>
            </a:r>
            <a:r>
              <a:rPr b="0"/>
              <a:t> Judge each claim against reference docs as CORRECT, INCORRECT, or UNVERIFIABLE</a:t>
            </a:r>
          </a:p>
          <a:p>
            <a:pPr marL="161280" indent="-161280">
              <a:lnSpc>
                <a:spcPct val="140000"/>
              </a:lnSpc>
              <a:spcBef>
                <a:spcPts val="500"/>
              </a:spcBef>
              <a:defRPr b="1"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Metric:</a:t>
            </a:r>
            <a:r>
              <a:rPr b="0"/>
              <a:t> Factual precision = correct_claims / total_claims per document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sults: AI Detectability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Results: AI Detectability</a:t>
            </a:r>
          </a:p>
        </p:txBody>
      </p:sp>
      <p:sp>
        <p:nvSpPr>
          <p:cNvPr id="133" name="Rectangle"/>
          <p:cNvSpPr/>
          <p:nvPr/>
        </p:nvSpPr>
        <p:spPr>
          <a:xfrm>
            <a:off x="457198" y="1005836"/>
            <a:ext cx="8229963" cy="320076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22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34" name="Rectangle"/>
          <p:cNvSpPr/>
          <p:nvPr/>
        </p:nvSpPr>
        <p:spPr>
          <a:xfrm>
            <a:off x="457198" y="4343400"/>
            <a:ext cx="8229963" cy="5032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35" name="No significant difference between AI conditions (all ~97% AI prob). Human baseline significantly different (p&lt;0.01)."/>
          <p:cNvSpPr txBox="1"/>
          <p:nvPr/>
        </p:nvSpPr>
        <p:spPr>
          <a:xfrm>
            <a:off x="593639" y="3886198"/>
            <a:ext cx="7590961" cy="507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10289" indent="-110289">
              <a:buSzPct val="100000"/>
              <a:buChar char="*"/>
              <a:defRPr sz="1400">
                <a:latin typeface="Calibri"/>
                <a:ea typeface="Calibri"/>
                <a:cs typeface="Calibri"/>
                <a:sym typeface="Calibri"/>
              </a:defRPr>
            </a:pPr>
            <a:r>
              <a:t>No significant difference between AI conditions.</a:t>
            </a:r>
          </a:p>
          <a:p>
            <a:pPr marL="110289" indent="-110289">
              <a:buSzPct val="100000"/>
              <a:buChar char="*"/>
              <a:defRPr sz="1400">
                <a:latin typeface="Calibri"/>
                <a:ea typeface="Calibri"/>
                <a:cs typeface="Calibri"/>
                <a:sym typeface="Calibri"/>
              </a:defRPr>
            </a:pPr>
            <a:r>
              <a:t>Human-written blog posts are significantly different</a:t>
            </a:r>
          </a:p>
        </p:txBody>
      </p:sp>
      <p:pic>
        <p:nvPicPr>
          <p:cNvPr id="13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1503" y="1569047"/>
            <a:ext cx="7740994" cy="17192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sults: AI Detectability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Results: Accuracy</a:t>
            </a:r>
          </a:p>
        </p:txBody>
      </p:sp>
      <p:sp>
        <p:nvSpPr>
          <p:cNvPr id="139" name="Rectangle"/>
          <p:cNvSpPr/>
          <p:nvPr/>
        </p:nvSpPr>
        <p:spPr>
          <a:xfrm>
            <a:off x="457198" y="1005836"/>
            <a:ext cx="8229963" cy="320076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 sz="22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0" name="Rectangle"/>
          <p:cNvSpPr/>
          <p:nvPr/>
        </p:nvSpPr>
        <p:spPr>
          <a:xfrm>
            <a:off x="457198" y="4343400"/>
            <a:ext cx="8229963" cy="5032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1" name="No significant difference between AI conditions (all ~97% AI prob). Human baseline significantly different (p&lt;0.01)."/>
          <p:cNvSpPr txBox="1"/>
          <p:nvPr/>
        </p:nvSpPr>
        <p:spPr>
          <a:xfrm>
            <a:off x="593639" y="3886198"/>
            <a:ext cx="7590961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marL="110289" indent="-110289">
              <a:buSzPct val="100000"/>
              <a:buChar char="*"/>
              <a:defRPr sz="1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No significant difference between models or conditions</a:t>
            </a:r>
          </a:p>
        </p:txBody>
      </p:sp>
      <p:pic>
        <p:nvPicPr>
          <p:cNvPr id="14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2189" y="1362031"/>
            <a:ext cx="6959622" cy="16554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sults: Linguistic Feature Analysis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Results: Linguistic Feature Analysis</a:t>
            </a:r>
          </a:p>
        </p:txBody>
      </p:sp>
      <p:sp>
        <p:nvSpPr>
          <p:cNvPr id="145" name="Rectangle"/>
          <p:cNvSpPr/>
          <p:nvPr/>
        </p:nvSpPr>
        <p:spPr>
          <a:xfrm>
            <a:off x="457195" y="1005838"/>
            <a:ext cx="5029568" cy="237780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14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5591" y="926261"/>
            <a:ext cx="5219889" cy="284221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12841" y="874082"/>
            <a:ext cx="2521430" cy="292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Sentence Structure Content"/>
          <p:cNvSpPr txBox="1"/>
          <p:nvPr/>
        </p:nvSpPr>
        <p:spPr>
          <a:xfrm>
            <a:off x="439119" y="3878294"/>
            <a:ext cx="7900001" cy="1058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sent_len_mean: average sentence length. sent_len_std: standard deviation of sentence length. vocab_diversity: unique words / total words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contraction_rate: ratio of contracted (e.g. don't) form. first_person_rate: proportion of first-person words (e.g. we, I)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discourse_marker_rate: occurrences of filler/transition phrases per sentence (e.g., "furthermore", "it's worth noting")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list_density: List items (e.g. bullet points) per paragraph. Passive ratio: fraction of sentences containing passive voice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paragraph_len_std: standard deviation of paragraph lengths (in words). specificity_score: named entities + numeric tokens per sentence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sults: Linguistic Feature Analysis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Results &amp; Future Work</a:t>
            </a:r>
          </a:p>
        </p:txBody>
      </p:sp>
      <p:sp>
        <p:nvSpPr>
          <p:cNvPr id="151" name="Problem Label"/>
          <p:cNvSpPr txBox="1"/>
          <p:nvPr/>
        </p:nvSpPr>
        <p:spPr>
          <a:xfrm>
            <a:off x="776519" y="1188719"/>
            <a:ext cx="7591081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Result</a:t>
            </a:r>
          </a:p>
        </p:txBody>
      </p:sp>
      <p:sp>
        <p:nvSpPr>
          <p:cNvPr id="152" name="73% Label"/>
          <p:cNvSpPr txBox="1"/>
          <p:nvPr/>
        </p:nvSpPr>
        <p:spPr>
          <a:xfrm>
            <a:off x="776458" y="2883120"/>
            <a:ext cx="7591084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F972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Future Work</a:t>
            </a:r>
          </a:p>
        </p:txBody>
      </p:sp>
      <p:sp>
        <p:nvSpPr>
          <p:cNvPr id="153" name="Sentence Structure Content"/>
          <p:cNvSpPr txBox="1"/>
          <p:nvPr/>
        </p:nvSpPr>
        <p:spPr>
          <a:xfrm>
            <a:off x="784559" y="1706903"/>
            <a:ext cx="7900001" cy="596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20000"/>
              </a:lnSpc>
              <a:spcBef>
                <a:spcPts val="400"/>
              </a:spcBef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Simple prompt engineering is not good enough to avoid AI detection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Prompt for adjusting style does not affect factual accuracy</a:t>
            </a:r>
          </a:p>
        </p:txBody>
      </p:sp>
      <p:sp>
        <p:nvSpPr>
          <p:cNvPr id="154" name="Sentence Structure Content"/>
          <p:cNvSpPr txBox="1"/>
          <p:nvPr/>
        </p:nvSpPr>
        <p:spPr>
          <a:xfrm>
            <a:off x="784559" y="3368063"/>
            <a:ext cx="7900001" cy="596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20000"/>
              </a:lnSpc>
              <a:spcBef>
                <a:spcPts val="400"/>
              </a:spcBef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Try different ways of recursive paraphrasing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Use AI detector's diagnosis in paraphrasing process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Demo &amp; Links"/>
          <p:cNvSpPr txBox="1"/>
          <p:nvPr/>
        </p:nvSpPr>
        <p:spPr>
          <a:xfrm>
            <a:off x="776519" y="365757"/>
            <a:ext cx="4482001" cy="623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6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Links</a:t>
            </a:r>
          </a:p>
        </p:txBody>
      </p:sp>
      <p:sp>
        <p:nvSpPr>
          <p:cNvPr id="157" name="YouTube Demo"/>
          <p:cNvSpPr txBox="1"/>
          <p:nvPr/>
        </p:nvSpPr>
        <p:spPr>
          <a:xfrm>
            <a:off x="776518" y="1436369"/>
            <a:ext cx="1595690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Github Link: </a:t>
            </a:r>
          </a:p>
        </p:txBody>
      </p:sp>
      <p:sp>
        <p:nvSpPr>
          <p:cNvPr id="158" name="18 / 18"/>
          <p:cNvSpPr txBox="1"/>
          <p:nvPr/>
        </p:nvSpPr>
        <p:spPr>
          <a:xfrm>
            <a:off x="8091719" y="4754879"/>
            <a:ext cx="824405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18 / 18</a:t>
            </a:r>
          </a:p>
        </p:txBody>
      </p:sp>
      <p:sp>
        <p:nvSpPr>
          <p:cNvPr id="159" name="github.com/yongkyunlee/ai-detectability-research"/>
          <p:cNvSpPr txBox="1"/>
          <p:nvPr/>
        </p:nvSpPr>
        <p:spPr>
          <a:xfrm>
            <a:off x="2370732" y="1525818"/>
            <a:ext cx="440253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github.com/yongkyunlee/ai-detectability-research</a:t>
            </a:r>
          </a:p>
        </p:txBody>
      </p:sp>
      <p:sp>
        <p:nvSpPr>
          <p:cNvPr id="160" name="YouTube Demo"/>
          <p:cNvSpPr txBox="1"/>
          <p:nvPr/>
        </p:nvSpPr>
        <p:spPr>
          <a:xfrm>
            <a:off x="776518" y="2101849"/>
            <a:ext cx="1595690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Youtube Link: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FF"/>
      </a:hlink>
      <a:folHlink>
        <a:srgbClr val="FF00FF"/>
      </a:folHlink>
    </a:clrScheme>
    <a:fontScheme name="Offic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FF"/>
      </a:hlink>
      <a:folHlink>
        <a:srgbClr val="FF00FF"/>
      </a:folHlink>
    </a:clrScheme>
    <a:fontScheme name="Offic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