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0CA"/>
          </a:solidFill>
        </a:fill>
      </a:tcStyle>
    </a:wholeTbl>
    <a:band2H>
      <a:tcTxStyle b="def" i="def"/>
      <a:tcStyle>
        <a:tcBdr/>
        <a:fill>
          <a:solidFill>
            <a:srgbClr val="E7F0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CDCA"/>
          </a:solidFill>
        </a:fill>
      </a:tcStyle>
    </a:wholeTbl>
    <a:band2H>
      <a:tcTxStyle b="def" i="def"/>
      <a:tcStyle>
        <a:tcBdr/>
        <a:fill>
          <a:solidFill>
            <a:srgbClr val="F0E8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BCBCB"/>
          </a:solidFill>
        </a:fill>
      </a:tcStyle>
    </a:wholeTbl>
    <a:band2H>
      <a:tcTxStyle b="def" i="def"/>
      <a:tcStyle>
        <a:tcBdr/>
        <a:fill>
          <a:solidFill>
            <a:srgbClr val="F5E7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05199"/>
            <a:ext cx="8229242" cy="858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3480"/>
            <a:ext cx="8229242" cy="2982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279549" y="4632644"/>
            <a:ext cx="273652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431999" marR="0" indent="-323998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xt Enrichment and…"/>
          <p:cNvSpPr txBox="1"/>
          <p:nvPr/>
        </p:nvSpPr>
        <p:spPr>
          <a:xfrm>
            <a:off x="776520" y="1097280"/>
            <a:ext cx="7590960" cy="1431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15000"/>
              </a:lnSpc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Context Enrichment and</a:t>
            </a:r>
          </a:p>
          <a:p>
            <a:pPr>
              <a:lnSpc>
                <a:spcPct val="115000"/>
              </a:lnSpc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Style Intervention for Reducing</a:t>
            </a:r>
          </a:p>
          <a:p>
            <a:pPr>
              <a:lnSpc>
                <a:spcPct val="115000"/>
              </a:lnSpc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AI Detectability in Technical Content</a:t>
            </a:r>
          </a:p>
        </p:txBody>
      </p:sp>
      <p:sp>
        <p:nvSpPr>
          <p:cNvPr id="30" name="Yongkyun Lee"/>
          <p:cNvSpPr txBox="1"/>
          <p:nvPr/>
        </p:nvSpPr>
        <p:spPr>
          <a:xfrm>
            <a:off x="776519" y="3200399"/>
            <a:ext cx="4482001" cy="331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>
                <a:solidFill>
                  <a:srgbClr val="3A82F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Yongkyun (Daniel) Lee</a:t>
            </a:r>
          </a:p>
        </p:txBody>
      </p:sp>
      <p:sp>
        <p:nvSpPr>
          <p:cNvPr id="31" name="Mini Research Project  -  March 2025"/>
          <p:cNvSpPr txBox="1"/>
          <p:nvPr/>
        </p:nvSpPr>
        <p:spPr>
          <a:xfrm>
            <a:off x="776519" y="3611879"/>
            <a:ext cx="4482001" cy="256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Mini Research Project  -  March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bout Me"/>
          <p:cNvSpPr txBox="1"/>
          <p:nvPr/>
        </p:nvSpPr>
        <p:spPr>
          <a:xfrm>
            <a:off x="593640" y="274319"/>
            <a:ext cx="44820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About Me</a:t>
            </a:r>
          </a:p>
        </p:txBody>
      </p:sp>
      <p:sp>
        <p:nvSpPr>
          <p:cNvPr id="34" name="yongkyun.daniel.lee@gmail.com  |  linkedin.com/in/yongkyunlee  |  noninertialframe.com"/>
          <p:cNvSpPr txBox="1"/>
          <p:nvPr/>
        </p:nvSpPr>
        <p:spPr>
          <a:xfrm>
            <a:off x="4434118" y="274319"/>
            <a:ext cx="4482005" cy="389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1100">
                <a:solidFill>
                  <a:srgbClr val="3A82F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yongkyun.daniel.lee@gmail.com  |  linkedin.com/in/yongkyunlee  |  noninertialframe.com</a:t>
            </a:r>
          </a:p>
        </p:txBody>
      </p:sp>
      <p:sp>
        <p:nvSpPr>
          <p:cNvPr id="35" name="Rectangle"/>
          <p:cNvSpPr/>
          <p:nvPr/>
        </p:nvSpPr>
        <p:spPr>
          <a:xfrm>
            <a:off x="1188719" y="1005837"/>
            <a:ext cx="27435" cy="3688924"/>
          </a:xfrm>
          <a:prstGeom prst="rect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6" name="Circle"/>
          <p:cNvSpPr/>
          <p:nvPr/>
        </p:nvSpPr>
        <p:spPr>
          <a:xfrm>
            <a:off x="1142999" y="1142999"/>
            <a:ext cx="118879" cy="118879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7" name="Sergeant, Republic of Korea Army"/>
          <p:cNvSpPr txBox="1"/>
          <p:nvPr/>
        </p:nvSpPr>
        <p:spPr>
          <a:xfrm>
            <a:off x="1477560" y="1055834"/>
            <a:ext cx="6996601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Sergeant, Republic of Korea Army</a:t>
            </a:r>
          </a:p>
        </p:txBody>
      </p:sp>
      <p:sp>
        <p:nvSpPr>
          <p:cNvPr id="38" name="Circle"/>
          <p:cNvSpPr/>
          <p:nvPr/>
        </p:nvSpPr>
        <p:spPr>
          <a:xfrm>
            <a:off x="1142999" y="1873000"/>
            <a:ext cx="118879" cy="118879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9" name="Software Engineer, Onehouse"/>
          <p:cNvSpPr txBox="1"/>
          <p:nvPr/>
        </p:nvSpPr>
        <p:spPr>
          <a:xfrm>
            <a:off x="1477560" y="3303851"/>
            <a:ext cx="6996601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Software Engineer, Onehouse</a:t>
            </a:r>
          </a:p>
        </p:txBody>
      </p:sp>
      <p:sp>
        <p:nvSpPr>
          <p:cNvPr id="40" name="Circle"/>
          <p:cNvSpPr/>
          <p:nvPr/>
        </p:nvSpPr>
        <p:spPr>
          <a:xfrm>
            <a:off x="1142999" y="2603000"/>
            <a:ext cx="118879" cy="118879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1" name="Analyst, Goldman Sachs"/>
          <p:cNvSpPr txBox="1"/>
          <p:nvPr/>
        </p:nvSpPr>
        <p:spPr>
          <a:xfrm>
            <a:off x="1477560" y="2515835"/>
            <a:ext cx="6996601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Analyst, Goldman Sachs</a:t>
            </a:r>
          </a:p>
        </p:txBody>
      </p:sp>
      <p:sp>
        <p:nvSpPr>
          <p:cNvPr id="42" name="Circle"/>
          <p:cNvSpPr/>
          <p:nvPr/>
        </p:nvSpPr>
        <p:spPr>
          <a:xfrm>
            <a:off x="1142999" y="3389236"/>
            <a:ext cx="118879" cy="118879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3" name="2021"/>
          <p:cNvSpPr txBox="1"/>
          <p:nvPr/>
        </p:nvSpPr>
        <p:spPr>
          <a:xfrm>
            <a:off x="558578" y="1865302"/>
            <a:ext cx="54864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2021</a:t>
            </a:r>
          </a:p>
        </p:txBody>
      </p:sp>
      <p:sp>
        <p:nvSpPr>
          <p:cNvPr id="44" name="2022-2026"/>
          <p:cNvSpPr txBox="1"/>
          <p:nvPr/>
        </p:nvSpPr>
        <p:spPr>
          <a:xfrm>
            <a:off x="272232" y="3381538"/>
            <a:ext cx="82504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2022-2026</a:t>
            </a:r>
          </a:p>
        </p:txBody>
      </p:sp>
      <p:sp>
        <p:nvSpPr>
          <p:cNvPr id="45" name="2021-2022"/>
          <p:cNvSpPr txBox="1"/>
          <p:nvPr/>
        </p:nvSpPr>
        <p:spPr>
          <a:xfrm>
            <a:off x="272232" y="2595302"/>
            <a:ext cx="825048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2021-2022</a:t>
            </a:r>
          </a:p>
        </p:txBody>
      </p:sp>
      <p:sp>
        <p:nvSpPr>
          <p:cNvPr id="46" name="Circle"/>
          <p:cNvSpPr/>
          <p:nvPr/>
        </p:nvSpPr>
        <p:spPr>
          <a:xfrm>
            <a:off x="1142999" y="4156790"/>
            <a:ext cx="118879" cy="118879"/>
          </a:xfrm>
          <a:prstGeom prst="ellipse">
            <a:avLst/>
          </a:prstGeom>
          <a:solidFill>
            <a:srgbClr val="3A82F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7" name="2016-2018"/>
          <p:cNvSpPr txBox="1"/>
          <p:nvPr/>
        </p:nvSpPr>
        <p:spPr>
          <a:xfrm>
            <a:off x="372140" y="1135302"/>
            <a:ext cx="7350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2016-2018</a:t>
            </a:r>
          </a:p>
        </p:txBody>
      </p:sp>
      <p:sp>
        <p:nvSpPr>
          <p:cNvPr id="48" name="B.S. Computer Science, Caltech"/>
          <p:cNvSpPr txBox="1"/>
          <p:nvPr/>
        </p:nvSpPr>
        <p:spPr>
          <a:xfrm>
            <a:off x="1477560" y="1785834"/>
            <a:ext cx="6996601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B.S. Computer Science, Caltech</a:t>
            </a:r>
          </a:p>
        </p:txBody>
      </p:sp>
      <p:sp>
        <p:nvSpPr>
          <p:cNvPr id="49" name="Portfolio management tool in Private Wealth Management Team"/>
          <p:cNvSpPr txBox="1"/>
          <p:nvPr/>
        </p:nvSpPr>
        <p:spPr>
          <a:xfrm>
            <a:off x="1515635" y="2839597"/>
            <a:ext cx="40406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Portfolio management tool in Private Wealth Management Team </a:t>
            </a:r>
          </a:p>
        </p:txBody>
      </p:sp>
      <p:sp>
        <p:nvSpPr>
          <p:cNvPr id="50" name="Spark Jobs/SQL platform. Quanton Engine optimization. Lakebase."/>
          <p:cNvSpPr txBox="1"/>
          <p:nvPr/>
        </p:nvSpPr>
        <p:spPr>
          <a:xfrm>
            <a:off x="1524101" y="3605374"/>
            <a:ext cx="4085309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Spark Jobs/SQL platform. Quanton Engine optimization. Lakebase.</a:t>
            </a:r>
          </a:p>
        </p:txBody>
      </p:sp>
      <p:sp>
        <p:nvSpPr>
          <p:cNvPr id="51" name="2026-Present"/>
          <p:cNvSpPr txBox="1"/>
          <p:nvPr/>
        </p:nvSpPr>
        <p:spPr>
          <a:xfrm>
            <a:off x="272232" y="4149091"/>
            <a:ext cx="825048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2026-Present</a:t>
            </a:r>
          </a:p>
        </p:txBody>
      </p:sp>
      <p:sp>
        <p:nvSpPr>
          <p:cNvPr id="52" name="Founder, Galley"/>
          <p:cNvSpPr txBox="1"/>
          <p:nvPr/>
        </p:nvSpPr>
        <p:spPr>
          <a:xfrm>
            <a:off x="1477560" y="4069627"/>
            <a:ext cx="6996601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Founder, Galley</a:t>
            </a:r>
          </a:p>
        </p:txBody>
      </p:sp>
      <p:sp>
        <p:nvSpPr>
          <p:cNvPr id="53" name="AI team for technical content marketing"/>
          <p:cNvSpPr txBox="1"/>
          <p:nvPr/>
        </p:nvSpPr>
        <p:spPr>
          <a:xfrm>
            <a:off x="1515637" y="4356720"/>
            <a:ext cx="246650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AI team for technical content marketing</a:t>
            </a:r>
          </a:p>
        </p:txBody>
      </p:sp>
      <p:sp>
        <p:nvSpPr>
          <p:cNvPr id="54" name="SIGINT research"/>
          <p:cNvSpPr txBox="1"/>
          <p:nvPr/>
        </p:nvSpPr>
        <p:spPr>
          <a:xfrm>
            <a:off x="1515637" y="1347877"/>
            <a:ext cx="99355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SIGINT research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l;dr"/>
          <p:cNvSpPr txBox="1"/>
          <p:nvPr/>
        </p:nvSpPr>
        <p:spPr>
          <a:xfrm>
            <a:off x="776517" y="365757"/>
            <a:ext cx="3567605" cy="623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6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tl;dr</a:t>
            </a:r>
          </a:p>
        </p:txBody>
      </p:sp>
      <p:sp>
        <p:nvSpPr>
          <p:cNvPr id="57" name="Problem Label"/>
          <p:cNvSpPr txBox="1"/>
          <p:nvPr/>
        </p:nvSpPr>
        <p:spPr>
          <a:xfrm>
            <a:off x="776519" y="1188719"/>
            <a:ext cx="7591081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58" name="Problem Text"/>
          <p:cNvSpPr txBox="1"/>
          <p:nvPr/>
        </p:nvSpPr>
        <p:spPr>
          <a:xfrm>
            <a:off x="776519" y="1554717"/>
            <a:ext cx="7591081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AI-generated technical content is easily detected by both humans and detectors.</a:t>
            </a:r>
          </a:p>
        </p:txBody>
      </p:sp>
      <p:sp>
        <p:nvSpPr>
          <p:cNvPr id="59" name="Method Label"/>
          <p:cNvSpPr txBox="1"/>
          <p:nvPr/>
        </p:nvSpPr>
        <p:spPr>
          <a:xfrm>
            <a:off x="776519" y="2200000"/>
            <a:ext cx="7591081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F972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60" name="Method Text"/>
          <p:cNvSpPr txBox="1"/>
          <p:nvPr/>
        </p:nvSpPr>
        <p:spPr>
          <a:xfrm>
            <a:off x="776519" y="2565998"/>
            <a:ext cx="7591081" cy="574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Ablation study on the effects of context enrichment, style constraints, and post-hoc humanization on detectability and factual accuracy.</a:t>
            </a:r>
          </a:p>
        </p:txBody>
      </p:sp>
      <p:sp>
        <p:nvSpPr>
          <p:cNvPr id="61" name="Key Results Label"/>
          <p:cNvSpPr txBox="1"/>
          <p:nvPr/>
        </p:nvSpPr>
        <p:spPr>
          <a:xfrm>
            <a:off x="776458" y="3477438"/>
            <a:ext cx="7591084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Results</a:t>
            </a:r>
          </a:p>
        </p:txBody>
      </p:sp>
      <p:sp>
        <p:nvSpPr>
          <p:cNvPr id="62" name="Key Results Text"/>
          <p:cNvSpPr txBox="1"/>
          <p:nvPr/>
        </p:nvSpPr>
        <p:spPr>
          <a:xfrm>
            <a:off x="776458" y="3843439"/>
            <a:ext cx="7591084" cy="574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All AI conditions showed ~97% GPTZero AI probability vs. 35% for human baselines. Style constraints achieved highest factual precision (99.1%) while humanization degraded accuracy to 97.6%.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Motivation"/>
          <p:cNvSpPr txBox="1"/>
          <p:nvPr/>
        </p:nvSpPr>
        <p:spPr>
          <a:xfrm>
            <a:off x="776517" y="365757"/>
            <a:ext cx="3567605" cy="623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6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Motivation</a:t>
            </a:r>
          </a:p>
        </p:txBody>
      </p:sp>
      <p:sp>
        <p:nvSpPr>
          <p:cNvPr id="65" name="9x Label"/>
          <p:cNvSpPr txBox="1"/>
          <p:nvPr/>
        </p:nvSpPr>
        <p:spPr>
          <a:xfrm>
            <a:off x="776519" y="1100000"/>
            <a:ext cx="7591081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9x Growth in AI-Generated Content</a:t>
            </a:r>
          </a:p>
        </p:txBody>
      </p:sp>
      <p:sp>
        <p:nvSpPr>
          <p:cNvPr id="66" name="9x Text"/>
          <p:cNvSpPr txBox="1"/>
          <p:nvPr/>
        </p:nvSpPr>
        <p:spPr>
          <a:xfrm>
            <a:off x="776519" y="1460000"/>
            <a:ext cx="7591081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Explosive growth in low-quality AI content. Ninefold increase in “AI slop” mentions in 2025 vs. 2024</a:t>
            </a:r>
          </a:p>
        </p:txBody>
      </p:sp>
      <p:sp>
        <p:nvSpPr>
          <p:cNvPr id="67" name="73% Label"/>
          <p:cNvSpPr txBox="1"/>
          <p:nvPr/>
        </p:nvSpPr>
        <p:spPr>
          <a:xfrm>
            <a:off x="776458" y="2050000"/>
            <a:ext cx="7591084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F972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73% of Practitioners Say They Can Identify AI Text</a:t>
            </a:r>
          </a:p>
        </p:txBody>
      </p:sp>
      <p:sp>
        <p:nvSpPr>
          <p:cNvPr id="68" name="73% Text"/>
          <p:cNvSpPr txBox="1"/>
          <p:nvPr/>
        </p:nvSpPr>
        <p:spPr>
          <a:xfrm>
            <a:off x="776458" y="2409999"/>
            <a:ext cx="7591084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Medical experts correctly identified AI-authored text in ~72% of evaluations in a blinded study.</a:t>
            </a:r>
          </a:p>
        </p:txBody>
      </p:sp>
      <p:sp>
        <p:nvSpPr>
          <p:cNvPr id="69" name="99% Label"/>
          <p:cNvSpPr txBox="1"/>
          <p:nvPr/>
        </p:nvSpPr>
        <p:spPr>
          <a:xfrm>
            <a:off x="776519" y="3000000"/>
            <a:ext cx="7591081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EF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Quality is the biggest blocker to publishing more technical content </a:t>
            </a:r>
          </a:p>
        </p:txBody>
      </p:sp>
      <p:sp>
        <p:nvSpPr>
          <p:cNvPr id="70" name="99% Text"/>
          <p:cNvSpPr txBox="1"/>
          <p:nvPr/>
        </p:nvSpPr>
        <p:spPr>
          <a:xfrm>
            <a:off x="776519" y="3359999"/>
            <a:ext cx="7591081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From interviews with 10+ founders and GTM people, low quality of AI-generated blog posts is the issue.</a:t>
            </a:r>
          </a:p>
        </p:txBody>
      </p:sp>
      <p:sp>
        <p:nvSpPr>
          <p:cNvPr id="71" name="References"/>
          <p:cNvSpPr txBox="1"/>
          <p:nvPr/>
        </p:nvSpPr>
        <p:spPr>
          <a:xfrm>
            <a:off x="776519" y="4050000"/>
            <a:ext cx="7591081" cy="927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50000"/>
              </a:lnSpc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[1] Meltwater (2025). 9x increase in “AI slop” mentions.</a:t>
            </a:r>
          </a:p>
          <a:p>
            <a:pPr>
              <a:lnSpc>
                <a:spcPct val="150000"/>
              </a:lnSpc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[2] Detecting AI-Generated Text (PMC, 2023). Medical experts: ~72% accuracy.</a:t>
            </a:r>
          </a:p>
          <a:p>
            <a:pPr>
              <a:lnSpc>
                <a:spcPct val="150000"/>
              </a:lnSpc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[3] GPTZero Benchmark (2024). 99.3% overall accuracy, 0.24% FPR.</a:t>
            </a:r>
          </a:p>
          <a:p>
            <a:pPr>
              <a:lnSpc>
                <a:spcPct val="150000"/>
              </a:lnSpc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[4] Originality.ai (2024). 99%+ accuracy, &lt;1% FPR.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Literature Review"/>
          <p:cNvSpPr txBox="1"/>
          <p:nvPr/>
        </p:nvSpPr>
        <p:spPr>
          <a:xfrm>
            <a:off x="776518" y="320037"/>
            <a:ext cx="7590964" cy="55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Literature Review - AI Text Detection</a:t>
            </a:r>
          </a:p>
        </p:txBody>
      </p:sp>
      <p:sp>
        <p:nvSpPr>
          <p:cNvPr id="74" name="Paper 1"/>
          <p:cNvSpPr txBox="1"/>
          <p:nvPr/>
        </p:nvSpPr>
        <p:spPr>
          <a:xfrm>
            <a:off x="776458" y="1197211"/>
            <a:ext cx="7591084" cy="1021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400">
                <a:solidFill>
                  <a:srgbClr val="3A82F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DetectGPT: Zero-Shot Machine-Generated Text Detection using Probability Curvature</a:t>
            </a:r>
          </a:p>
          <a:p>
            <a:pPr>
              <a:defRPr b="1" sz="1400">
                <a:latin typeface="Calibri"/>
                <a:ea typeface="Calibri"/>
                <a:cs typeface="Calibri"/>
                <a:sym typeface="Calibri"/>
              </a:defRPr>
            </a:pPr>
            <a:r>
              <a:t>Mitchell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Detects AI text zero-shot by measuring log-probability curvature under perturbations. Foundational baseline method used in this study.</a:t>
            </a:r>
          </a:p>
        </p:txBody>
      </p:sp>
      <p:sp>
        <p:nvSpPr>
          <p:cNvPr id="75" name="Paper 2"/>
          <p:cNvSpPr txBox="1"/>
          <p:nvPr/>
        </p:nvSpPr>
        <p:spPr>
          <a:xfrm>
            <a:off x="776458" y="2536450"/>
            <a:ext cx="7591084" cy="1021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400">
                <a:solidFill>
                  <a:srgbClr val="3A82F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 Watermark for Large Language Models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4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Kirchenbauer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Partitions vocabulary into green/red token lists during generation, enabling statistical detection. Establishes proactive watermarking approach.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Literature Review"/>
          <p:cNvSpPr txBox="1"/>
          <p:nvPr/>
        </p:nvSpPr>
        <p:spPr>
          <a:xfrm>
            <a:off x="776518" y="320037"/>
            <a:ext cx="8281079" cy="55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Literature Review - Evasion &amp; Robustness</a:t>
            </a:r>
          </a:p>
        </p:txBody>
      </p:sp>
      <p:sp>
        <p:nvSpPr>
          <p:cNvPr id="78" name="Paper 1"/>
          <p:cNvSpPr txBox="1"/>
          <p:nvPr/>
        </p:nvSpPr>
        <p:spPr>
          <a:xfrm>
            <a:off x="776519" y="1249998"/>
            <a:ext cx="7591081" cy="663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97215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Can AI-Generated Text be Reliably Detected?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Sadasivan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Recursive paraphrasing degrades detector accuracy. Proves theoretical impossibility bounds as LLMs improve.</a:t>
            </a:r>
          </a:p>
        </p:txBody>
      </p:sp>
      <p:sp>
        <p:nvSpPr>
          <p:cNvPr id="79" name="Paper 2"/>
          <p:cNvSpPr txBox="1"/>
          <p:nvPr/>
        </p:nvSpPr>
        <p:spPr>
          <a:xfrm>
            <a:off x="776519" y="2149998"/>
            <a:ext cx="7591081" cy="916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97215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Paraphrasing Evades AI-Generated Text Detectors, but Retrieval is an Effective Defense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Krishna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11B-param DIPPER paraphraser defeats watermarking, GPTZero, and DetectGPT. Demonstrates fragility of current detection.</a:t>
            </a:r>
          </a:p>
        </p:txBody>
      </p:sp>
      <p:sp>
        <p:nvSpPr>
          <p:cNvPr id="80" name="Paper 3"/>
          <p:cNvSpPr txBox="1"/>
          <p:nvPr/>
        </p:nvSpPr>
        <p:spPr>
          <a:xfrm>
            <a:off x="776519" y="3200000"/>
            <a:ext cx="7591081" cy="663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97215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HUMPA: Humanized LLM-Paraphraser for Evading AI-Generated Text Detection (ICLR 2025)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Wang et al. (2025)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Trains a proxy LLM via DPO to produce human-like text that evades detectors.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Literature Review"/>
          <p:cNvSpPr txBox="1"/>
          <p:nvPr/>
        </p:nvSpPr>
        <p:spPr>
          <a:xfrm>
            <a:off x="776518" y="320037"/>
            <a:ext cx="8105574" cy="55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Literature Review - Detector Limitations</a:t>
            </a:r>
          </a:p>
        </p:txBody>
      </p:sp>
      <p:sp>
        <p:nvSpPr>
          <p:cNvPr id="83" name="Paper 1"/>
          <p:cNvSpPr txBox="1"/>
          <p:nvPr/>
        </p:nvSpPr>
        <p:spPr>
          <a:xfrm>
            <a:off x="776519" y="1249998"/>
            <a:ext cx="7591081" cy="916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59E0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GPT Detectors Are Biased Against Non-Native English Writers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Liang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Detectors show 61% false positive rate on non-native English writing. Highlights equity concerns in detector deployment and evaluation.</a:t>
            </a:r>
          </a:p>
        </p:txBody>
      </p:sp>
      <p:sp>
        <p:nvSpPr>
          <p:cNvPr id="84" name="Paper 2"/>
          <p:cNvSpPr txBox="1"/>
          <p:nvPr/>
        </p:nvSpPr>
        <p:spPr>
          <a:xfrm>
            <a:off x="776459" y="2303019"/>
            <a:ext cx="7591082" cy="916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59E0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DetectRL: Benchmarking LLM-Generated Text Detection in Real-World Scenarios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Wu et al. (2024)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Benchmarks SOTA detectors on real-world text, showing significant performance drops vs. lab conditions. Motivates ecological validity.</a:t>
            </a:r>
          </a:p>
        </p:txBody>
      </p:sp>
      <p:sp>
        <p:nvSpPr>
          <p:cNvPr id="85" name="Paper 3"/>
          <p:cNvSpPr txBox="1"/>
          <p:nvPr/>
        </p:nvSpPr>
        <p:spPr>
          <a:xfrm>
            <a:off x="776459" y="3356040"/>
            <a:ext cx="7591082" cy="916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F59E0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Language Models Optimized to Fool Detectors Still Have a Distinct Style (And How to Change It)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Rivera Soto et al. (2025)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Models trained to evade detectors still retain measurable stylistic fingerprints. Supports using linguistic feature analysis as a complementary detection axis.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Literature Review"/>
          <p:cNvSpPr txBox="1"/>
          <p:nvPr/>
        </p:nvSpPr>
        <p:spPr>
          <a:xfrm>
            <a:off x="776518" y="320037"/>
            <a:ext cx="7590964" cy="55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Literature Review - Accuracy Metrics</a:t>
            </a:r>
          </a:p>
        </p:txBody>
      </p:sp>
      <p:sp>
        <p:nvSpPr>
          <p:cNvPr id="88" name="Paper 1"/>
          <p:cNvSpPr txBox="1"/>
          <p:nvPr/>
        </p:nvSpPr>
        <p:spPr>
          <a:xfrm>
            <a:off x="776519" y="1249998"/>
            <a:ext cx="7591081" cy="663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0FB98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Enabling Large Language Models to Generate Text with Citations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Gao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Proposes citation-level precision and recall metrics for evaluating factual grounding.</a:t>
            </a:r>
          </a:p>
        </p:txBody>
      </p:sp>
      <p:sp>
        <p:nvSpPr>
          <p:cNvPr id="89" name="Paper 2"/>
          <p:cNvSpPr txBox="1"/>
          <p:nvPr/>
        </p:nvSpPr>
        <p:spPr>
          <a:xfrm>
            <a:off x="776459" y="2324832"/>
            <a:ext cx="7591082" cy="663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b="1" sz="1300">
                <a:solidFill>
                  <a:srgbClr val="0FB98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Evaluating Verifiability in Generative Search Engines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b="1" sz="13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Liu et al. (2023)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3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Shows high surface fluency does not guarantee factual accuracy.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Literature Review"/>
          <p:cNvSpPr txBox="1"/>
          <p:nvPr/>
        </p:nvSpPr>
        <p:spPr>
          <a:xfrm>
            <a:off x="776518" y="320037"/>
            <a:ext cx="7590964" cy="55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Literature Review - Gaps</a:t>
            </a:r>
          </a:p>
        </p:txBody>
      </p:sp>
      <p:sp>
        <p:nvSpPr>
          <p:cNvPr id="92" name="Gap Description"/>
          <p:cNvSpPr txBox="1"/>
          <p:nvPr/>
        </p:nvSpPr>
        <p:spPr>
          <a:xfrm>
            <a:off x="776519" y="1400000"/>
            <a:ext cx="7591081" cy="2070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40000"/>
              </a:lnSpc>
              <a:defRPr b="1" sz="14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Existing work addresses detection and evasion separately:</a:t>
            </a:r>
            <a:endParaRPr sz="1300">
              <a:solidFill>
                <a:srgbClr val="63738B"/>
              </a:solidFill>
            </a:endParaRPr>
          </a:p>
          <a:p>
            <a:pPr>
              <a:lnSpc>
                <a:spcPct val="140000"/>
              </a:lnSpc>
              <a:defRPr b="1" sz="1400">
                <a:solidFill>
                  <a:srgbClr val="0FB98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Detection: </a:t>
            </a:r>
            <a:r>
              <a:rPr b="0" sz="1300">
                <a:solidFill>
                  <a:srgbClr val="63738B"/>
                </a:solidFill>
              </a:rPr>
              <a:t>DetectGPT, watermarking, and trained classifiers achieve high accuracy on unmodified AI text.</a:t>
            </a:r>
            <a:endParaRPr sz="1300">
              <a:solidFill>
                <a:srgbClr val="63738B"/>
              </a:solidFill>
            </a:endParaRPr>
          </a:p>
          <a:p>
            <a:pPr>
              <a:lnSpc>
                <a:spcPct val="140000"/>
              </a:lnSpc>
              <a:defRPr b="1" sz="1400">
                <a:solidFill>
                  <a:srgbClr val="F97215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Evasion: </a:t>
            </a:r>
            <a:r>
              <a:rPr b="0" sz="1300">
                <a:solidFill>
                  <a:srgbClr val="63738B"/>
                </a:solidFill>
              </a:rPr>
              <a:t>Paraphrasing (DIPPER, HUMPA) defeats detectors but does not track factual accuracy trade-offs.</a:t>
            </a:r>
            <a:endParaRPr sz="1300">
              <a:solidFill>
                <a:srgbClr val="63738B"/>
              </a:solidFill>
            </a:endParaRPr>
          </a:p>
          <a:p>
            <a:pPr>
              <a:lnSpc>
                <a:spcPct val="140000"/>
              </a:lnSpc>
              <a:defRPr b="1" sz="1400">
                <a:solidFill>
                  <a:srgbClr val="EF434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Bias: </a:t>
            </a:r>
            <a:r>
              <a:rPr b="0" sz="1300">
                <a:solidFill>
                  <a:srgbClr val="63738B"/>
                </a:solidFill>
              </a:rPr>
              <a:t>Detectors show systematic biases (e.g., non-native English) and degrade in real-world conditions.</a:t>
            </a:r>
            <a:endParaRPr sz="1300">
              <a:solidFill>
                <a:srgbClr val="63738B"/>
              </a:solidFill>
            </a:endParaRPr>
          </a:p>
          <a:p>
            <a:pPr>
              <a:lnSpc>
                <a:spcPct val="140000"/>
              </a:lnSpc>
              <a:defRPr sz="13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</a:t>
            </a:r>
          </a:p>
          <a:p>
            <a:pPr>
              <a:lnSpc>
                <a:spcPct val="140000"/>
              </a:lnSpc>
              <a:defRPr b="1" sz="14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The Gap: </a:t>
            </a:r>
            <a:r>
              <a:rPr b="0">
                <a:solidFill>
                  <a:srgbClr val="1D283A"/>
                </a:solidFill>
              </a:rPr>
              <a:t>No prior work systematically isolates which content generation pipeline decisions reduce detectability while tracking factual accuracy as a co-metric.</a:t>
            </a:r>
          </a:p>
        </p:txBody>
      </p:sp>
      <p:sp>
        <p:nvSpPr>
          <p:cNvPr id="93" name="This study attempts to fill that gap with a controlled ablation design."/>
          <p:cNvSpPr txBox="1"/>
          <p:nvPr/>
        </p:nvSpPr>
        <p:spPr>
          <a:xfrm>
            <a:off x="801647" y="3881439"/>
            <a:ext cx="5047445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40000"/>
              </a:lnSpc>
              <a:defRPr b="1" sz="14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solidFill>
                  <a:srgbClr val="3B82F6"/>
                </a:solidFill>
              </a:defRPr>
            </a:pPr>
            <a:r>
              <a:rPr>
                <a:solidFill>
                  <a:srgbClr val="1D283A"/>
                </a:solidFill>
              </a:rPr>
              <a:t>This study attempts to fill that gap with a controlled ablation design.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Experimental Design"/>
          <p:cNvSpPr txBox="1"/>
          <p:nvPr/>
        </p:nvSpPr>
        <p:spPr>
          <a:xfrm>
            <a:off x="776519" y="320037"/>
            <a:ext cx="7225201" cy="55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2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Experimental Design</a:t>
            </a:r>
          </a:p>
        </p:txBody>
      </p:sp>
      <p:sp>
        <p:nvSpPr>
          <p:cNvPr id="96" name="4-Condition Ablation Study"/>
          <p:cNvSpPr txBox="1"/>
          <p:nvPr/>
        </p:nvSpPr>
        <p:spPr>
          <a:xfrm>
            <a:off x="776519" y="822960"/>
            <a:ext cx="7225201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i="1"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4-Condition Ablation Study</a:t>
            </a:r>
          </a:p>
        </p:txBody>
      </p:sp>
      <p:sp>
        <p:nvSpPr>
          <p:cNvPr id="97" name="Rectangle"/>
          <p:cNvSpPr/>
          <p:nvPr/>
        </p:nvSpPr>
        <p:spPr>
          <a:xfrm>
            <a:off x="457198" y="1234438"/>
            <a:ext cx="8229963" cy="5673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00" name="context_rich label"/>
          <p:cNvSpPr txBox="1"/>
          <p:nvPr/>
        </p:nvSpPr>
        <p:spPr>
          <a:xfrm>
            <a:off x="502198" y="1289159"/>
            <a:ext cx="1738804" cy="25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3A82F6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context_rich</a:t>
            </a:r>
          </a:p>
        </p:txBody>
      </p:sp>
      <p:sp>
        <p:nvSpPr>
          <p:cNvPr id="101" name="context_rich desc"/>
          <p:cNvSpPr txBox="1"/>
          <p:nvPr/>
        </p:nvSpPr>
        <p:spPr>
          <a:xfrm>
            <a:off x="2400000" y="1289159"/>
            <a:ext cx="6000000" cy="49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rPr lang="en-US" b="1"/>
              <a:t>Baseline</a:t>
            </a:r>
            <a:r>
              <a:t> - README, source files, GitHub issues, community threads, competitor docs</a:t>
            </a:r>
          </a:p>
        </p:txBody>
      </p:sp>
      <p:sp>
        <p:nvSpPr>
          <p:cNvPr id="102" name="Rectangle"/>
          <p:cNvSpPr/>
          <p:nvPr/>
        </p:nvSpPr>
        <p:spPr>
          <a:xfrm>
            <a:off x="457198" y="1901880"/>
            <a:ext cx="8229963" cy="5673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05" name="style_constrained label"/>
          <p:cNvSpPr txBox="1"/>
          <p:nvPr/>
        </p:nvSpPr>
        <p:spPr>
          <a:xfrm>
            <a:off x="502198" y="1956601"/>
            <a:ext cx="1738804" cy="25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0FB981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style_constrained</a:t>
            </a:r>
          </a:p>
        </p:txBody>
      </p:sp>
      <p:sp>
        <p:nvSpPr>
          <p:cNvPr id="106" name="style_constrained desc"/>
          <p:cNvSpPr txBox="1"/>
          <p:nvPr/>
        </p:nvSpPr>
        <p:spPr>
          <a:xfrm>
            <a:off x="2400000" y="1956601"/>
            <a:ext cx="6000000" cy="49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+ Persona prompt, anti-pattern rules, sentence structure rules, content rules</a:t>
            </a:r>
          </a:p>
        </p:txBody>
      </p:sp>
      <p:sp>
        <p:nvSpPr>
          <p:cNvPr id="107" name="Rectangle"/>
          <p:cNvSpPr/>
          <p:nvPr/>
        </p:nvSpPr>
        <p:spPr>
          <a:xfrm>
            <a:off x="457198" y="2569320"/>
            <a:ext cx="8229963" cy="5673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10" name="humanized label"/>
          <p:cNvSpPr txBox="1"/>
          <p:nvPr/>
        </p:nvSpPr>
        <p:spPr>
          <a:xfrm>
            <a:off x="502198" y="2624041"/>
            <a:ext cx="1738804" cy="25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F97215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humanized</a:t>
            </a:r>
          </a:p>
        </p:txBody>
      </p:sp>
      <p:sp>
        <p:nvSpPr>
          <p:cNvPr id="111" name="humanized desc"/>
          <p:cNvSpPr txBox="1"/>
          <p:nvPr/>
        </p:nvSpPr>
        <p:spPr>
          <a:xfrm>
            <a:off x="2400000" y="2624041"/>
            <a:ext cx="6000000" cy="49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context_rich output rewritten with “sound human” prompt</a:t>
            </a:r>
          </a:p>
        </p:txBody>
      </p:sp>
      <p:sp>
        <p:nvSpPr>
          <p:cNvPr id="112" name="Rectangle"/>
          <p:cNvSpPr/>
          <p:nvPr/>
        </p:nvSpPr>
        <p:spPr>
          <a:xfrm>
            <a:off x="457198" y="3236760"/>
            <a:ext cx="8229963" cy="5673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15" name="human_baseline label"/>
          <p:cNvSpPr txBox="1"/>
          <p:nvPr/>
        </p:nvSpPr>
        <p:spPr>
          <a:xfrm>
            <a:off x="502198" y="3291481"/>
            <a:ext cx="1738804" cy="25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9B59B6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/>
            <a:r>
              <a:t>human_baseline</a:t>
            </a:r>
          </a:p>
        </p:txBody>
      </p:sp>
      <p:sp>
        <p:nvSpPr>
          <p:cNvPr id="116" name="human_baseline desc"/>
          <p:cNvSpPr txBox="1"/>
          <p:nvPr/>
        </p:nvSpPr>
        <p:spPr>
          <a:xfrm>
            <a:off x="2400000" y="3291481"/>
            <a:ext cx="6000000" cy="49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Ground truth - real engineer-written blog posts</a:t>
            </a:r>
          </a:p>
        </p:txBody>
      </p:sp>
      <p:sp>
        <p:nvSpPr>
          <p:cNvPr id="120" name="Open Source Projects"/>
          <p:cNvSpPr txBox="1"/>
          <p:nvPr/>
        </p:nvSpPr>
        <p:spPr>
          <a:xfrm>
            <a:off x="457198" y="3960000"/>
            <a:ext cx="8229963" cy="31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defRPr sz="12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lang="en-US" b="1"/>
              <a:t>3 Open Source Projects: </a:t>
            </a:r>
            <a:r>
              <a:t>CrewAI  |  DuckDB  |  LangChain</a:t>
            </a:r>
          </a:p>
        </p:txBody>
      </p:sp>
      <p:sp>
        <p:nvSpPr>
          <p:cNvPr id="121" name="Count"/>
          <p:cNvSpPr txBox="1"/>
          <p:nvPr/>
        </p:nvSpPr>
        <p:spPr>
          <a:xfrm>
            <a:off x="457198" y="4300000"/>
            <a:ext cx="8229963" cy="31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12 tasks  x  3 conditions  x  2 runs  x  2 word targets  =  144 AI-generated documents + human baselines</a:t>
            </a:r>
          </a:p>
        </p:txBody>
      </p:sp>
      <p:sp>
        <p:nvSpPr>
          <p:cNvPr id="122" name="10 / 18"/>
          <p:cNvSpPr txBox="1"/>
          <p:nvPr/>
        </p:nvSpPr>
        <p:spPr>
          <a:xfrm>
            <a:off x="8091719" y="4754879"/>
            <a:ext cx="824404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10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tyle Constraint Design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Style Constraint Design</a:t>
            </a:r>
          </a:p>
        </p:txBody>
      </p:sp>
      <p:sp>
        <p:nvSpPr>
          <p:cNvPr id="127" name="Persona Banner BG"/>
          <p:cNvSpPr/>
          <p:nvPr/>
        </p:nvSpPr>
        <p:spPr>
          <a:xfrm>
            <a:off x="457198" y="920000"/>
            <a:ext cx="8229963" cy="380000"/>
          </a:xfrm>
          <a:prstGeom prst="rect">
            <a:avLst/>
          </a:prstGeom>
          <a:solidFill>
            <a:srgbClr val="1D283A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</a:defRPr>
            </a:pPr>
          </a:p>
        </p:txBody>
      </p:sp>
      <p:sp>
        <p:nvSpPr>
          <p:cNvPr id="128" name="Persona Text"/>
          <p:cNvSpPr txBox="1"/>
          <p:nvPr/>
        </p:nvSpPr>
        <p:spPr>
          <a:xfrm>
            <a:off x="600000" y="935000"/>
            <a:ext cx="7900000" cy="3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i="1" sz="11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Persona: “You are a senior backend engineer writing for other engineers on your team’s blog. Sound experienced and opinionated.”</a:t>
            </a:r>
          </a:p>
        </p:txBody>
      </p:sp>
      <p:sp>
        <p:nvSpPr>
          <p:cNvPr id="129" name="Section 1 BG"/>
          <p:cNvSpPr/>
          <p:nvPr/>
        </p:nvSpPr>
        <p:spPr>
          <a:xfrm>
            <a:off x="457198" y="1420000"/>
            <a:ext cx="8229963" cy="950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</a:defRPr>
            </a:pPr>
          </a:p>
        </p:txBody>
      </p:sp>
      <p:sp>
        <p:nvSpPr>
          <p:cNvPr id="130" name="Sentence Structure Title"/>
          <p:cNvSpPr txBox="1"/>
          <p:nvPr/>
        </p:nvSpPr>
        <p:spPr>
          <a:xfrm>
            <a:off x="600000" y="1440000"/>
            <a:ext cx="2200000" cy="28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Sentence Structure</a:t>
            </a:r>
          </a:p>
        </p:txBody>
      </p:sp>
      <p:sp>
        <p:nvSpPr>
          <p:cNvPr id="131" name="Sentence Structure Content"/>
          <p:cNvSpPr txBox="1"/>
          <p:nvPr/>
        </p:nvSpPr>
        <p:spPr>
          <a:xfrm>
            <a:off x="600000" y="1720000"/>
            <a:ext cx="7900000" cy="6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Vary sentence length aggressively: mix very short (3-7 words) with longer complex ones (25+ words)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Use contractions naturally: don’t, it’s, we’ve, wouldn’t, can’t, I’m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Start some sentences with I, We, So, But, or And. Use occasional sentence fragments for emphasis.</a:t>
            </a:r>
          </a:p>
        </p:txBody>
      </p:sp>
      <p:sp>
        <p:nvSpPr>
          <p:cNvPr id="132" name="Section 2 BG"/>
          <p:cNvSpPr/>
          <p:nvPr/>
        </p:nvSpPr>
        <p:spPr>
          <a:xfrm>
            <a:off x="457198" y="2470000"/>
            <a:ext cx="8229963" cy="1050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</a:defRPr>
            </a:pPr>
          </a:p>
        </p:txBody>
      </p:sp>
      <p:sp>
        <p:nvSpPr>
          <p:cNvPr id="133" name="Anti-Pattern Title"/>
          <p:cNvSpPr txBox="1"/>
          <p:nvPr/>
        </p:nvSpPr>
        <p:spPr>
          <a:xfrm>
            <a:off x="600000" y="2490000"/>
            <a:ext cx="2200000" cy="28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EF434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Anti-Pattern Rules</a:t>
            </a:r>
          </a:p>
        </p:txBody>
      </p:sp>
      <p:sp>
        <p:nvSpPr>
          <p:cNvPr id="134" name="Anti-Pattern Content"/>
          <p:cNvSpPr txBox="1"/>
          <p:nvPr/>
        </p:nvSpPr>
        <p:spPr>
          <a:xfrm>
            <a:off x="600000" y="2770000"/>
            <a:ext cx="7900000" cy="7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Never use: Moreover, Furthermore, Additionally, Subsequently, Accordingly, Indeed, Notably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Never open with: “In the world of”, “In today’s”, “Let’s dive in”, “It’s important to note”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Ban overused AI words: delve, leverage, streamline, robust, seamless, cutting-edge, pivotal, holistic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No excessive bullet lists, no em dashes, no hedging (“arguably”, “one might argue”)</a:t>
            </a:r>
          </a:p>
        </p:txBody>
      </p:sp>
      <p:sp>
        <p:nvSpPr>
          <p:cNvPr id="135" name="Section 3 BG"/>
          <p:cNvSpPr/>
          <p:nvPr/>
        </p:nvSpPr>
        <p:spPr>
          <a:xfrm>
            <a:off x="457198" y="3620000"/>
            <a:ext cx="8229963" cy="920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</a:defRPr>
            </a:pPr>
          </a:p>
        </p:txBody>
      </p:sp>
      <p:sp>
        <p:nvSpPr>
          <p:cNvPr id="136" name="Content Rules Title"/>
          <p:cNvSpPr txBox="1"/>
          <p:nvPr/>
        </p:nvSpPr>
        <p:spPr>
          <a:xfrm>
            <a:off x="600000" y="3640000"/>
            <a:ext cx="2200000" cy="28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Content Rules</a:t>
            </a:r>
          </a:p>
        </p:txBody>
      </p:sp>
      <p:sp>
        <p:nvSpPr>
          <p:cNvPr id="137" name="Content Rules Content"/>
          <p:cNvSpPr txBox="1"/>
          <p:nvPr/>
        </p:nvSpPr>
        <p:spPr>
          <a:xfrm>
            <a:off x="600000" y="3920000"/>
            <a:ext cx="7900000" cy="56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Include at least one specific version number, date, or command from provided sources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Only mention errors/configs that appear in provided sources. Do not invent examples.</a:t>
            </a:r>
          </a:p>
          <a:p>
            <a:pPr marL="161280" indent="-161280">
              <a:lnSpc>
                <a:spcPct val="120000"/>
              </a:lnSpc>
              <a:spcBef>
                <a:spcPts val="400"/>
              </a:spcBef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Include one grounded trade-off judgment and 1-2 mild opinions or subjective judgments</a:t>
            </a:r>
          </a:p>
        </p:txBody>
      </p:sp>
      <p:sp>
        <p:nvSpPr>
          <p:cNvPr id="138" name="11 / 18"/>
          <p:cNvSpPr txBox="1"/>
          <p:nvPr/>
        </p:nvSpPr>
        <p:spPr>
          <a:xfrm>
            <a:off x="8091719" y="4754879"/>
            <a:ext cx="824404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11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Methodology: Two Evaluation Axes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Methodology: Two Evaluation Axes</a:t>
            </a:r>
          </a:p>
        </p:txBody>
      </p:sp>
      <p:sp>
        <p:nvSpPr>
          <p:cNvPr id="141" name="AI Detect BG"/>
          <p:cNvSpPr/>
          <p:nvPr/>
        </p:nvSpPr>
        <p:spPr>
          <a:xfrm>
            <a:off x="457198" y="1000000"/>
            <a:ext cx="8229963" cy="1500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</a:defRPr>
            </a:pPr>
          </a:p>
        </p:txBody>
      </p:sp>
      <p:sp>
        <p:nvSpPr>
          <p:cNvPr id="142" name="AI Detectability Title"/>
          <p:cNvSpPr txBox="1"/>
          <p:nvPr/>
        </p:nvSpPr>
        <p:spPr>
          <a:xfrm>
            <a:off x="600000" y="1050000"/>
            <a:ext cx="3000000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6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AI Detectability</a:t>
            </a:r>
          </a:p>
        </p:txBody>
      </p:sp>
      <p:sp>
        <p:nvSpPr>
          <p:cNvPr id="143" name="AI Detect Method"/>
          <p:cNvSpPr txBox="1"/>
          <p:nvPr/>
        </p:nvSpPr>
        <p:spPr>
          <a:xfrm>
            <a:off x="600000" y="1380000"/>
            <a:ext cx="7900000" cy="25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lang="en-US" b="1"/>
              <a:t>GPTZero</a:t>
            </a:r>
            <a:r>
              <a:t>: gptzero_generated_prob and gptzero_human_prob per document</a:t>
            </a:r>
          </a:p>
        </p:txBody>
      </p:sp>
      <p:sp>
        <p:nvSpPr>
          <p:cNvPr id="144" name="AI Detect Detail"/>
          <p:cNvSpPr txBox="1"/>
          <p:nvPr/>
        </p:nvSpPr>
        <p:spPr>
          <a:xfrm>
            <a:off x="600000" y="1680000"/>
            <a:ext cx="7900000" cy="7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30000"/>
              </a:lnSpc>
              <a:spcBef>
                <a:spcPts val="5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Each document submitted to GPTZero API (v2/predict/text)</a:t>
            </a:r>
          </a:p>
          <a:p>
            <a:pPr marL="161280" indent="-161280">
              <a:lnSpc>
                <a:spcPct val="130000"/>
              </a:lnSpc>
              <a:spcBef>
                <a:spcPts val="5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Primary metric: generated_prob (probability text is AI-generated, 0-1)</a:t>
            </a:r>
          </a:p>
          <a:p>
            <a:pPr marL="161280" indent="-161280">
              <a:lnSpc>
                <a:spcPct val="130000"/>
              </a:lnSpc>
              <a:spcBef>
                <a:spcPts val="5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Statistical tests: Paired Wilcoxon signed-rank test between conditions</a:t>
            </a:r>
          </a:p>
        </p:txBody>
      </p:sp>
      <p:sp>
        <p:nvSpPr>
          <p:cNvPr id="145" name="Factual BG"/>
          <p:cNvSpPr/>
          <p:nvPr/>
        </p:nvSpPr>
        <p:spPr>
          <a:xfrm>
            <a:off x="457198" y="2650000"/>
            <a:ext cx="8229963" cy="2000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</a:defRPr>
            </a:pPr>
          </a:p>
        </p:txBody>
      </p:sp>
      <p:sp>
        <p:nvSpPr>
          <p:cNvPr id="146" name="Factual Accuracy Title"/>
          <p:cNvSpPr txBox="1"/>
          <p:nvPr/>
        </p:nvSpPr>
        <p:spPr>
          <a:xfrm>
            <a:off x="600000" y="2700000"/>
            <a:ext cx="3000000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600">
                <a:solidFill>
                  <a:srgbClr val="0FB98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Factual Accuracy (LLM Judge)</a:t>
            </a:r>
          </a:p>
        </p:txBody>
      </p:sp>
      <p:sp>
        <p:nvSpPr>
          <p:cNvPr id="147" name="Factual Method"/>
          <p:cNvSpPr txBox="1"/>
          <p:nvPr/>
        </p:nvSpPr>
        <p:spPr>
          <a:xfrm>
            <a:off x="600000" y="3030000"/>
            <a:ext cx="7900000" cy="26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1D28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Two-step LLM judge pipeline using Claude Sonnet (temp=0)</a:t>
            </a:r>
          </a:p>
        </p:txBody>
      </p:sp>
      <p:sp>
        <p:nvSpPr>
          <p:cNvPr id="148" name="Factual Detail"/>
          <p:cNvSpPr txBox="1"/>
          <p:nvPr/>
        </p:nvSpPr>
        <p:spPr>
          <a:xfrm>
            <a:off x="600000" y="3330000"/>
            <a:ext cx="7900000" cy="120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lnSpc>
                <a:spcPct val="140000"/>
              </a:lnSpc>
              <a:spcBef>
                <a:spcPts val="5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lang="en-US" b="1"/>
              <a:t>Step 1 - Claim Extraction:</a:t>
            </a:r>
            <a:r>
              <a:t> Extract all atomic factual claims from generated text (version numbers, commands, configs, behavioral descriptions)</a:t>
            </a:r>
          </a:p>
          <a:p>
            <a:pPr marL="161280" indent="-161280">
              <a:lnSpc>
                <a:spcPct val="140000"/>
              </a:lnSpc>
              <a:spcBef>
                <a:spcPts val="5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lang="en-US" b="1"/>
              <a:t>Step 2 - Claim Verification:</a:t>
            </a:r>
            <a:r>
              <a:t> Judge each claim against reference docs as CORRECT, INCORRECT, or UNVERIFIABLE</a:t>
            </a:r>
          </a:p>
          <a:p>
            <a:pPr marL="161280" indent="-161280">
              <a:lnSpc>
                <a:spcPct val="140000"/>
              </a:lnSpc>
              <a:spcBef>
                <a:spcPts val="5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lang="en-US" b="1"/>
              <a:t>Metric:</a:t>
            </a:r>
            <a:r>
              <a:t> Factual precision = correct_claims / total_claims per document</a:t>
            </a:r>
          </a:p>
        </p:txBody>
      </p:sp>
      <p:sp>
        <p:nvSpPr>
          <p:cNvPr id="150" name="12 / 18"/>
          <p:cNvSpPr txBox="1"/>
          <p:nvPr/>
        </p:nvSpPr>
        <p:spPr>
          <a:xfrm>
            <a:off x="8091719" y="4754879"/>
            <a:ext cx="824404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12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sults: AI Detectability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Results: AI Detectability</a:t>
            </a:r>
          </a:p>
        </p:txBody>
      </p:sp>
      <p:sp>
        <p:nvSpPr>
          <p:cNvPr id="153" name="Rectangle"/>
          <p:cNvSpPr/>
          <p:nvPr/>
        </p:nvSpPr>
        <p:spPr>
          <a:xfrm>
            <a:off x="457198" y="1005837"/>
            <a:ext cx="8229963" cy="32007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54" name="GPTZero AI Probability:  context_rich 97.3%  |  style_constrained 97.9%  |  humanized 97.7%  |  human_baseline 34.8%…"/>
          <p:cNvSpPr txBox="1"/>
          <p:nvPr/>
        </p:nvSpPr>
        <p:spPr>
          <a:xfrm>
            <a:off x="1416596" y="1828799"/>
            <a:ext cx="6310806" cy="623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defRPr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GPTZero AI Probability:  context_rich 97.3%  |  style_constrained 97.9%  |  humanized 97.7%  |  human_baseline 34.8%</a:t>
            </a:r>
          </a:p>
          <a:p>
            <a:pPr algn="ctr">
              <a:defRPr i="1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GPTZero Human Probability:  context_rich 0.0%  |  style_constrained 0.0%  |  humanized 0.0%  |  human_baseline 40.4%</a:t>
            </a:r>
          </a:p>
        </p:txBody>
      </p:sp>
      <p:sp>
        <p:nvSpPr>
          <p:cNvPr id="155" name="Rectangle"/>
          <p:cNvSpPr/>
          <p:nvPr/>
        </p:nvSpPr>
        <p:spPr>
          <a:xfrm>
            <a:off x="457198" y="4343400"/>
            <a:ext cx="8229963" cy="5032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56" name="No significant difference between AI conditions (all ~97% AI prob). Human baseline significantly different (p&lt;0.01)."/>
          <p:cNvSpPr txBox="1"/>
          <p:nvPr/>
        </p:nvSpPr>
        <p:spPr>
          <a:xfrm>
            <a:off x="776520" y="4343398"/>
            <a:ext cx="7590960" cy="224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No significant difference between AI conditions (all ~97% AI prob). Human baseline significantly different (p&lt;0.01).</a:t>
            </a:r>
          </a:p>
        </p:txBody>
      </p:sp>
      <p:sp>
        <p:nvSpPr>
          <p:cNvPr id="157" name="13 / 18"/>
          <p:cNvSpPr txBox="1"/>
          <p:nvPr/>
        </p:nvSpPr>
        <p:spPr>
          <a:xfrm>
            <a:off x="8091719" y="4754879"/>
            <a:ext cx="824404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13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sults: Detectability vs. Accuracy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Results: Detectability vs. Accuracy</a:t>
            </a:r>
          </a:p>
        </p:txBody>
      </p:sp>
      <p:sp>
        <p:nvSpPr>
          <p:cNvPr id="160" name="The Pareto Frontier"/>
          <p:cNvSpPr txBox="1"/>
          <p:nvPr/>
        </p:nvSpPr>
        <p:spPr>
          <a:xfrm>
            <a:off x="776519" y="822960"/>
            <a:ext cx="7225201" cy="279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i="1" sz="14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The Pareto Frontier</a:t>
            </a:r>
          </a:p>
        </p:txBody>
      </p:sp>
      <p:sp>
        <p:nvSpPr>
          <p:cNvPr id="161" name="Rectangle"/>
          <p:cNvSpPr/>
          <p:nvPr/>
        </p:nvSpPr>
        <p:spPr>
          <a:xfrm>
            <a:off x="457196" y="1280160"/>
            <a:ext cx="5029567" cy="34750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62" name="Factual Precision:  context_rich 98.5%  |  style_constrained 99.1%  |  humanized 97.6%…"/>
          <p:cNvSpPr txBox="1"/>
          <p:nvPr/>
        </p:nvSpPr>
        <p:spPr>
          <a:xfrm>
            <a:off x="959396" y="2011677"/>
            <a:ext cx="4024806" cy="807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defRPr i="1" sz="16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Factual Precision:  context_rich 98.5%  |  style_constrained 99.1%  |  humanized 97.6%</a:t>
            </a:r>
          </a:p>
          <a:p>
            <a:pPr algn="ctr">
              <a:defRPr i="1" sz="16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Avg Incorrect Claims:  context_rich 0.67  |  style_constrained 0.38  |  humanized 1.00</a:t>
            </a:r>
          </a:p>
          <a:p>
            <a:pPr algn="ctr">
              <a:defRPr i="1" sz="16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Style constraints preserve facts best while humanization introduces errors</a:t>
            </a:r>
          </a:p>
        </p:txBody>
      </p:sp>
      <p:sp>
        <p:nvSpPr>
          <p:cNvPr id="163" name="Rectangle"/>
          <p:cNvSpPr/>
          <p:nvPr/>
        </p:nvSpPr>
        <p:spPr>
          <a:xfrm>
            <a:off x="5760720" y="1280160"/>
            <a:ext cx="2926444" cy="34750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64" name="Key Findings"/>
          <p:cNvSpPr txBox="1"/>
          <p:nvPr/>
        </p:nvSpPr>
        <p:spPr>
          <a:xfrm>
            <a:off x="5988599" y="1463038"/>
            <a:ext cx="2470325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Findings</a:t>
            </a:r>
          </a:p>
        </p:txBody>
      </p:sp>
      <p:sp>
        <p:nvSpPr>
          <p:cNvPr id="165" name="Takeaway: Context + style rules offer the best accuracy-preserving path to reduced detectability."/>
          <p:cNvSpPr txBox="1"/>
          <p:nvPr/>
        </p:nvSpPr>
        <p:spPr>
          <a:xfrm>
            <a:off x="5988599" y="1920238"/>
            <a:ext cx="2470325" cy="635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Takeaway: Context + style rules offer the best accuracy-preserving path to reduced detectability.</a:t>
            </a:r>
          </a:p>
        </p:txBody>
      </p:sp>
      <p:sp>
        <p:nvSpPr>
          <p:cNvPr id="166" name="Style constraints achieved 99.1% factual precision with only 0.38 incorrect claims per document on average."/>
          <p:cNvSpPr txBox="1"/>
          <p:nvPr/>
        </p:nvSpPr>
        <p:spPr>
          <a:xfrm>
            <a:off x="5988599" y="3017520"/>
            <a:ext cx="2470325" cy="392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i="1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Style constraints achieved 99.1% factual precision with only 0.38 incorrect claims per document on average.</a:t>
            </a:r>
          </a:p>
        </p:txBody>
      </p:sp>
      <p:sp>
        <p:nvSpPr>
          <p:cNvPr id="167" name="14 / 18"/>
          <p:cNvSpPr txBox="1"/>
          <p:nvPr/>
        </p:nvSpPr>
        <p:spPr>
          <a:xfrm>
            <a:off x="8091719" y="4754879"/>
            <a:ext cx="824404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14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sults: Linguistic Feature Analysis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Results: Linguistic Feature Analysis</a:t>
            </a:r>
          </a:p>
        </p:txBody>
      </p:sp>
      <p:sp>
        <p:nvSpPr>
          <p:cNvPr id="170" name="Rectangle"/>
          <p:cNvSpPr/>
          <p:nvPr/>
        </p:nvSpPr>
        <p:spPr>
          <a:xfrm>
            <a:off x="457196" y="1005838"/>
            <a:ext cx="5029567" cy="237780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1" name="Feature profile heatmap…"/>
          <p:cNvSpPr txBox="1"/>
          <p:nvPr/>
        </p:nvSpPr>
        <p:spPr>
          <a:xfrm>
            <a:off x="959396" y="1463038"/>
            <a:ext cx="4024806" cy="73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algn="ctr">
              <a:defRPr i="1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Feature profile heatmap</a:t>
            </a:r>
          </a:p>
          <a:p>
            <a:pPr algn="ctr">
              <a:defRPr i="1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(normalized to human baseline)</a:t>
            </a:r>
          </a:p>
          <a:p>
            <a:pPr algn="ctr">
              <a:defRPr i="1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will be inserted here</a:t>
            </a:r>
          </a:p>
        </p:txBody>
      </p:sp>
      <p:sp>
        <p:nvSpPr>
          <p:cNvPr id="172" name="Rectangle"/>
          <p:cNvSpPr/>
          <p:nvPr/>
        </p:nvSpPr>
        <p:spPr>
          <a:xfrm>
            <a:off x="5760720" y="1005838"/>
            <a:ext cx="2926444" cy="237780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3" name="Regression Results (H5)"/>
          <p:cNvSpPr txBox="1"/>
          <p:nvPr/>
        </p:nvSpPr>
        <p:spPr>
          <a:xfrm>
            <a:off x="5988599" y="1188719"/>
            <a:ext cx="2470325" cy="28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F972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Regression Results (H5)</a:t>
            </a:r>
          </a:p>
        </p:txBody>
      </p:sp>
      <p:sp>
        <p:nvSpPr>
          <p:cNvPr id="174" name="Which features predict detectability?…"/>
          <p:cNvSpPr txBox="1"/>
          <p:nvPr/>
        </p:nvSpPr>
        <p:spPr>
          <a:xfrm>
            <a:off x="5988599" y="1554480"/>
            <a:ext cx="2470325" cy="666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Which features predict detectability?</a:t>
            </a:r>
          </a:p>
          <a:p>
            <a:pPr>
              <a:lnSpc>
                <a:spcPct val="140000"/>
              </a:lnSpc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Top predictors and Model R² pending experimentation.</a:t>
            </a:r>
          </a:p>
        </p:txBody>
      </p:sp>
      <p:sp>
        <p:nvSpPr>
          <p:cNvPr id="175" name="Rectangle"/>
          <p:cNvSpPr/>
          <p:nvPr/>
        </p:nvSpPr>
        <p:spPr>
          <a:xfrm>
            <a:off x="457198" y="3657598"/>
            <a:ext cx="8229963" cy="118908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6" name="Interpretation"/>
          <p:cNvSpPr txBox="1"/>
          <p:nvPr/>
        </p:nvSpPr>
        <p:spPr>
          <a:xfrm>
            <a:off x="776518" y="3749040"/>
            <a:ext cx="1738803" cy="28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Interpretation</a:t>
            </a:r>
          </a:p>
        </p:txBody>
      </p:sp>
      <p:sp>
        <p:nvSpPr>
          <p:cNvPr id="177" name="Style rules directly target the top predictive features (discourse markers, contractions, sentence variance)…"/>
          <p:cNvSpPr txBox="1"/>
          <p:nvPr/>
        </p:nvSpPr>
        <p:spPr>
          <a:xfrm>
            <a:off x="822240" y="4069079"/>
            <a:ext cx="7499520" cy="658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61280" indent="-161280"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Style rules directly target the top predictive features (discourse markers, contractions, sentence variance)</a:t>
            </a:r>
          </a:p>
          <a:p>
            <a:pPr marL="161280" indent="-161280"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Detector scores track measurable stylistic patterns - not a black box</a:t>
            </a:r>
          </a:p>
          <a:p>
            <a:pPr marL="161280" indent="-161280"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Targeted style interventions can be principled, not just heuristic</a:t>
            </a:r>
          </a:p>
        </p:txBody>
      </p:sp>
      <p:sp>
        <p:nvSpPr>
          <p:cNvPr id="178" name="15 / 18"/>
          <p:cNvSpPr txBox="1"/>
          <p:nvPr/>
        </p:nvSpPr>
        <p:spPr>
          <a:xfrm>
            <a:off x="8091719" y="4754879"/>
            <a:ext cx="824404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15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ode &amp; Implementation"/>
          <p:cNvSpPr txBox="1"/>
          <p:nvPr/>
        </p:nvSpPr>
        <p:spPr>
          <a:xfrm>
            <a:off x="776519" y="320040"/>
            <a:ext cx="7225201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8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Code &amp; Implementation</a:t>
            </a:r>
          </a:p>
        </p:txBody>
      </p:sp>
      <p:sp>
        <p:nvSpPr>
          <p:cNvPr id="181" name="Rectangle"/>
          <p:cNvSpPr/>
          <p:nvPr/>
        </p:nvSpPr>
        <p:spPr>
          <a:xfrm>
            <a:off x="457200" y="1005836"/>
            <a:ext cx="4755240" cy="38408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82" name="Repository Structure"/>
          <p:cNvSpPr txBox="1"/>
          <p:nvPr/>
        </p:nvSpPr>
        <p:spPr>
          <a:xfrm>
            <a:off x="685076" y="1097280"/>
            <a:ext cx="4299127" cy="280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300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Repository Structure</a:t>
            </a:r>
          </a:p>
        </p:txBody>
      </p:sp>
      <p:sp>
        <p:nvSpPr>
          <p:cNvPr id="183" name="ai-detectability-research/…"/>
          <p:cNvSpPr txBox="1"/>
          <p:nvPr/>
        </p:nvSpPr>
        <p:spPr>
          <a:xfrm>
            <a:off x="730798" y="1463036"/>
            <a:ext cx="4207685" cy="2617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ai-detectability-research/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configs/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conditions.yaml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style_rules.yaml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validators.yaml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data/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tasks/  context/  human_baselines/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generated/  results/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src/ai_text_quality/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generate.py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detect.py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factcheck.py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linguistic.py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notebooks/</a:t>
            </a:r>
          </a:p>
          <a:p>
            <a:pPr>
              <a:lnSpc>
                <a:spcPct val="135000"/>
              </a:lnSpc>
              <a:defRPr sz="9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01-05 (design → analysis)</a:t>
            </a:r>
          </a:p>
        </p:txBody>
      </p:sp>
      <p:sp>
        <p:nvSpPr>
          <p:cNvPr id="184" name="Rectangle"/>
          <p:cNvSpPr/>
          <p:nvPr/>
        </p:nvSpPr>
        <p:spPr>
          <a:xfrm>
            <a:off x="5486398" y="1005836"/>
            <a:ext cx="3200765" cy="38408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85" name="Tech Stack"/>
          <p:cNvSpPr txBox="1"/>
          <p:nvPr/>
        </p:nvSpPr>
        <p:spPr>
          <a:xfrm>
            <a:off x="5714279" y="1188719"/>
            <a:ext cx="2744644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Tech Stack</a:t>
            </a:r>
          </a:p>
        </p:txBody>
      </p:sp>
      <p:sp>
        <p:nvSpPr>
          <p:cNvPr id="186" name="Generation"/>
          <p:cNvSpPr txBox="1"/>
          <p:nvPr/>
        </p:nvSpPr>
        <p:spPr>
          <a:xfrm>
            <a:off x="5714279" y="1600200"/>
            <a:ext cx="2744644" cy="229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Generation</a:t>
            </a:r>
          </a:p>
        </p:txBody>
      </p:sp>
      <p:sp>
        <p:nvSpPr>
          <p:cNvPr id="187" name="Claude Sonnet 4 via Anthropic API (temp=0.3, 3 runs)"/>
          <p:cNvSpPr txBox="1"/>
          <p:nvPr/>
        </p:nvSpPr>
        <p:spPr>
          <a:xfrm>
            <a:off x="5714279" y="1801440"/>
            <a:ext cx="2744644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Claude Sonnet 4 via Anthropic API (temp=0.3, 3 runs)</a:t>
            </a:r>
          </a:p>
        </p:txBody>
      </p:sp>
      <p:sp>
        <p:nvSpPr>
          <p:cNvPr id="188" name="Detection"/>
          <p:cNvSpPr txBox="1"/>
          <p:nvPr/>
        </p:nvSpPr>
        <p:spPr>
          <a:xfrm>
            <a:off x="5714279" y="2331720"/>
            <a:ext cx="2744644" cy="229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Detection</a:t>
            </a:r>
          </a:p>
        </p:txBody>
      </p:sp>
      <p:sp>
        <p:nvSpPr>
          <p:cNvPr id="189" name="GPTZero API + Originality.ai API"/>
          <p:cNvSpPr txBox="1"/>
          <p:nvPr/>
        </p:nvSpPr>
        <p:spPr>
          <a:xfrm>
            <a:off x="5714279" y="2532957"/>
            <a:ext cx="2744644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GPTZero API + Originality.ai API</a:t>
            </a:r>
          </a:p>
        </p:txBody>
      </p:sp>
      <p:sp>
        <p:nvSpPr>
          <p:cNvPr id="190" name="Linguistics"/>
          <p:cNvSpPr txBox="1"/>
          <p:nvPr/>
        </p:nvSpPr>
        <p:spPr>
          <a:xfrm>
            <a:off x="5714279" y="3063238"/>
            <a:ext cx="2744644" cy="229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Linguistics</a:t>
            </a:r>
          </a:p>
        </p:txBody>
      </p:sp>
      <p:sp>
        <p:nvSpPr>
          <p:cNvPr id="191" name="spaCy (en_core_web_sm)"/>
          <p:cNvSpPr txBox="1"/>
          <p:nvPr/>
        </p:nvSpPr>
        <p:spPr>
          <a:xfrm>
            <a:off x="5714279" y="3264479"/>
            <a:ext cx="2744644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spaCy (en_core_web_sm)</a:t>
            </a:r>
          </a:p>
        </p:txBody>
      </p:sp>
      <p:sp>
        <p:nvSpPr>
          <p:cNvPr id="192" name="Statistics"/>
          <p:cNvSpPr txBox="1"/>
          <p:nvPr/>
        </p:nvSpPr>
        <p:spPr>
          <a:xfrm>
            <a:off x="5714279" y="3794759"/>
            <a:ext cx="2744644" cy="229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0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Statistics</a:t>
            </a:r>
          </a:p>
        </p:txBody>
      </p:sp>
      <p:sp>
        <p:nvSpPr>
          <p:cNvPr id="193" name="SciPy (Wilcoxon), statsmodels (regression)"/>
          <p:cNvSpPr txBox="1"/>
          <p:nvPr/>
        </p:nvSpPr>
        <p:spPr>
          <a:xfrm>
            <a:off x="5714279" y="3995999"/>
            <a:ext cx="2744644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20000"/>
              </a:lnSpc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SciPy (Wilcoxon), statsmodels (regression)</a:t>
            </a:r>
          </a:p>
        </p:txBody>
      </p:sp>
      <p:sp>
        <p:nvSpPr>
          <p:cNvPr id="194" name="Rectangle"/>
          <p:cNvSpPr/>
          <p:nvPr/>
        </p:nvSpPr>
        <p:spPr>
          <a:xfrm>
            <a:off x="5486398" y="4069079"/>
            <a:ext cx="3200765" cy="503284"/>
          </a:xfrm>
          <a:prstGeom prst="rect">
            <a:avLst/>
          </a:prstGeom>
          <a:solidFill>
            <a:srgbClr val="191E3C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95" name="github.com/yongkyunlee/…"/>
          <p:cNvSpPr txBox="1"/>
          <p:nvPr/>
        </p:nvSpPr>
        <p:spPr>
          <a:xfrm>
            <a:off x="6125757" y="4069079"/>
            <a:ext cx="2378885" cy="363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15000"/>
              </a:lnSpc>
              <a:defRPr sz="900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github.com/yongkyunlee/</a:t>
            </a:r>
          </a:p>
          <a:p>
            <a:pPr>
              <a:lnSpc>
                <a:spcPct val="115000"/>
              </a:lnSpc>
              <a:defRPr sz="900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ai-detectability-research</a:t>
            </a:r>
          </a:p>
        </p:txBody>
      </p:sp>
      <p:sp>
        <p:nvSpPr>
          <p:cNvPr id="196" name="16 / 18"/>
          <p:cNvSpPr txBox="1"/>
          <p:nvPr/>
        </p:nvSpPr>
        <p:spPr>
          <a:xfrm>
            <a:off x="8091719" y="4754879"/>
            <a:ext cx="824404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16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Example: context_rich vs style_constrained Side-by-Side"/>
          <p:cNvSpPr txBox="1"/>
          <p:nvPr/>
        </p:nvSpPr>
        <p:spPr>
          <a:xfrm>
            <a:off x="776519" y="274319"/>
            <a:ext cx="7225201" cy="44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24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Example: context_rich vs style_constrained Side-by-Side</a:t>
            </a:r>
          </a:p>
        </p:txBody>
      </p:sp>
      <p:sp>
        <p:nvSpPr>
          <p:cNvPr id="199" name="Square"/>
          <p:cNvSpPr/>
          <p:nvPr/>
        </p:nvSpPr>
        <p:spPr>
          <a:xfrm>
            <a:off x="457196" y="868677"/>
            <a:ext cx="3978006" cy="39780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00" name="Rectangle"/>
          <p:cNvSpPr/>
          <p:nvPr/>
        </p:nvSpPr>
        <p:spPr>
          <a:xfrm>
            <a:off x="457196" y="868680"/>
            <a:ext cx="3978006" cy="457561"/>
          </a:xfrm>
          <a:prstGeom prst="rect">
            <a:avLst/>
          </a:prstGeom>
          <a:solidFill>
            <a:srgbClr val="94A3B8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01" name="context_rich - AI prob: 0.973"/>
          <p:cNvSpPr txBox="1"/>
          <p:nvPr/>
        </p:nvSpPr>
        <p:spPr>
          <a:xfrm>
            <a:off x="685077" y="868680"/>
            <a:ext cx="3521885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context_rich - AI prob: 0.973</a:t>
            </a:r>
          </a:p>
        </p:txBody>
      </p:sp>
      <p:sp>
        <p:nvSpPr>
          <p:cNvPr id="202" name="In the world of modern AI frameworks, CrewAI stands out as a powerful tool for building multi-agent systems. It is important to note that installation requires Python 3.10 or newer. Furthermore, the framework provides a streamlined setup process. To get "/>
          <p:cNvSpPr txBox="1"/>
          <p:nvPr/>
        </p:nvSpPr>
        <p:spPr>
          <a:xfrm>
            <a:off x="685077" y="1417318"/>
            <a:ext cx="3521885" cy="131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40000"/>
              </a:lnSpc>
              <a:defRPr i="1"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 the world of modern AI frameworks, CrewAI stands out as a powerful tool for building multi-agent systems. It is important to note that installation requires Python 3.10 or newer. Furthermore, the framework provides a streamlined setup process. To get started, you can install CrewAI using pip install crewai. Moreover, the project initialization command crewai create crew my_project generates a well-structured template...</a:t>
            </a:r>
          </a:p>
        </p:txBody>
      </p:sp>
      <p:sp>
        <p:nvSpPr>
          <p:cNvPr id="203" name="Line"/>
          <p:cNvSpPr/>
          <p:nvPr/>
        </p:nvSpPr>
        <p:spPr>
          <a:xfrm>
            <a:off x="640078" y="3383278"/>
            <a:ext cx="3611524" cy="5"/>
          </a:xfrm>
          <a:prstGeom prst="line">
            <a:avLst/>
          </a:prstGeom>
          <a:ln w="126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4" name="AI tells: &quot;In the world of&quot;, &quot;It is important to note&quot;, &quot;Furthermore&quot;, &quot;Moreover&quot;, uniform sentence length, no contractions"/>
          <p:cNvSpPr txBox="1"/>
          <p:nvPr/>
        </p:nvSpPr>
        <p:spPr>
          <a:xfrm>
            <a:off x="685077" y="3520440"/>
            <a:ext cx="3521885" cy="37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EF434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AI tells: "In the world of", "It is important to note", "Furthermore", "Moreover", uniform sentence length, no contractions</a:t>
            </a:r>
          </a:p>
        </p:txBody>
      </p:sp>
      <p:sp>
        <p:nvSpPr>
          <p:cNvPr id="205" name="Square"/>
          <p:cNvSpPr/>
          <p:nvPr/>
        </p:nvSpPr>
        <p:spPr>
          <a:xfrm>
            <a:off x="4709157" y="868677"/>
            <a:ext cx="3978005" cy="39780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06" name="Rectangle"/>
          <p:cNvSpPr/>
          <p:nvPr/>
        </p:nvSpPr>
        <p:spPr>
          <a:xfrm>
            <a:off x="4709157" y="868680"/>
            <a:ext cx="3978005" cy="457561"/>
          </a:xfrm>
          <a:prstGeom prst="rect">
            <a:avLst/>
          </a:prstGeom>
          <a:solidFill>
            <a:srgbClr val="0FB98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07" name="style_constrained - AI prob: 0.979"/>
          <p:cNvSpPr txBox="1"/>
          <p:nvPr/>
        </p:nvSpPr>
        <p:spPr>
          <a:xfrm>
            <a:off x="4937040" y="868680"/>
            <a:ext cx="3521884" cy="24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style_constrained - AI prob: 0.979</a:t>
            </a:r>
          </a:p>
        </p:txBody>
      </p:sp>
      <p:sp>
        <p:nvSpPr>
          <p:cNvPr id="208" name="CrewAI's setup is dead simple - pip install crewai and you're off. You'll need Python 3.10+, which shouldn't be an issue for most teams at this point. Run crewai create crew my_project and it scaffolds the whole thing: agents.yaml for your agent configs,"/>
          <p:cNvSpPr txBox="1"/>
          <p:nvPr/>
        </p:nvSpPr>
        <p:spPr>
          <a:xfrm>
            <a:off x="4937040" y="1417318"/>
            <a:ext cx="3521884" cy="131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40000"/>
              </a:lnSpc>
              <a:defRPr i="1"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CrewAI's setup is dead simple - pip install crewai and you're off. You'll need Python 3.10+, which shouldn't be an issue for most teams at this point. Run crewai create crew my_project and it scaffolds the whole thing: agents.yaml for your agent configs, tasks.yaml for workflows. I've found the YAML-first approach polarizing. It's great for quick iteration, but if you're managing 20+ agents, you'll want to drop into Python classes eventually...</a:t>
            </a:r>
          </a:p>
        </p:txBody>
      </p:sp>
      <p:sp>
        <p:nvSpPr>
          <p:cNvPr id="209" name="Line"/>
          <p:cNvSpPr/>
          <p:nvPr/>
        </p:nvSpPr>
        <p:spPr>
          <a:xfrm>
            <a:off x="4892040" y="3383278"/>
            <a:ext cx="3611520" cy="5"/>
          </a:xfrm>
          <a:prstGeom prst="line">
            <a:avLst/>
          </a:prstGeom>
          <a:ln w="12600">
            <a:solidFill>
              <a:srgbClr val="E2E8F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0" name="Improvements: Contractions, first person, varied sentence length, specific details, opinionated trade-off"/>
          <p:cNvSpPr txBox="1"/>
          <p:nvPr/>
        </p:nvSpPr>
        <p:spPr>
          <a:xfrm>
            <a:off x="4937040" y="3520440"/>
            <a:ext cx="3521884" cy="37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0FB98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Improvements: Contractions, first person, varied sentence length, specific details, opinionated trade-off</a:t>
            </a:r>
          </a:p>
        </p:txBody>
      </p:sp>
      <p:sp>
        <p:nvSpPr>
          <p:cNvPr id="211" name="17 / 18"/>
          <p:cNvSpPr txBox="1"/>
          <p:nvPr/>
        </p:nvSpPr>
        <p:spPr>
          <a:xfrm>
            <a:off x="8091719" y="4754879"/>
            <a:ext cx="824404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17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Demo &amp; Links"/>
          <p:cNvSpPr txBox="1"/>
          <p:nvPr/>
        </p:nvSpPr>
        <p:spPr>
          <a:xfrm>
            <a:off x="776519" y="365757"/>
            <a:ext cx="4482001" cy="623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3600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Demo &amp; Links</a:t>
            </a:r>
          </a:p>
        </p:txBody>
      </p:sp>
      <p:sp>
        <p:nvSpPr>
          <p:cNvPr id="214" name="Rectangle"/>
          <p:cNvSpPr/>
          <p:nvPr/>
        </p:nvSpPr>
        <p:spPr>
          <a:xfrm>
            <a:off x="457197" y="1188719"/>
            <a:ext cx="3932287" cy="2286363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1D283A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5" name="YouTube Demo"/>
          <p:cNvSpPr txBox="1"/>
          <p:nvPr/>
        </p:nvSpPr>
        <p:spPr>
          <a:xfrm>
            <a:off x="776518" y="1417319"/>
            <a:ext cx="3110403" cy="3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>
                <a:solidFill>
                  <a:srgbClr val="1D283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YouTube Demo</a:t>
            </a:r>
          </a:p>
        </p:txBody>
      </p:sp>
      <p:sp>
        <p:nvSpPr>
          <p:cNvPr id="216" name="Pre-recorded walkthrough covering:…"/>
          <p:cNvSpPr txBox="1"/>
          <p:nvPr/>
        </p:nvSpPr>
        <p:spPr>
          <a:xfrm>
            <a:off x="822237" y="2011677"/>
            <a:ext cx="3201846" cy="1039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Pre-recorded walkthrough covering:</a:t>
            </a:r>
            <a:endParaRPr>
              <a:solidFill>
                <a:srgbClr val="1D283A"/>
              </a:solidFill>
            </a:endParaRPr>
          </a:p>
          <a:p>
            <a:pPr marL="161280" indent="-161280">
              <a:spcBef>
                <a:spcPts val="3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Task definition &amp; gold fact setup</a:t>
            </a:r>
            <a:endParaRPr>
              <a:solidFill>
                <a:srgbClr val="1D283A"/>
              </a:solidFill>
            </a:endParaRPr>
          </a:p>
          <a:p>
            <a:pPr marL="161280" indent="-161280">
              <a:spcBef>
                <a:spcPts val="3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Generation across all 4 conditions</a:t>
            </a:r>
            <a:endParaRPr>
              <a:solidFill>
                <a:srgbClr val="1D283A"/>
              </a:solidFill>
            </a:endParaRPr>
          </a:p>
          <a:p>
            <a:pPr marL="161280" indent="-161280">
              <a:spcBef>
                <a:spcPts val="3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Detector API calls &amp; score comparison</a:t>
            </a:r>
            <a:endParaRPr>
              <a:solidFill>
                <a:srgbClr val="1D283A"/>
              </a:solidFill>
            </a:endParaRPr>
          </a:p>
          <a:p>
            <a:pPr marL="161280" indent="-161280">
              <a:spcBef>
                <a:spcPts val="300"/>
              </a:spcBef>
              <a:defRPr sz="10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Linguistic feature extraction</a:t>
            </a:r>
          </a:p>
        </p:txBody>
      </p:sp>
      <p:sp>
        <p:nvSpPr>
          <p:cNvPr id="217" name="Rectangle"/>
          <p:cNvSpPr/>
          <p:nvPr/>
        </p:nvSpPr>
        <p:spPr>
          <a:xfrm>
            <a:off x="4754879" y="1188718"/>
            <a:ext cx="3932283" cy="914763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1D283A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18" name="github.com/yongkyunlee/ai-detectability-research"/>
          <p:cNvSpPr txBox="1"/>
          <p:nvPr/>
        </p:nvSpPr>
        <p:spPr>
          <a:xfrm>
            <a:off x="5028479" y="1325880"/>
            <a:ext cx="3384723" cy="36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sz="1000">
                <a:solidFill>
                  <a:srgbClr val="3A82F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github.com/yongkyunlee/ai-detectability-research</a:t>
            </a:r>
          </a:p>
        </p:txBody>
      </p:sp>
      <p:sp>
        <p:nvSpPr>
          <p:cNvPr id="219" name="Rectangle"/>
          <p:cNvSpPr/>
          <p:nvPr/>
        </p:nvSpPr>
        <p:spPr>
          <a:xfrm>
            <a:off x="4754879" y="2285998"/>
            <a:ext cx="3932283" cy="2560686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solidFill>
                  <a:srgbClr val="1D283A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20" name="Key References"/>
          <p:cNvSpPr txBox="1"/>
          <p:nvPr/>
        </p:nvSpPr>
        <p:spPr>
          <a:xfrm>
            <a:off x="5028479" y="2423160"/>
            <a:ext cx="3384723" cy="29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>
              <a:defRPr b="1" sz="14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Key References</a:t>
            </a:r>
          </a:p>
        </p:txBody>
      </p:sp>
      <p:sp>
        <p:nvSpPr>
          <p:cNvPr id="221" name="1. Mitchell et al. (2023) - DetectGPT…"/>
          <p:cNvSpPr txBox="1"/>
          <p:nvPr/>
        </p:nvSpPr>
        <p:spPr>
          <a:xfrm>
            <a:off x="5074199" y="2788920"/>
            <a:ext cx="3293283" cy="1339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1. Mitchell et al. (2023) - DetectGPT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2. Kirchenbauer et al. (2023) - Watermarking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3. Sadasivan et al. (2023) - Reliable Detection?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4. Krishna et al. (2023) - Paraphrasing Evades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5. Liang et al. (2023) - Detector Bias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6. Wang et al. (2025) - HUMPA (ICLR)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7. Wu et al. (2024) - DetectRL (NeurIPS)</a:t>
            </a:r>
            <a:endParaRPr>
              <a:solidFill>
                <a:srgbClr val="1D283A"/>
              </a:solidFill>
            </a:endParaRPr>
          </a:p>
          <a:p>
            <a:pPr>
              <a:lnSpc>
                <a:spcPct val="135000"/>
              </a:lnSpc>
              <a:defRPr sz="8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8. Rivera Soto et al. (2025) - Distinct Style</a:t>
            </a:r>
          </a:p>
        </p:txBody>
      </p:sp>
      <p:sp>
        <p:nvSpPr>
          <p:cNvPr id="222" name="Thank you!"/>
          <p:cNvSpPr txBox="1"/>
          <p:nvPr/>
        </p:nvSpPr>
        <p:spPr>
          <a:xfrm>
            <a:off x="502196" y="4114798"/>
            <a:ext cx="3841927" cy="496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ctr">
              <a:defRPr b="1" sz="2800">
                <a:solidFill>
                  <a:srgbClr val="3A82F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Thank you!</a:t>
            </a:r>
          </a:p>
        </p:txBody>
      </p:sp>
      <p:sp>
        <p:nvSpPr>
          <p:cNvPr id="223" name="18 / 18"/>
          <p:cNvSpPr txBox="1"/>
          <p:nvPr/>
        </p:nvSpPr>
        <p:spPr>
          <a:xfrm>
            <a:off x="8091719" y="4754879"/>
            <a:ext cx="824404" cy="20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>
            <a:lvl1pPr algn="r">
              <a:defRPr sz="900">
                <a:solidFill>
                  <a:srgbClr val="63738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18 / 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