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E0CA"/>
          </a:solidFill>
        </a:fill>
      </a:tcStyle>
    </a:wholeTbl>
    <a:band2H>
      <a:tcTxStyle b="def" i="def"/>
      <a:tcStyle>
        <a:tcBdr/>
        <a:fill>
          <a:solidFill>
            <a:srgbClr val="E7F0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CDCA"/>
          </a:solidFill>
        </a:fill>
      </a:tcStyle>
    </a:wholeTbl>
    <a:band2H>
      <a:tcTxStyle b="def" i="def"/>
      <a:tcStyle>
        <a:tcBdr/>
        <a:fill>
          <a:solidFill>
            <a:srgbClr val="F0E8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BCBCB"/>
          </a:solidFill>
        </a:fill>
      </a:tcStyle>
    </a:wholeTbl>
    <a:band2H>
      <a:tcTxStyle b="def" i="def"/>
      <a:tcStyle>
        <a:tcBdr/>
        <a:fill>
          <a:solidFill>
            <a:srgbClr val="F5E7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" name="Shape 2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05199"/>
            <a:ext cx="8229242" cy="858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3480"/>
            <a:ext cx="8229242" cy="2982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279548" y="4632644"/>
            <a:ext cx="273653" cy="2692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431999" marR="0" indent="-323998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Pct val="45000"/>
        <a:buFontTx/>
        <a:buChar char="●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xt Enrichment and…"/>
          <p:cNvSpPr txBox="1"/>
          <p:nvPr/>
        </p:nvSpPr>
        <p:spPr>
          <a:xfrm>
            <a:off x="776520" y="1097280"/>
            <a:ext cx="7590960" cy="1431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15000"/>
              </a:lnSpc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Context Enrichment and</a:t>
            </a:r>
          </a:p>
          <a:p>
            <a:pPr>
              <a:lnSpc>
                <a:spcPct val="115000"/>
              </a:lnSpc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Style Intervention for Reducing</a:t>
            </a:r>
          </a:p>
          <a:p>
            <a:pPr>
              <a:lnSpc>
                <a:spcPct val="115000"/>
              </a:lnSpc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AI Detectability in Technical Content</a:t>
            </a:r>
          </a:p>
        </p:txBody>
      </p:sp>
      <p:sp>
        <p:nvSpPr>
          <p:cNvPr id="30" name="Yongkyun Lee"/>
          <p:cNvSpPr txBox="1"/>
          <p:nvPr/>
        </p:nvSpPr>
        <p:spPr>
          <a:xfrm>
            <a:off x="776519" y="3200399"/>
            <a:ext cx="4482001" cy="331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>
                <a:solidFill>
                  <a:srgbClr val="3A82F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Yongkyun Lee</a:t>
            </a:r>
          </a:p>
        </p:txBody>
      </p:sp>
      <p:sp>
        <p:nvSpPr>
          <p:cNvPr id="31" name="Mini Research Project  -  March 2025"/>
          <p:cNvSpPr txBox="1"/>
          <p:nvPr/>
        </p:nvSpPr>
        <p:spPr>
          <a:xfrm>
            <a:off x="776519" y="3611879"/>
            <a:ext cx="4482001" cy="256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Mini Research Project  -  March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bout Me"/>
          <p:cNvSpPr txBox="1"/>
          <p:nvPr/>
        </p:nvSpPr>
        <p:spPr>
          <a:xfrm>
            <a:off x="593640" y="274319"/>
            <a:ext cx="4482001" cy="496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About Me</a:t>
            </a:r>
          </a:p>
        </p:txBody>
      </p:sp>
      <p:sp>
        <p:nvSpPr>
          <p:cNvPr id="34" name="yongkyun.daniel.lee@gmail.com  |  linkedin.com/in/yongkyunlee  |  noninertialframe.com"/>
          <p:cNvSpPr txBox="1"/>
          <p:nvPr/>
        </p:nvSpPr>
        <p:spPr>
          <a:xfrm>
            <a:off x="4434118" y="274319"/>
            <a:ext cx="4482004" cy="389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1100">
                <a:solidFill>
                  <a:srgbClr val="3A82F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yongkyun.daniel.lee@gmail.com  |  linkedin.com/in/yongkyunlee  |  noninertialframe.com</a:t>
            </a:r>
          </a:p>
        </p:txBody>
      </p:sp>
      <p:sp>
        <p:nvSpPr>
          <p:cNvPr id="35" name="Rectangle"/>
          <p:cNvSpPr/>
          <p:nvPr/>
        </p:nvSpPr>
        <p:spPr>
          <a:xfrm>
            <a:off x="1188719" y="1005838"/>
            <a:ext cx="27434" cy="3688922"/>
          </a:xfrm>
          <a:prstGeom prst="rect">
            <a:avLst/>
          </a:prstGeom>
          <a:solidFill>
            <a:srgbClr val="3A82F6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6" name="Circle"/>
          <p:cNvSpPr/>
          <p:nvPr/>
        </p:nvSpPr>
        <p:spPr>
          <a:xfrm>
            <a:off x="1142999" y="1142999"/>
            <a:ext cx="118877" cy="118877"/>
          </a:xfrm>
          <a:prstGeom prst="ellipse">
            <a:avLst/>
          </a:prstGeom>
          <a:solidFill>
            <a:srgbClr val="3A82F6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7" name="Sergeant, Republic of Korea Army"/>
          <p:cNvSpPr txBox="1"/>
          <p:nvPr/>
        </p:nvSpPr>
        <p:spPr>
          <a:xfrm>
            <a:off x="1477560" y="1055834"/>
            <a:ext cx="6996601" cy="293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4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Sergeant, Republic of Korea Army</a:t>
            </a:r>
          </a:p>
        </p:txBody>
      </p:sp>
      <p:sp>
        <p:nvSpPr>
          <p:cNvPr id="38" name="Circle"/>
          <p:cNvSpPr/>
          <p:nvPr/>
        </p:nvSpPr>
        <p:spPr>
          <a:xfrm>
            <a:off x="1142999" y="1873000"/>
            <a:ext cx="118877" cy="118877"/>
          </a:xfrm>
          <a:prstGeom prst="ellipse">
            <a:avLst/>
          </a:prstGeom>
          <a:solidFill>
            <a:srgbClr val="3A82F6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9" name="Software Engineer, Onehouse"/>
          <p:cNvSpPr txBox="1"/>
          <p:nvPr/>
        </p:nvSpPr>
        <p:spPr>
          <a:xfrm>
            <a:off x="1477560" y="3303851"/>
            <a:ext cx="6996601" cy="293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4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Software Engineer, Onehouse</a:t>
            </a:r>
          </a:p>
        </p:txBody>
      </p:sp>
      <p:sp>
        <p:nvSpPr>
          <p:cNvPr id="40" name="Circle"/>
          <p:cNvSpPr/>
          <p:nvPr/>
        </p:nvSpPr>
        <p:spPr>
          <a:xfrm>
            <a:off x="1142999" y="2603000"/>
            <a:ext cx="118877" cy="118877"/>
          </a:xfrm>
          <a:prstGeom prst="ellipse">
            <a:avLst/>
          </a:prstGeom>
          <a:solidFill>
            <a:srgbClr val="3A82F6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41" name="Analyst, Goldman Sachs"/>
          <p:cNvSpPr txBox="1"/>
          <p:nvPr/>
        </p:nvSpPr>
        <p:spPr>
          <a:xfrm>
            <a:off x="1477560" y="2515835"/>
            <a:ext cx="6996601" cy="293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4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Analyst, Goldman Sachs</a:t>
            </a:r>
          </a:p>
        </p:txBody>
      </p:sp>
      <p:sp>
        <p:nvSpPr>
          <p:cNvPr id="42" name="Circle"/>
          <p:cNvSpPr/>
          <p:nvPr/>
        </p:nvSpPr>
        <p:spPr>
          <a:xfrm>
            <a:off x="1142999" y="3389236"/>
            <a:ext cx="118877" cy="118877"/>
          </a:xfrm>
          <a:prstGeom prst="ellipse">
            <a:avLst/>
          </a:prstGeom>
          <a:solidFill>
            <a:srgbClr val="3A82F6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43" name="2021"/>
          <p:cNvSpPr txBox="1"/>
          <p:nvPr/>
        </p:nvSpPr>
        <p:spPr>
          <a:xfrm>
            <a:off x="558578" y="1865302"/>
            <a:ext cx="54864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1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2021</a:t>
            </a:r>
          </a:p>
        </p:txBody>
      </p:sp>
      <p:sp>
        <p:nvSpPr>
          <p:cNvPr id="44" name="2022-2026"/>
          <p:cNvSpPr txBox="1"/>
          <p:nvPr/>
        </p:nvSpPr>
        <p:spPr>
          <a:xfrm>
            <a:off x="272232" y="3381538"/>
            <a:ext cx="825048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1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2022-2026</a:t>
            </a:r>
          </a:p>
        </p:txBody>
      </p:sp>
      <p:sp>
        <p:nvSpPr>
          <p:cNvPr id="45" name="2021-2022"/>
          <p:cNvSpPr txBox="1"/>
          <p:nvPr/>
        </p:nvSpPr>
        <p:spPr>
          <a:xfrm>
            <a:off x="272232" y="2595302"/>
            <a:ext cx="825048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1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2021-2022</a:t>
            </a:r>
          </a:p>
        </p:txBody>
      </p:sp>
      <p:sp>
        <p:nvSpPr>
          <p:cNvPr id="46" name="2 / 18"/>
          <p:cNvSpPr txBox="1"/>
          <p:nvPr/>
        </p:nvSpPr>
        <p:spPr>
          <a:xfrm>
            <a:off x="8091719" y="4754879"/>
            <a:ext cx="824403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 / 18</a:t>
            </a:r>
          </a:p>
        </p:txBody>
      </p:sp>
      <p:sp>
        <p:nvSpPr>
          <p:cNvPr id="47" name="Circle"/>
          <p:cNvSpPr/>
          <p:nvPr/>
        </p:nvSpPr>
        <p:spPr>
          <a:xfrm>
            <a:off x="1142999" y="4156790"/>
            <a:ext cx="118877" cy="118877"/>
          </a:xfrm>
          <a:prstGeom prst="ellipse">
            <a:avLst/>
          </a:prstGeom>
          <a:solidFill>
            <a:srgbClr val="3A82F6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48" name="2016-2018"/>
          <p:cNvSpPr txBox="1"/>
          <p:nvPr/>
        </p:nvSpPr>
        <p:spPr>
          <a:xfrm>
            <a:off x="372140" y="1135302"/>
            <a:ext cx="73508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1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2016-2018</a:t>
            </a:r>
          </a:p>
        </p:txBody>
      </p:sp>
      <p:sp>
        <p:nvSpPr>
          <p:cNvPr id="49" name="B.S. Computer Science, Caltech"/>
          <p:cNvSpPr txBox="1"/>
          <p:nvPr/>
        </p:nvSpPr>
        <p:spPr>
          <a:xfrm>
            <a:off x="1477560" y="1785834"/>
            <a:ext cx="6996601" cy="293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4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B.S. Computer Science, Caltech</a:t>
            </a:r>
          </a:p>
        </p:txBody>
      </p:sp>
      <p:sp>
        <p:nvSpPr>
          <p:cNvPr id="50" name="Portfolio management tool in Private Wealth Management Team"/>
          <p:cNvSpPr txBox="1"/>
          <p:nvPr/>
        </p:nvSpPr>
        <p:spPr>
          <a:xfrm>
            <a:off x="1515636" y="2839598"/>
            <a:ext cx="404066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 xml:space="preserve">Portfolio management tool in Private Wealth Management Team </a:t>
            </a:r>
          </a:p>
        </p:txBody>
      </p:sp>
      <p:sp>
        <p:nvSpPr>
          <p:cNvPr id="51" name="Spark Jobs/SQL platform. Quanton Engine optimization. Lakebase."/>
          <p:cNvSpPr txBox="1"/>
          <p:nvPr/>
        </p:nvSpPr>
        <p:spPr>
          <a:xfrm>
            <a:off x="1524102" y="3605374"/>
            <a:ext cx="4085309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Spark Jobs/SQL platform. Quanton Engine optimization. Lakebase.</a:t>
            </a:r>
          </a:p>
        </p:txBody>
      </p:sp>
      <p:sp>
        <p:nvSpPr>
          <p:cNvPr id="52" name="2026-Present"/>
          <p:cNvSpPr txBox="1"/>
          <p:nvPr/>
        </p:nvSpPr>
        <p:spPr>
          <a:xfrm>
            <a:off x="272232" y="4149092"/>
            <a:ext cx="825048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1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2026-Present</a:t>
            </a:r>
          </a:p>
        </p:txBody>
      </p:sp>
      <p:sp>
        <p:nvSpPr>
          <p:cNvPr id="53" name="Founder, Galley"/>
          <p:cNvSpPr txBox="1"/>
          <p:nvPr/>
        </p:nvSpPr>
        <p:spPr>
          <a:xfrm>
            <a:off x="1477560" y="4069627"/>
            <a:ext cx="6996601" cy="293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4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Founder, Galley</a:t>
            </a:r>
          </a:p>
        </p:txBody>
      </p:sp>
      <p:sp>
        <p:nvSpPr>
          <p:cNvPr id="54" name="AI team for technical content marketing"/>
          <p:cNvSpPr txBox="1"/>
          <p:nvPr/>
        </p:nvSpPr>
        <p:spPr>
          <a:xfrm>
            <a:off x="1515637" y="4356720"/>
            <a:ext cx="2466504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AI team for technical content marketing</a:t>
            </a:r>
          </a:p>
        </p:txBody>
      </p:sp>
      <p:sp>
        <p:nvSpPr>
          <p:cNvPr id="55" name="SIGINT research"/>
          <p:cNvSpPr txBox="1"/>
          <p:nvPr/>
        </p:nvSpPr>
        <p:spPr>
          <a:xfrm>
            <a:off x="1515637" y="1347877"/>
            <a:ext cx="99355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SIGINT research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l;dr"/>
          <p:cNvSpPr txBox="1"/>
          <p:nvPr/>
        </p:nvSpPr>
        <p:spPr>
          <a:xfrm>
            <a:off x="776518" y="365757"/>
            <a:ext cx="3567603" cy="623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36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tl;dr</a:t>
            </a:r>
          </a:p>
        </p:txBody>
      </p:sp>
      <p:sp>
        <p:nvSpPr>
          <p:cNvPr id="58" name="Problem Label"/>
          <p:cNvSpPr txBox="1"/>
          <p:nvPr/>
        </p:nvSpPr>
        <p:spPr>
          <a:xfrm>
            <a:off x="776519" y="1188719"/>
            <a:ext cx="7591081" cy="356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Problem</a:t>
            </a:r>
          </a:p>
        </p:txBody>
      </p:sp>
      <p:sp>
        <p:nvSpPr>
          <p:cNvPr id="59" name="Problem Text"/>
          <p:cNvSpPr txBox="1"/>
          <p:nvPr/>
        </p:nvSpPr>
        <p:spPr>
          <a:xfrm>
            <a:off x="776519" y="1554717"/>
            <a:ext cx="7591081" cy="2793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5000"/>
              </a:lnSpc>
              <a:defRPr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AI-generated technical content is easily detected by both humans and detectors.</a:t>
            </a:r>
          </a:p>
        </p:txBody>
      </p:sp>
      <p:sp>
        <p:nvSpPr>
          <p:cNvPr id="60" name="Method Label"/>
          <p:cNvSpPr txBox="1"/>
          <p:nvPr/>
        </p:nvSpPr>
        <p:spPr>
          <a:xfrm>
            <a:off x="776519" y="2200000"/>
            <a:ext cx="7591081" cy="356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>
                <a:solidFill>
                  <a:srgbClr val="F972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Method</a:t>
            </a:r>
          </a:p>
        </p:txBody>
      </p:sp>
      <p:sp>
        <p:nvSpPr>
          <p:cNvPr id="61" name="Method Text"/>
          <p:cNvSpPr txBox="1"/>
          <p:nvPr/>
        </p:nvSpPr>
        <p:spPr>
          <a:xfrm>
            <a:off x="776519" y="2565998"/>
            <a:ext cx="7591081" cy="5742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5000"/>
              </a:lnSpc>
              <a:defRPr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Ablation study on the effects of context enrichment, style constraints, and post-hoc humanization on detectability and factual accuracy.</a:t>
            </a:r>
          </a:p>
        </p:txBody>
      </p:sp>
      <p:sp>
        <p:nvSpPr>
          <p:cNvPr id="62" name="Key Results Label"/>
          <p:cNvSpPr txBox="1"/>
          <p:nvPr/>
        </p:nvSpPr>
        <p:spPr>
          <a:xfrm>
            <a:off x="776458" y="3477438"/>
            <a:ext cx="7591084" cy="356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Key Results</a:t>
            </a:r>
          </a:p>
        </p:txBody>
      </p:sp>
      <p:sp>
        <p:nvSpPr>
          <p:cNvPr id="63" name="Key Results Text"/>
          <p:cNvSpPr txBox="1"/>
          <p:nvPr/>
        </p:nvSpPr>
        <p:spPr>
          <a:xfrm>
            <a:off x="776458" y="3843439"/>
            <a:ext cx="7591084" cy="574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5000"/>
              </a:lnSpc>
              <a:defRPr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Style constraints (C3) reduced AI detection by [X]% while preserving [Y]% accuracy. Post-hoc humanization (C4) achieved lowest scores but introduced factual errors in [Z]% of cases.</a:t>
            </a:r>
          </a:p>
        </p:txBody>
      </p:sp>
      <p:sp>
        <p:nvSpPr>
          <p:cNvPr id="64" name="3 / 18"/>
          <p:cNvSpPr txBox="1"/>
          <p:nvPr/>
        </p:nvSpPr>
        <p:spPr>
          <a:xfrm>
            <a:off x="8091719" y="4754879"/>
            <a:ext cx="824403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3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Motivation"/>
          <p:cNvSpPr txBox="1"/>
          <p:nvPr/>
        </p:nvSpPr>
        <p:spPr>
          <a:xfrm>
            <a:off x="776518" y="365757"/>
            <a:ext cx="3567603" cy="623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36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Motivation</a:t>
            </a:r>
          </a:p>
        </p:txBody>
      </p:sp>
      <p:sp>
        <p:nvSpPr>
          <p:cNvPr id="67" name="9x Label"/>
          <p:cNvSpPr txBox="1"/>
          <p:nvPr/>
        </p:nvSpPr>
        <p:spPr>
          <a:xfrm>
            <a:off x="776519" y="1100000"/>
            <a:ext cx="7591081" cy="356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9x Growth in AI-Generated Content</a:t>
            </a:r>
          </a:p>
        </p:txBody>
      </p:sp>
      <p:sp>
        <p:nvSpPr>
          <p:cNvPr id="68" name="9x Text"/>
          <p:cNvSpPr txBox="1"/>
          <p:nvPr/>
        </p:nvSpPr>
        <p:spPr>
          <a:xfrm>
            <a:off x="776519" y="1460000"/>
            <a:ext cx="7591081" cy="2793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5000"/>
              </a:lnSpc>
              <a:defRPr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Explosive growth in low-quality AI content. Ninefold increase in “AI slop” mentions in 2025 vs. 2024</a:t>
            </a:r>
          </a:p>
        </p:txBody>
      </p:sp>
      <p:sp>
        <p:nvSpPr>
          <p:cNvPr id="69" name="73% Label"/>
          <p:cNvSpPr txBox="1"/>
          <p:nvPr/>
        </p:nvSpPr>
        <p:spPr>
          <a:xfrm>
            <a:off x="776459" y="2050000"/>
            <a:ext cx="7591082" cy="356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>
                <a:solidFill>
                  <a:srgbClr val="F972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73% of Practitioners Say They Can Identify AI Text</a:t>
            </a:r>
          </a:p>
        </p:txBody>
      </p:sp>
      <p:sp>
        <p:nvSpPr>
          <p:cNvPr id="70" name="73% Text"/>
          <p:cNvSpPr txBox="1"/>
          <p:nvPr/>
        </p:nvSpPr>
        <p:spPr>
          <a:xfrm>
            <a:off x="776459" y="2409999"/>
            <a:ext cx="7591082" cy="2793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5000"/>
              </a:lnSpc>
              <a:defRPr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Medical experts correctly identified AI-authored text in ~72% of evaluations in a blinded study.</a:t>
            </a:r>
          </a:p>
        </p:txBody>
      </p:sp>
      <p:sp>
        <p:nvSpPr>
          <p:cNvPr id="71" name="99% Label"/>
          <p:cNvSpPr txBox="1"/>
          <p:nvPr/>
        </p:nvSpPr>
        <p:spPr>
          <a:xfrm>
            <a:off x="776519" y="3000000"/>
            <a:ext cx="7591081" cy="356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>
                <a:solidFill>
                  <a:srgbClr val="EF4343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 xml:space="preserve">Quality is the biggest blocker to publishing more technical content </a:t>
            </a:r>
          </a:p>
        </p:txBody>
      </p:sp>
      <p:sp>
        <p:nvSpPr>
          <p:cNvPr id="72" name="99% Text"/>
          <p:cNvSpPr txBox="1"/>
          <p:nvPr/>
        </p:nvSpPr>
        <p:spPr>
          <a:xfrm>
            <a:off x="776519" y="3359999"/>
            <a:ext cx="7591081" cy="2793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5000"/>
              </a:lnSpc>
              <a:defRPr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From interviews with 10+ founders and GTM people, low quality of AI-generated blog posts is the issue.</a:t>
            </a:r>
          </a:p>
        </p:txBody>
      </p:sp>
      <p:sp>
        <p:nvSpPr>
          <p:cNvPr id="73" name="References"/>
          <p:cNvSpPr txBox="1"/>
          <p:nvPr/>
        </p:nvSpPr>
        <p:spPr>
          <a:xfrm>
            <a:off x="776519" y="4050000"/>
            <a:ext cx="7591081" cy="927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50000"/>
              </a:lnSpc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[1] Meltwater (2025). 9x increase in “AI slop” mentions.</a:t>
            </a:r>
          </a:p>
          <a:p>
            <a:pPr>
              <a:lnSpc>
                <a:spcPct val="150000"/>
              </a:lnSpc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[2] Detecting AI-Generated Text (PMC, 2023). Medical experts: ~72% accuracy.</a:t>
            </a:r>
          </a:p>
          <a:p>
            <a:pPr>
              <a:lnSpc>
                <a:spcPct val="150000"/>
              </a:lnSpc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[3] GPTZero Benchmark (2024). 99.3% overall accuracy, 0.24% FPR.</a:t>
            </a:r>
          </a:p>
          <a:p>
            <a:pPr>
              <a:lnSpc>
                <a:spcPct val="150000"/>
              </a:lnSpc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[4] Originality.ai (2024). 99%+ accuracy, &lt;1% FPR.</a:t>
            </a:r>
          </a:p>
        </p:txBody>
      </p:sp>
      <p:sp>
        <p:nvSpPr>
          <p:cNvPr id="74" name="4 / 18"/>
          <p:cNvSpPr txBox="1"/>
          <p:nvPr/>
        </p:nvSpPr>
        <p:spPr>
          <a:xfrm>
            <a:off x="8091719" y="4754879"/>
            <a:ext cx="824403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4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Literature Review"/>
          <p:cNvSpPr txBox="1"/>
          <p:nvPr/>
        </p:nvSpPr>
        <p:spPr>
          <a:xfrm>
            <a:off x="776519" y="320037"/>
            <a:ext cx="7590962" cy="55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32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Literature Review - AI Text Detection</a:t>
            </a:r>
          </a:p>
        </p:txBody>
      </p:sp>
      <p:sp>
        <p:nvSpPr>
          <p:cNvPr id="77" name="Paper 1"/>
          <p:cNvSpPr txBox="1"/>
          <p:nvPr/>
        </p:nvSpPr>
        <p:spPr>
          <a:xfrm>
            <a:off x="776459" y="1393837"/>
            <a:ext cx="7591082" cy="793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1400">
                <a:latin typeface="Calibri"/>
                <a:ea typeface="Calibri"/>
                <a:cs typeface="Calibri"/>
                <a:sym typeface="Calibri"/>
              </a:defRPr>
            </a:pPr>
            <a:r>
              <a:t>Mitchell et al. (2023)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Detects AI text zero-shot by measuring log-probability curvature under perturbations. Foundational baseline method used in this study.</a:t>
            </a:r>
          </a:p>
        </p:txBody>
      </p:sp>
      <p:sp>
        <p:nvSpPr>
          <p:cNvPr id="78" name="Paper 2"/>
          <p:cNvSpPr txBox="1"/>
          <p:nvPr/>
        </p:nvSpPr>
        <p:spPr>
          <a:xfrm>
            <a:off x="776459" y="2536451"/>
            <a:ext cx="7591082" cy="10219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1400">
                <a:solidFill>
                  <a:srgbClr val="3A82F6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 Watermark for Large Language Models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b="1" sz="14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Kirchenbauer et al. (2023)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Partitions vocabulary into green/red token lists during generation, enabling statistical detection. Establishes proactive watermarking approach.</a:t>
            </a:r>
          </a:p>
        </p:txBody>
      </p:sp>
      <p:sp>
        <p:nvSpPr>
          <p:cNvPr id="79" name="Page Number"/>
          <p:cNvSpPr txBox="1"/>
          <p:nvPr/>
        </p:nvSpPr>
        <p:spPr>
          <a:xfrm>
            <a:off x="8091719" y="4754879"/>
            <a:ext cx="952383" cy="256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6 / 18</a:t>
            </a:r>
          </a:p>
        </p:txBody>
      </p:sp>
      <p:sp>
        <p:nvSpPr>
          <p:cNvPr id="80" name="DetectGPT: Zero-Shot Machine-Generated Text Detection using Probability Curvature"/>
          <p:cNvSpPr txBox="1"/>
          <p:nvPr/>
        </p:nvSpPr>
        <p:spPr>
          <a:xfrm>
            <a:off x="800193" y="1130836"/>
            <a:ext cx="7150696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16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DetectGPT: Zero-Shot Machine-Generated Text Detection using Probability Curvature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Literature Review"/>
          <p:cNvSpPr txBox="1"/>
          <p:nvPr/>
        </p:nvSpPr>
        <p:spPr>
          <a:xfrm>
            <a:off x="776519" y="320037"/>
            <a:ext cx="7590962" cy="55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32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Literature Review - Evasion &amp; Robustness</a:t>
            </a:r>
          </a:p>
        </p:txBody>
      </p:sp>
      <p:sp>
        <p:nvSpPr>
          <p:cNvPr id="84" name="Paper 1"/>
          <p:cNvSpPr txBox="1"/>
          <p:nvPr/>
        </p:nvSpPr>
        <p:spPr>
          <a:xfrm>
            <a:off x="776519" y="1249998"/>
            <a:ext cx="7591081" cy="663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1300">
                <a:solidFill>
                  <a:srgbClr val="F97215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Can AI-Generated Text be Reliably Detected?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b="1" sz="13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Sadasivan et al. (2023)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Recursive paraphrasing degrades detector accuracy. Proves theoretical impossibility bounds as LLMs improve.</a:t>
            </a:r>
          </a:p>
        </p:txBody>
      </p:sp>
      <p:sp>
        <p:nvSpPr>
          <p:cNvPr id="85" name="Paper 2"/>
          <p:cNvSpPr txBox="1"/>
          <p:nvPr/>
        </p:nvSpPr>
        <p:spPr>
          <a:xfrm>
            <a:off x="776519" y="2149999"/>
            <a:ext cx="7591081" cy="916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1300">
                <a:solidFill>
                  <a:srgbClr val="F97215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Paraphrasing Evades AI-Generated Text Detectors, but Retrieval is an Effective Defense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b="1" sz="13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Krishna et al. (2023)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11B-param DIPPER paraphraser defeats watermarking, GPTZero, and DetectGPT. Demonstrates fragility of current detection.</a:t>
            </a:r>
          </a:p>
        </p:txBody>
      </p:sp>
      <p:sp>
        <p:nvSpPr>
          <p:cNvPr id="86" name="Paper 3"/>
          <p:cNvSpPr txBox="1"/>
          <p:nvPr/>
        </p:nvSpPr>
        <p:spPr>
          <a:xfrm>
            <a:off x="776519" y="3200000"/>
            <a:ext cx="7591081" cy="916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1300">
                <a:solidFill>
                  <a:srgbClr val="F97215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HUMPA: Humanized LLM-Paraphraser for Evading AI-Generated Text Detection (ICLR 2025)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b="1" sz="13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Wang et al. (2025)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Trains a proxy LLM via DPO to produce human-like text that evades detectors. Most closely related evasion approach to this study.</a:t>
            </a:r>
          </a:p>
        </p:txBody>
      </p:sp>
      <p:sp>
        <p:nvSpPr>
          <p:cNvPr id="87" name="Page Number"/>
          <p:cNvSpPr txBox="1"/>
          <p:nvPr/>
        </p:nvSpPr>
        <p:spPr>
          <a:xfrm>
            <a:off x="8091719" y="4754879"/>
            <a:ext cx="952383" cy="256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7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Literature Review"/>
          <p:cNvSpPr txBox="1"/>
          <p:nvPr/>
        </p:nvSpPr>
        <p:spPr>
          <a:xfrm>
            <a:off x="776519" y="320037"/>
            <a:ext cx="7590962" cy="55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32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Literature Review - Detector Limitations &amp; Stylistic Features</a:t>
            </a:r>
          </a:p>
        </p:txBody>
      </p:sp>
      <p:sp>
        <p:nvSpPr>
          <p:cNvPr id="91" name="Paper 1"/>
          <p:cNvSpPr txBox="1"/>
          <p:nvPr/>
        </p:nvSpPr>
        <p:spPr>
          <a:xfrm>
            <a:off x="776519" y="1249998"/>
            <a:ext cx="7591081" cy="9163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1300">
                <a:solidFill>
                  <a:srgbClr val="F59E0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GPT Detectors Are Biased Against Non-Native English Writers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b="1" sz="13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Liang et al. (2023)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Detectors show 61% false positive rate on non-native English writing. Highlights equity concerns in detector deployment and evaluation.</a:t>
            </a:r>
          </a:p>
        </p:txBody>
      </p:sp>
      <p:sp>
        <p:nvSpPr>
          <p:cNvPr id="92" name="Paper 2"/>
          <p:cNvSpPr txBox="1"/>
          <p:nvPr/>
        </p:nvSpPr>
        <p:spPr>
          <a:xfrm>
            <a:off x="776519" y="2149999"/>
            <a:ext cx="7591081" cy="916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1300">
                <a:solidFill>
                  <a:srgbClr val="F59E0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DetectRL: Benchmarking LLM-Generated Text Detection in Real-World Scenarios (NeurIPS 2024)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b="1" sz="13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Wu et al. (2024)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Benchmarks SOTA detectors on real-world text, showing significant performance drops vs. lab conditions. Motivates ecological validity.</a:t>
            </a:r>
          </a:p>
        </p:txBody>
      </p:sp>
      <p:sp>
        <p:nvSpPr>
          <p:cNvPr id="93" name="Paper 3"/>
          <p:cNvSpPr txBox="1"/>
          <p:nvPr/>
        </p:nvSpPr>
        <p:spPr>
          <a:xfrm>
            <a:off x="776519" y="3200000"/>
            <a:ext cx="7591081" cy="916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1300">
                <a:solidFill>
                  <a:srgbClr val="F59E0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LLMs Maintain a Distinct Style Despite Adversarial Training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b="1" sz="13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Rivera Soto et al. (2025)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Models trained to evade detectors still retain measurable stylistic fingerprints. Supports using linguistic feature analysis as a complementary detection axis.</a:t>
            </a:r>
          </a:p>
        </p:txBody>
      </p:sp>
      <p:sp>
        <p:nvSpPr>
          <p:cNvPr id="94" name="Page Number"/>
          <p:cNvSpPr txBox="1"/>
          <p:nvPr/>
        </p:nvSpPr>
        <p:spPr>
          <a:xfrm>
            <a:off x="8091719" y="4754879"/>
            <a:ext cx="952383" cy="256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8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Literature Review"/>
          <p:cNvSpPr txBox="1"/>
          <p:nvPr/>
        </p:nvSpPr>
        <p:spPr>
          <a:xfrm>
            <a:off x="776519" y="320037"/>
            <a:ext cx="7590962" cy="55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32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Literature Review - Accuracy Metrics</a:t>
            </a:r>
          </a:p>
        </p:txBody>
      </p:sp>
      <p:sp>
        <p:nvSpPr>
          <p:cNvPr id="98" name="Paper 1"/>
          <p:cNvSpPr txBox="1"/>
          <p:nvPr/>
        </p:nvSpPr>
        <p:spPr>
          <a:xfrm>
            <a:off x="776519" y="1249998"/>
            <a:ext cx="7591081" cy="9163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1300">
                <a:solidFill>
                  <a:srgbClr val="0FB98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ALCE: Enabling Fine-Grained Evaluation of Language Model Citations (EMNLP 2023)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b="1" sz="13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Gao et al. (2023)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Proposes citation-level precision and recall metrics for evaluating factual grounding. Framework adopted for accuracy evaluation in this study.</a:t>
            </a:r>
          </a:p>
        </p:txBody>
      </p:sp>
      <p:sp>
        <p:nvSpPr>
          <p:cNvPr id="99" name="Paper 2"/>
          <p:cNvSpPr txBox="1"/>
          <p:nvPr/>
        </p:nvSpPr>
        <p:spPr>
          <a:xfrm>
            <a:off x="776519" y="2200000"/>
            <a:ext cx="7591081" cy="916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1300">
                <a:solidFill>
                  <a:srgbClr val="0FB98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Evaluating Verifiability in Generative Search Engines (EMNLP 2023)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b="1" sz="13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Liu et al. (2023)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Shows high surface fluency does not guarantee factual accuracy. Motivates our dual-metric design (detectability + factual accuracy).</a:t>
            </a:r>
          </a:p>
        </p:txBody>
      </p:sp>
      <p:sp>
        <p:nvSpPr>
          <p:cNvPr id="100" name="Page Number"/>
          <p:cNvSpPr txBox="1"/>
          <p:nvPr/>
        </p:nvSpPr>
        <p:spPr>
          <a:xfrm>
            <a:off x="8091719" y="4754879"/>
            <a:ext cx="952383" cy="256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9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Literature Review"/>
          <p:cNvSpPr txBox="1"/>
          <p:nvPr/>
        </p:nvSpPr>
        <p:spPr>
          <a:xfrm>
            <a:off x="776519" y="320037"/>
            <a:ext cx="7590962" cy="55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32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Literature Review - Research Gap</a:t>
            </a:r>
          </a:p>
        </p:txBody>
      </p:sp>
      <p:sp>
        <p:nvSpPr>
          <p:cNvPr id="104" name="Gap Description"/>
          <p:cNvSpPr txBox="1"/>
          <p:nvPr/>
        </p:nvSpPr>
        <p:spPr>
          <a:xfrm>
            <a:off x="776519" y="1400000"/>
            <a:ext cx="7591081" cy="2645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40000"/>
              </a:lnSpc>
              <a:defRPr b="1" sz="14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Existing work addresses detection and evasion separately:</a:t>
            </a:r>
            <a:endParaRPr sz="1300">
              <a:solidFill>
                <a:srgbClr val="63738B"/>
              </a:solidFill>
            </a:endParaRPr>
          </a:p>
          <a:p>
            <a:pPr>
              <a:lnSpc>
                <a:spcPct val="140000"/>
              </a:lnSpc>
              <a:defRPr b="1" sz="1400">
                <a:solidFill>
                  <a:srgbClr val="0FB98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 xml:space="preserve">Detection: </a:t>
            </a:r>
            <a:r>
              <a:rPr b="0" sz="1300">
                <a:solidFill>
                  <a:srgbClr val="63738B"/>
                </a:solidFill>
              </a:rPr>
              <a:t>DetectGPT, watermarking, and trained classifiers achieve high accuracy on unmodified AI text.</a:t>
            </a:r>
            <a:endParaRPr sz="1300">
              <a:solidFill>
                <a:srgbClr val="63738B"/>
              </a:solidFill>
            </a:endParaRPr>
          </a:p>
          <a:p>
            <a:pPr>
              <a:lnSpc>
                <a:spcPct val="140000"/>
              </a:lnSpc>
              <a:defRPr b="1" sz="1400">
                <a:solidFill>
                  <a:srgbClr val="F97215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 xml:space="preserve">Evasion: </a:t>
            </a:r>
            <a:r>
              <a:rPr b="0" sz="1300">
                <a:solidFill>
                  <a:srgbClr val="63738B"/>
                </a:solidFill>
              </a:rPr>
              <a:t>Paraphrasing (DIPPER, HUMPA) defeats detectors but does not track factual accuracy trade-offs.</a:t>
            </a:r>
            <a:endParaRPr sz="1300">
              <a:solidFill>
                <a:srgbClr val="63738B"/>
              </a:solidFill>
            </a:endParaRPr>
          </a:p>
          <a:p>
            <a:pPr>
              <a:lnSpc>
                <a:spcPct val="140000"/>
              </a:lnSpc>
              <a:defRPr b="1" sz="1400">
                <a:solidFill>
                  <a:srgbClr val="EF434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 xml:space="preserve">Bias: </a:t>
            </a:r>
            <a:r>
              <a:rPr b="0" sz="1300">
                <a:solidFill>
                  <a:srgbClr val="63738B"/>
                </a:solidFill>
              </a:rPr>
              <a:t>Detectors show systematic biases (e.g., 61% FPR on non-native English) and degrade in real-world conditions.</a:t>
            </a:r>
            <a:endParaRPr sz="1300">
              <a:solidFill>
                <a:srgbClr val="63738B"/>
              </a:solidFill>
            </a:endParaRPr>
          </a:p>
          <a:p>
            <a:pPr>
              <a:lnSpc>
                <a:spcPct val="140000"/>
              </a:lnSpc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 xml:space="preserve"> </a:t>
            </a:r>
          </a:p>
          <a:p>
            <a:pPr>
              <a:lnSpc>
                <a:spcPct val="140000"/>
              </a:lnSpc>
              <a:defRPr b="1" sz="14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 xml:space="preserve">The Gap: </a:t>
            </a:r>
            <a:r>
              <a:rPr b="0">
                <a:solidFill>
                  <a:srgbClr val="1D283A"/>
                </a:solidFill>
              </a:rPr>
              <a:t>No prior work systematically isolates which content generation pipeline decisions reduce detectability while tracking factual accuracy as a co-metric. This study fills that gap with a controlled ablation design.</a:t>
            </a:r>
          </a:p>
        </p:txBody>
      </p:sp>
      <p:sp>
        <p:nvSpPr>
          <p:cNvPr id="105" name="Page Number"/>
          <p:cNvSpPr txBox="1"/>
          <p:nvPr/>
        </p:nvSpPr>
        <p:spPr>
          <a:xfrm>
            <a:off x="8091719" y="4754879"/>
            <a:ext cx="824403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10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Experimental Design"/>
          <p:cNvSpPr txBox="1"/>
          <p:nvPr/>
        </p:nvSpPr>
        <p:spPr>
          <a:xfrm>
            <a:off x="776519" y="320037"/>
            <a:ext cx="7225201" cy="55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32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Experimental Design</a:t>
            </a:r>
          </a:p>
        </p:txBody>
      </p:sp>
      <p:sp>
        <p:nvSpPr>
          <p:cNvPr id="108" name="5-Condition Ablation Ladder"/>
          <p:cNvSpPr txBox="1"/>
          <p:nvPr/>
        </p:nvSpPr>
        <p:spPr>
          <a:xfrm>
            <a:off x="776519" y="822960"/>
            <a:ext cx="7225201" cy="2793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i="1"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5-Condition Ablation Ladder</a:t>
            </a:r>
          </a:p>
        </p:txBody>
      </p:sp>
      <p:sp>
        <p:nvSpPr>
          <p:cNvPr id="109" name="Rectangle"/>
          <p:cNvSpPr/>
          <p:nvPr/>
        </p:nvSpPr>
        <p:spPr>
          <a:xfrm>
            <a:off x="457198" y="1234438"/>
            <a:ext cx="8229963" cy="5673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10" name="Rectangle"/>
          <p:cNvSpPr/>
          <p:nvPr/>
        </p:nvSpPr>
        <p:spPr>
          <a:xfrm>
            <a:off x="457200" y="1234438"/>
            <a:ext cx="731880" cy="567363"/>
          </a:xfrm>
          <a:prstGeom prst="rect">
            <a:avLst/>
          </a:prstGeom>
          <a:solidFill>
            <a:srgbClr val="94A3B8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11" name="C1"/>
          <p:cNvSpPr txBox="1"/>
          <p:nvPr/>
        </p:nvSpPr>
        <p:spPr>
          <a:xfrm>
            <a:off x="502199" y="1234438"/>
            <a:ext cx="641522" cy="305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C1</a:t>
            </a:r>
          </a:p>
        </p:txBody>
      </p:sp>
      <p:sp>
        <p:nvSpPr>
          <p:cNvPr id="112" name="code_only"/>
          <p:cNvSpPr txBox="1"/>
          <p:nvPr/>
        </p:nvSpPr>
        <p:spPr>
          <a:xfrm>
            <a:off x="1416598" y="1289159"/>
            <a:ext cx="1738804" cy="25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1D283A"/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/>
            <a:r>
              <a:t>code_only</a:t>
            </a:r>
          </a:p>
        </p:txBody>
      </p:sp>
      <p:sp>
        <p:nvSpPr>
          <p:cNvPr id="113" name="Baseline - README + source files only"/>
          <p:cNvSpPr txBox="1"/>
          <p:nvPr/>
        </p:nvSpPr>
        <p:spPr>
          <a:xfrm>
            <a:off x="1416599" y="1527118"/>
            <a:ext cx="6768001" cy="22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Baseline - README + source files only</a:t>
            </a:r>
          </a:p>
        </p:txBody>
      </p:sp>
      <p:sp>
        <p:nvSpPr>
          <p:cNvPr id="114" name="Rectangle"/>
          <p:cNvSpPr/>
          <p:nvPr/>
        </p:nvSpPr>
        <p:spPr>
          <a:xfrm>
            <a:off x="457198" y="1901880"/>
            <a:ext cx="8229963" cy="5673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15" name="Rectangle"/>
          <p:cNvSpPr/>
          <p:nvPr/>
        </p:nvSpPr>
        <p:spPr>
          <a:xfrm>
            <a:off x="457200" y="1901880"/>
            <a:ext cx="731880" cy="567363"/>
          </a:xfrm>
          <a:prstGeom prst="rect">
            <a:avLst/>
          </a:prstGeom>
          <a:solidFill>
            <a:srgbClr val="3A82F6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16" name="C2"/>
          <p:cNvSpPr txBox="1"/>
          <p:nvPr/>
        </p:nvSpPr>
        <p:spPr>
          <a:xfrm>
            <a:off x="502199" y="1901880"/>
            <a:ext cx="641522" cy="305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C2</a:t>
            </a:r>
          </a:p>
        </p:txBody>
      </p:sp>
      <p:sp>
        <p:nvSpPr>
          <p:cNvPr id="117" name="context_rich"/>
          <p:cNvSpPr txBox="1"/>
          <p:nvPr/>
        </p:nvSpPr>
        <p:spPr>
          <a:xfrm>
            <a:off x="1416598" y="1956960"/>
            <a:ext cx="1738804" cy="25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1D283A"/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/>
            <a:r>
              <a:t>context_rich</a:t>
            </a:r>
          </a:p>
        </p:txBody>
      </p:sp>
      <p:sp>
        <p:nvSpPr>
          <p:cNvPr id="118" name="+ GitHub issues, community threads, competitor docs"/>
          <p:cNvSpPr txBox="1"/>
          <p:nvPr/>
        </p:nvSpPr>
        <p:spPr>
          <a:xfrm>
            <a:off x="1416599" y="2194560"/>
            <a:ext cx="6768001" cy="22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+ GitHub issues, community threads, competitor docs</a:t>
            </a:r>
          </a:p>
        </p:txBody>
      </p:sp>
      <p:sp>
        <p:nvSpPr>
          <p:cNvPr id="119" name="Rectangle"/>
          <p:cNvSpPr/>
          <p:nvPr/>
        </p:nvSpPr>
        <p:spPr>
          <a:xfrm>
            <a:off x="457198" y="2569317"/>
            <a:ext cx="8229963" cy="5673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20" name="Rectangle"/>
          <p:cNvSpPr/>
          <p:nvPr/>
        </p:nvSpPr>
        <p:spPr>
          <a:xfrm>
            <a:off x="457200" y="2569317"/>
            <a:ext cx="731880" cy="567363"/>
          </a:xfrm>
          <a:prstGeom prst="rect">
            <a:avLst/>
          </a:prstGeom>
          <a:solidFill>
            <a:srgbClr val="0FB98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21" name="C3"/>
          <p:cNvSpPr txBox="1"/>
          <p:nvPr/>
        </p:nvSpPr>
        <p:spPr>
          <a:xfrm>
            <a:off x="502199" y="2569317"/>
            <a:ext cx="641522" cy="305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C3</a:t>
            </a:r>
          </a:p>
        </p:txBody>
      </p:sp>
      <p:sp>
        <p:nvSpPr>
          <p:cNvPr id="122" name="style_constrained"/>
          <p:cNvSpPr txBox="1"/>
          <p:nvPr/>
        </p:nvSpPr>
        <p:spPr>
          <a:xfrm>
            <a:off x="1416598" y="2624400"/>
            <a:ext cx="1738804" cy="25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1D283A"/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/>
            <a:r>
              <a:t>style_constrained</a:t>
            </a:r>
          </a:p>
        </p:txBody>
      </p:sp>
      <p:sp>
        <p:nvSpPr>
          <p:cNvPr id="123" name="+ Persona prompt, anti-pattern rules, style targets"/>
          <p:cNvSpPr txBox="1"/>
          <p:nvPr/>
        </p:nvSpPr>
        <p:spPr>
          <a:xfrm>
            <a:off x="1416599" y="2861997"/>
            <a:ext cx="6768001" cy="22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+ Persona prompt, anti-pattern rules, style targets</a:t>
            </a:r>
          </a:p>
        </p:txBody>
      </p:sp>
      <p:sp>
        <p:nvSpPr>
          <p:cNvPr id="124" name="Rectangle"/>
          <p:cNvSpPr/>
          <p:nvPr/>
        </p:nvSpPr>
        <p:spPr>
          <a:xfrm>
            <a:off x="457198" y="3237120"/>
            <a:ext cx="8229963" cy="5673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25" name="Rectangle"/>
          <p:cNvSpPr/>
          <p:nvPr/>
        </p:nvSpPr>
        <p:spPr>
          <a:xfrm>
            <a:off x="457200" y="3237120"/>
            <a:ext cx="731880" cy="567363"/>
          </a:xfrm>
          <a:prstGeom prst="rect">
            <a:avLst/>
          </a:prstGeom>
          <a:solidFill>
            <a:srgbClr val="F9721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26" name="C4"/>
          <p:cNvSpPr txBox="1"/>
          <p:nvPr/>
        </p:nvSpPr>
        <p:spPr>
          <a:xfrm>
            <a:off x="502199" y="3237120"/>
            <a:ext cx="641522" cy="305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C4</a:t>
            </a:r>
          </a:p>
        </p:txBody>
      </p:sp>
      <p:sp>
        <p:nvSpPr>
          <p:cNvPr id="127" name="humanized"/>
          <p:cNvSpPr txBox="1"/>
          <p:nvPr/>
        </p:nvSpPr>
        <p:spPr>
          <a:xfrm>
            <a:off x="1416598" y="3291840"/>
            <a:ext cx="1738804" cy="25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1D283A"/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/>
            <a:r>
              <a:t>humanized</a:t>
            </a:r>
          </a:p>
        </p:txBody>
      </p:sp>
      <p:sp>
        <p:nvSpPr>
          <p:cNvPr id="128" name="+ C2 output rewritten with &quot;sound human&quot; prompt"/>
          <p:cNvSpPr txBox="1"/>
          <p:nvPr/>
        </p:nvSpPr>
        <p:spPr>
          <a:xfrm>
            <a:off x="1416599" y="3529438"/>
            <a:ext cx="6768001" cy="22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+ C2 output rewritten with "sound human" prompt</a:t>
            </a:r>
          </a:p>
        </p:txBody>
      </p:sp>
      <p:sp>
        <p:nvSpPr>
          <p:cNvPr id="129" name="Rectangle"/>
          <p:cNvSpPr/>
          <p:nvPr/>
        </p:nvSpPr>
        <p:spPr>
          <a:xfrm>
            <a:off x="457198" y="3904560"/>
            <a:ext cx="8229963" cy="5673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30" name="Rectangle"/>
          <p:cNvSpPr/>
          <p:nvPr/>
        </p:nvSpPr>
        <p:spPr>
          <a:xfrm>
            <a:off x="457200" y="3904560"/>
            <a:ext cx="731880" cy="567363"/>
          </a:xfrm>
          <a:prstGeom prst="rect">
            <a:avLst/>
          </a:prstGeom>
          <a:solidFill>
            <a:srgbClr val="F59E0A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31" name="C5"/>
          <p:cNvSpPr txBox="1"/>
          <p:nvPr/>
        </p:nvSpPr>
        <p:spPr>
          <a:xfrm>
            <a:off x="502199" y="3904560"/>
            <a:ext cx="641522" cy="305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C5</a:t>
            </a:r>
          </a:p>
        </p:txBody>
      </p:sp>
      <p:sp>
        <p:nvSpPr>
          <p:cNvPr id="132" name="human_baseline"/>
          <p:cNvSpPr txBox="1"/>
          <p:nvPr/>
        </p:nvSpPr>
        <p:spPr>
          <a:xfrm>
            <a:off x="1416598" y="3959280"/>
            <a:ext cx="1738804" cy="25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1D283A"/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/>
            <a:r>
              <a:t>human_baseline</a:t>
            </a:r>
          </a:p>
        </p:txBody>
      </p:sp>
      <p:sp>
        <p:nvSpPr>
          <p:cNvPr id="133" name="Ground truth - real engineer-written blog posts"/>
          <p:cNvSpPr txBox="1"/>
          <p:nvPr/>
        </p:nvSpPr>
        <p:spPr>
          <a:xfrm>
            <a:off x="1416599" y="4197239"/>
            <a:ext cx="6768001" cy="22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Ground truth - real engineer-written blog posts</a:t>
            </a:r>
          </a:p>
        </p:txBody>
      </p:sp>
      <p:sp>
        <p:nvSpPr>
          <p:cNvPr id="134" name="Rectangle"/>
          <p:cNvSpPr/>
          <p:nvPr/>
        </p:nvSpPr>
        <p:spPr>
          <a:xfrm>
            <a:off x="457198" y="4663440"/>
            <a:ext cx="8229963" cy="41184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35" name="15 tasks  ×  2 projects (CrewAI, DuckDB)  ×  3 runs/condition  =  195 total documents"/>
          <p:cNvSpPr txBox="1"/>
          <p:nvPr/>
        </p:nvSpPr>
        <p:spPr>
          <a:xfrm>
            <a:off x="776520" y="4663440"/>
            <a:ext cx="7590960" cy="246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15 tasks  ×  2 projects (CrewAI, DuckDB)  ×  3 runs/condition  =  195 total documents</a:t>
            </a:r>
          </a:p>
        </p:txBody>
      </p:sp>
      <p:sp>
        <p:nvSpPr>
          <p:cNvPr id="136" name="10 / 18"/>
          <p:cNvSpPr txBox="1"/>
          <p:nvPr/>
        </p:nvSpPr>
        <p:spPr>
          <a:xfrm>
            <a:off x="8091719" y="4754879"/>
            <a:ext cx="824403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10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tyle Constraint Design (C3)"/>
          <p:cNvSpPr txBox="1"/>
          <p:nvPr/>
        </p:nvSpPr>
        <p:spPr>
          <a:xfrm>
            <a:off x="776519" y="320040"/>
            <a:ext cx="7225201" cy="496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Style Constraint Design (C3)</a:t>
            </a:r>
          </a:p>
        </p:txBody>
      </p:sp>
      <p:sp>
        <p:nvSpPr>
          <p:cNvPr id="139" name="Rectangle"/>
          <p:cNvSpPr/>
          <p:nvPr/>
        </p:nvSpPr>
        <p:spPr>
          <a:xfrm>
            <a:off x="457198" y="1005838"/>
            <a:ext cx="8229963" cy="59472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40" name="Persona: &quot;You are a senior backend engineer writing for other engineers. Sound experienced and opinionated.&quot;"/>
          <p:cNvSpPr txBox="1"/>
          <p:nvPr/>
        </p:nvSpPr>
        <p:spPr>
          <a:xfrm>
            <a:off x="776520" y="1005838"/>
            <a:ext cx="7590960" cy="224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i="1" sz="11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Persona: "You are a senior backend engineer writing for other engineers. Sound experienced and opinionated."</a:t>
            </a:r>
          </a:p>
        </p:txBody>
      </p:sp>
      <p:sp>
        <p:nvSpPr>
          <p:cNvPr id="141" name="Rectangle"/>
          <p:cNvSpPr/>
          <p:nvPr/>
        </p:nvSpPr>
        <p:spPr>
          <a:xfrm>
            <a:off x="457198" y="1828800"/>
            <a:ext cx="2560685" cy="29264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42" name="Sentence Structure"/>
          <p:cNvSpPr txBox="1"/>
          <p:nvPr/>
        </p:nvSpPr>
        <p:spPr>
          <a:xfrm>
            <a:off x="685078" y="1965960"/>
            <a:ext cx="2104564" cy="280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3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Sentence Structure</a:t>
            </a:r>
          </a:p>
        </p:txBody>
      </p:sp>
      <p:sp>
        <p:nvSpPr>
          <p:cNvPr id="143" name="Vary sentence length: mix short (5-8 words) with longer (20-30)…"/>
          <p:cNvSpPr txBox="1"/>
          <p:nvPr/>
        </p:nvSpPr>
        <p:spPr>
          <a:xfrm>
            <a:off x="685078" y="2331720"/>
            <a:ext cx="2104564" cy="1367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61280" indent="-161280">
              <a:lnSpc>
                <a:spcPct val="120000"/>
              </a:lnSpc>
              <a:spcBef>
                <a:spcPts val="7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Vary sentence length: mix short (5-8 words) with longer (20-30)</a:t>
            </a:r>
          </a:p>
          <a:p>
            <a:pPr marL="161280" indent="-161280">
              <a:lnSpc>
                <a:spcPct val="120000"/>
              </a:lnSpc>
              <a:spcBef>
                <a:spcPts val="7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Use contractions naturally: don't, it's, we've</a:t>
            </a:r>
          </a:p>
          <a:p>
            <a:pPr marL="161280" indent="-161280">
              <a:lnSpc>
                <a:spcPct val="120000"/>
              </a:lnSpc>
              <a:spcBef>
                <a:spcPts val="7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Start some sentences with I, We, So, But, or And</a:t>
            </a:r>
          </a:p>
        </p:txBody>
      </p:sp>
      <p:sp>
        <p:nvSpPr>
          <p:cNvPr id="144" name="Rectangle"/>
          <p:cNvSpPr/>
          <p:nvPr/>
        </p:nvSpPr>
        <p:spPr>
          <a:xfrm>
            <a:off x="3291840" y="1828800"/>
            <a:ext cx="2560683" cy="29264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45" name="Anti-Pattern Rules"/>
          <p:cNvSpPr txBox="1"/>
          <p:nvPr/>
        </p:nvSpPr>
        <p:spPr>
          <a:xfrm>
            <a:off x="3519720" y="1965960"/>
            <a:ext cx="2104563" cy="280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300">
                <a:solidFill>
                  <a:srgbClr val="EF4343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Anti-Pattern Rules</a:t>
            </a:r>
          </a:p>
        </p:txBody>
      </p:sp>
      <p:sp>
        <p:nvSpPr>
          <p:cNvPr id="146" name="Never start with: &quot;In the world of&quot;, &quot;In today's&quot;, &quot;Let's dive in&quot;…"/>
          <p:cNvSpPr txBox="1"/>
          <p:nvPr/>
        </p:nvSpPr>
        <p:spPr>
          <a:xfrm>
            <a:off x="3519720" y="2331720"/>
            <a:ext cx="2104563" cy="1841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61280" indent="-161280">
              <a:lnSpc>
                <a:spcPct val="120000"/>
              </a:lnSpc>
              <a:spcBef>
                <a:spcPts val="7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Never start with: "In the world of", "In today's", "Let's dive in"</a:t>
            </a:r>
          </a:p>
          <a:p>
            <a:pPr marL="161280" indent="-161280">
              <a:lnSpc>
                <a:spcPct val="120000"/>
              </a:lnSpc>
              <a:spcBef>
                <a:spcPts val="7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Never use: "Furthermore", "Moreover", "It's important to note"</a:t>
            </a:r>
          </a:p>
          <a:p>
            <a:pPr marL="161280" indent="-161280">
              <a:lnSpc>
                <a:spcPct val="120000"/>
              </a:lnSpc>
              <a:spcBef>
                <a:spcPts val="7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No excessive bullet lists - prefer prose</a:t>
            </a:r>
          </a:p>
          <a:p>
            <a:pPr marL="161280" indent="-161280">
              <a:lnSpc>
                <a:spcPct val="120000"/>
              </a:lnSpc>
              <a:spcBef>
                <a:spcPts val="7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No hedging: "arguably", "one might argue"</a:t>
            </a:r>
          </a:p>
        </p:txBody>
      </p:sp>
      <p:sp>
        <p:nvSpPr>
          <p:cNvPr id="147" name="Rectangle"/>
          <p:cNvSpPr/>
          <p:nvPr/>
        </p:nvSpPr>
        <p:spPr>
          <a:xfrm>
            <a:off x="6126479" y="1828800"/>
            <a:ext cx="2560683" cy="29264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48" name="Content Rules"/>
          <p:cNvSpPr txBox="1"/>
          <p:nvPr/>
        </p:nvSpPr>
        <p:spPr>
          <a:xfrm>
            <a:off x="6354357" y="1965960"/>
            <a:ext cx="2104564" cy="280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300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Content Rules</a:t>
            </a:r>
          </a:p>
        </p:txBody>
      </p:sp>
      <p:sp>
        <p:nvSpPr>
          <p:cNvPr id="149" name="Include at least one specific version number, date, or command from sources…"/>
          <p:cNvSpPr txBox="1"/>
          <p:nvPr/>
        </p:nvSpPr>
        <p:spPr>
          <a:xfrm>
            <a:off x="6354357" y="2331720"/>
            <a:ext cx="2104564" cy="155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61280" indent="-161280">
              <a:lnSpc>
                <a:spcPct val="120000"/>
              </a:lnSpc>
              <a:spcBef>
                <a:spcPts val="7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Include at least one specific version number, date, or command from sources</a:t>
            </a:r>
          </a:p>
          <a:p>
            <a:pPr marL="161280" indent="-161280">
              <a:lnSpc>
                <a:spcPct val="120000"/>
              </a:lnSpc>
              <a:spcBef>
                <a:spcPts val="7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Only mention errors/configs that appear in provided sources</a:t>
            </a:r>
          </a:p>
          <a:p>
            <a:pPr marL="161280" indent="-161280">
              <a:lnSpc>
                <a:spcPct val="120000"/>
              </a:lnSpc>
              <a:spcBef>
                <a:spcPts val="7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Include one grounded trade-off judgment</a:t>
            </a:r>
          </a:p>
        </p:txBody>
      </p:sp>
      <p:sp>
        <p:nvSpPr>
          <p:cNvPr id="150" name="11 / 18"/>
          <p:cNvSpPr txBox="1"/>
          <p:nvPr/>
        </p:nvSpPr>
        <p:spPr>
          <a:xfrm>
            <a:off x="8091719" y="4754879"/>
            <a:ext cx="824403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11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Methodology: Three Evaluation Axes"/>
          <p:cNvSpPr txBox="1"/>
          <p:nvPr/>
        </p:nvSpPr>
        <p:spPr>
          <a:xfrm>
            <a:off x="776519" y="320040"/>
            <a:ext cx="7225201" cy="496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Methodology: Three Evaluation Axes</a:t>
            </a:r>
          </a:p>
        </p:txBody>
      </p:sp>
      <p:sp>
        <p:nvSpPr>
          <p:cNvPr id="153" name="Rectangle"/>
          <p:cNvSpPr/>
          <p:nvPr/>
        </p:nvSpPr>
        <p:spPr>
          <a:xfrm>
            <a:off x="457199" y="1097277"/>
            <a:ext cx="2606402" cy="365796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54" name="AI Detectability"/>
          <p:cNvSpPr txBox="1"/>
          <p:nvPr/>
        </p:nvSpPr>
        <p:spPr>
          <a:xfrm>
            <a:off x="685079" y="1371599"/>
            <a:ext cx="2150281" cy="293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defRPr b="1" sz="14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AI Detectability</a:t>
            </a:r>
          </a:p>
        </p:txBody>
      </p:sp>
      <p:sp>
        <p:nvSpPr>
          <p:cNvPr id="155" name="GPTZero (primary): human_prob per document…"/>
          <p:cNvSpPr txBox="1"/>
          <p:nvPr/>
        </p:nvSpPr>
        <p:spPr>
          <a:xfrm>
            <a:off x="730797" y="2423159"/>
            <a:ext cx="2104565" cy="1512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61280" indent="-161280">
              <a:lnSpc>
                <a:spcPct val="130000"/>
              </a:lnSpc>
              <a:spcBef>
                <a:spcPts val="10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GPTZero (primary): human_prob per document</a:t>
            </a:r>
          </a:p>
          <a:p>
            <a:pPr marL="161280" indent="-161280">
              <a:lnSpc>
                <a:spcPct val="130000"/>
              </a:lnSpc>
              <a:spcBef>
                <a:spcPts val="10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Originality.ai (secondary): 100 - ai_score</a:t>
            </a:r>
          </a:p>
          <a:p>
            <a:pPr marL="161280" indent="-161280">
              <a:lnSpc>
                <a:spcPct val="130000"/>
              </a:lnSpc>
              <a:spcBef>
                <a:spcPts val="10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Cross-check: Cohen's kappa between detectors</a:t>
            </a:r>
          </a:p>
        </p:txBody>
      </p:sp>
      <p:sp>
        <p:nvSpPr>
          <p:cNvPr id="156" name="Rectangle"/>
          <p:cNvSpPr/>
          <p:nvPr/>
        </p:nvSpPr>
        <p:spPr>
          <a:xfrm>
            <a:off x="3291840" y="1097277"/>
            <a:ext cx="2606403" cy="365796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57" name="Factual Accuracy"/>
          <p:cNvSpPr txBox="1"/>
          <p:nvPr/>
        </p:nvSpPr>
        <p:spPr>
          <a:xfrm>
            <a:off x="3519720" y="1371599"/>
            <a:ext cx="2150283" cy="293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defRPr b="1" sz="1400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Factual Accuracy</a:t>
            </a:r>
          </a:p>
        </p:txBody>
      </p:sp>
      <p:sp>
        <p:nvSpPr>
          <p:cNvPr id="158" name="Hybrid slot accuracy: literal/regex + LLM judge…"/>
          <p:cNvSpPr txBox="1"/>
          <p:nvPr/>
        </p:nvSpPr>
        <p:spPr>
          <a:xfrm>
            <a:off x="3565440" y="2423159"/>
            <a:ext cx="2104563" cy="1099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61280" indent="-161280">
              <a:lnSpc>
                <a:spcPct val="130000"/>
              </a:lnSpc>
              <a:spcBef>
                <a:spcPts val="10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Hybrid slot accuracy: literal/regex + LLM judge</a:t>
            </a:r>
          </a:p>
          <a:p>
            <a:pPr marL="161280" indent="-161280">
              <a:lnSpc>
                <a:spcPct val="130000"/>
              </a:lnSpc>
              <a:spcBef>
                <a:spcPts val="10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Strict slot accuracy: literal/regex only</a:t>
            </a:r>
          </a:p>
          <a:p>
            <a:pPr marL="161280" indent="-161280">
              <a:lnSpc>
                <a:spcPct val="130000"/>
              </a:lnSpc>
              <a:spcBef>
                <a:spcPts val="10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Full rubric-based LLM audit per slot</a:t>
            </a:r>
          </a:p>
        </p:txBody>
      </p:sp>
      <p:sp>
        <p:nvSpPr>
          <p:cNvPr id="159" name="Rectangle"/>
          <p:cNvSpPr/>
          <p:nvPr/>
        </p:nvSpPr>
        <p:spPr>
          <a:xfrm>
            <a:off x="6126479" y="1097277"/>
            <a:ext cx="2606403" cy="365796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60" name="Linguistic Features"/>
          <p:cNvSpPr txBox="1"/>
          <p:nvPr/>
        </p:nvSpPr>
        <p:spPr>
          <a:xfrm>
            <a:off x="6354359" y="1371599"/>
            <a:ext cx="2150282" cy="293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defRPr b="1" sz="1400">
                <a:solidFill>
                  <a:srgbClr val="F972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Linguistic Features</a:t>
            </a:r>
          </a:p>
        </p:txBody>
      </p:sp>
      <p:sp>
        <p:nvSpPr>
          <p:cNvPr id="161" name="10 features per document (spaCy)…"/>
          <p:cNvSpPr txBox="1"/>
          <p:nvPr/>
        </p:nvSpPr>
        <p:spPr>
          <a:xfrm>
            <a:off x="6400079" y="2423159"/>
            <a:ext cx="2104563" cy="1305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61280" indent="-161280">
              <a:lnSpc>
                <a:spcPct val="130000"/>
              </a:lnSpc>
              <a:spcBef>
                <a:spcPts val="10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10 features per document (spaCy)</a:t>
            </a:r>
          </a:p>
          <a:p>
            <a:pPr marL="161280" indent="-161280">
              <a:lnSpc>
                <a:spcPct val="130000"/>
              </a:lnSpc>
              <a:spcBef>
                <a:spcPts val="10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sent_len_std, vocab_diversity, contraction_rate, etc.</a:t>
            </a:r>
          </a:p>
          <a:p>
            <a:pPr marL="161280" indent="-161280">
              <a:lnSpc>
                <a:spcPct val="130000"/>
              </a:lnSpc>
              <a:spcBef>
                <a:spcPts val="10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Cosine distance from human (C5) vector</a:t>
            </a:r>
          </a:p>
        </p:txBody>
      </p:sp>
      <p:sp>
        <p:nvSpPr>
          <p:cNvPr id="162" name="12 / 18"/>
          <p:cNvSpPr txBox="1"/>
          <p:nvPr/>
        </p:nvSpPr>
        <p:spPr>
          <a:xfrm>
            <a:off x="8091719" y="4754879"/>
            <a:ext cx="824403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12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sults: AI Detectability"/>
          <p:cNvSpPr txBox="1"/>
          <p:nvPr/>
        </p:nvSpPr>
        <p:spPr>
          <a:xfrm>
            <a:off x="776519" y="320040"/>
            <a:ext cx="7225201" cy="496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Results: AI Detectability</a:t>
            </a:r>
          </a:p>
        </p:txBody>
      </p:sp>
      <p:sp>
        <p:nvSpPr>
          <p:cNvPr id="165" name="Rectangle"/>
          <p:cNvSpPr/>
          <p:nvPr/>
        </p:nvSpPr>
        <p:spPr>
          <a:xfrm>
            <a:off x="457198" y="1005838"/>
            <a:ext cx="8229963" cy="32007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66" name="GPTZero &amp; Originality.ai results charts…"/>
          <p:cNvSpPr txBox="1"/>
          <p:nvPr/>
        </p:nvSpPr>
        <p:spPr>
          <a:xfrm>
            <a:off x="1416597" y="1828799"/>
            <a:ext cx="6310805" cy="623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algn="ctr">
              <a:defRPr i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GPTZero &amp; Originality.ai results charts</a:t>
            </a:r>
          </a:p>
          <a:p>
            <a:pPr algn="ctr">
              <a:defRPr i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will be inserted here after experimentation</a:t>
            </a:r>
          </a:p>
        </p:txBody>
      </p:sp>
      <p:sp>
        <p:nvSpPr>
          <p:cNvPr id="167" name="Rectangle"/>
          <p:cNvSpPr/>
          <p:nvPr/>
        </p:nvSpPr>
        <p:spPr>
          <a:xfrm>
            <a:off x="457198" y="4343400"/>
            <a:ext cx="8229963" cy="50328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68" name="Statistical tests (Paired Wilcoxon, n=15) - results pending experimentation"/>
          <p:cNvSpPr txBox="1"/>
          <p:nvPr/>
        </p:nvSpPr>
        <p:spPr>
          <a:xfrm>
            <a:off x="776520" y="4343398"/>
            <a:ext cx="7590960" cy="224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defRPr sz="11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Statistical tests (Paired Wilcoxon, n=15) - results pending experimentation</a:t>
            </a:r>
          </a:p>
        </p:txBody>
      </p:sp>
      <p:sp>
        <p:nvSpPr>
          <p:cNvPr id="169" name="13 / 18"/>
          <p:cNvSpPr txBox="1"/>
          <p:nvPr/>
        </p:nvSpPr>
        <p:spPr>
          <a:xfrm>
            <a:off x="8091719" y="4754879"/>
            <a:ext cx="824403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13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sults: Detectability vs. Accuracy"/>
          <p:cNvSpPr txBox="1"/>
          <p:nvPr/>
        </p:nvSpPr>
        <p:spPr>
          <a:xfrm>
            <a:off x="776519" y="320040"/>
            <a:ext cx="7225201" cy="496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Results: Detectability vs. Accuracy</a:t>
            </a:r>
          </a:p>
        </p:txBody>
      </p:sp>
      <p:sp>
        <p:nvSpPr>
          <p:cNvPr id="172" name="The Pareto Frontier"/>
          <p:cNvSpPr txBox="1"/>
          <p:nvPr/>
        </p:nvSpPr>
        <p:spPr>
          <a:xfrm>
            <a:off x="776519" y="822960"/>
            <a:ext cx="7225201" cy="2793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i="1"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The Pareto Frontier</a:t>
            </a:r>
          </a:p>
        </p:txBody>
      </p:sp>
      <p:sp>
        <p:nvSpPr>
          <p:cNvPr id="173" name="Rectangle"/>
          <p:cNvSpPr/>
          <p:nvPr/>
        </p:nvSpPr>
        <p:spPr>
          <a:xfrm>
            <a:off x="457197" y="1280160"/>
            <a:ext cx="5029565" cy="347508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74" name="Pareto frontier scatter plot…"/>
          <p:cNvSpPr txBox="1"/>
          <p:nvPr/>
        </p:nvSpPr>
        <p:spPr>
          <a:xfrm>
            <a:off x="959397" y="2011677"/>
            <a:ext cx="4024805" cy="807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algn="ctr">
              <a:defRPr i="1" sz="16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Pareto frontier scatter plot</a:t>
            </a:r>
          </a:p>
          <a:p>
            <a:pPr algn="ctr">
              <a:defRPr i="1" sz="16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(accuracy vs. detectability)</a:t>
            </a:r>
          </a:p>
          <a:p>
            <a:pPr algn="ctr">
              <a:defRPr i="1" sz="16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will be inserted here</a:t>
            </a:r>
          </a:p>
        </p:txBody>
      </p:sp>
      <p:sp>
        <p:nvSpPr>
          <p:cNvPr id="175" name="Rectangle"/>
          <p:cNvSpPr/>
          <p:nvPr/>
        </p:nvSpPr>
        <p:spPr>
          <a:xfrm>
            <a:off x="5760720" y="1280160"/>
            <a:ext cx="2926443" cy="347508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76" name="Key Findings"/>
          <p:cNvSpPr txBox="1"/>
          <p:nvPr/>
        </p:nvSpPr>
        <p:spPr>
          <a:xfrm>
            <a:off x="5988599" y="1463038"/>
            <a:ext cx="2470324" cy="293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4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Key Findings</a:t>
            </a:r>
          </a:p>
        </p:txBody>
      </p:sp>
      <p:sp>
        <p:nvSpPr>
          <p:cNvPr id="177" name="Takeaway: Context + style rules offer the best accuracy-preserving path to reduced detectability."/>
          <p:cNvSpPr txBox="1"/>
          <p:nvPr/>
        </p:nvSpPr>
        <p:spPr>
          <a:xfrm>
            <a:off x="5988599" y="1920238"/>
            <a:ext cx="2470324" cy="635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0000"/>
              </a:lnSpc>
              <a:defRPr sz="11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Takeaway: Context + style rules offer the best accuracy-preserving path to reduced detectability.</a:t>
            </a:r>
          </a:p>
        </p:txBody>
      </p:sp>
      <p:sp>
        <p:nvSpPr>
          <p:cNvPr id="178" name="Detailed metrics table pending experimentation results."/>
          <p:cNvSpPr txBox="1"/>
          <p:nvPr/>
        </p:nvSpPr>
        <p:spPr>
          <a:xfrm>
            <a:off x="5988599" y="3017520"/>
            <a:ext cx="2470324" cy="392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i="1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Detailed metrics table pending experimentation results.</a:t>
            </a:r>
          </a:p>
        </p:txBody>
      </p:sp>
      <p:sp>
        <p:nvSpPr>
          <p:cNvPr id="179" name="14 / 18"/>
          <p:cNvSpPr txBox="1"/>
          <p:nvPr/>
        </p:nvSpPr>
        <p:spPr>
          <a:xfrm>
            <a:off x="8091719" y="4754879"/>
            <a:ext cx="824403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14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sults: Linguistic Feature Analysis"/>
          <p:cNvSpPr txBox="1"/>
          <p:nvPr/>
        </p:nvSpPr>
        <p:spPr>
          <a:xfrm>
            <a:off x="776519" y="320040"/>
            <a:ext cx="7225201" cy="496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Results: Linguistic Feature Analysis</a:t>
            </a:r>
          </a:p>
        </p:txBody>
      </p:sp>
      <p:sp>
        <p:nvSpPr>
          <p:cNvPr id="182" name="Rectangle"/>
          <p:cNvSpPr/>
          <p:nvPr/>
        </p:nvSpPr>
        <p:spPr>
          <a:xfrm>
            <a:off x="457197" y="1005838"/>
            <a:ext cx="5029565" cy="237780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83" name="Feature profile heatmap…"/>
          <p:cNvSpPr txBox="1"/>
          <p:nvPr/>
        </p:nvSpPr>
        <p:spPr>
          <a:xfrm>
            <a:off x="959397" y="1463038"/>
            <a:ext cx="4024805" cy="73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algn="ctr">
              <a:defRPr i="1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Feature profile heatmap</a:t>
            </a:r>
          </a:p>
          <a:p>
            <a:pPr algn="ctr">
              <a:defRPr i="1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(normalized to human baseline)</a:t>
            </a:r>
          </a:p>
          <a:p>
            <a:pPr algn="ctr">
              <a:defRPr i="1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will be inserted here</a:t>
            </a:r>
          </a:p>
        </p:txBody>
      </p:sp>
      <p:sp>
        <p:nvSpPr>
          <p:cNvPr id="184" name="Rectangle"/>
          <p:cNvSpPr/>
          <p:nvPr/>
        </p:nvSpPr>
        <p:spPr>
          <a:xfrm>
            <a:off x="5760720" y="1005838"/>
            <a:ext cx="2926443" cy="237780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85" name="Regression Results (H5)"/>
          <p:cNvSpPr txBox="1"/>
          <p:nvPr/>
        </p:nvSpPr>
        <p:spPr>
          <a:xfrm>
            <a:off x="5988599" y="1188719"/>
            <a:ext cx="2470324" cy="280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300">
                <a:solidFill>
                  <a:srgbClr val="F972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Regression Results (H5)</a:t>
            </a:r>
          </a:p>
        </p:txBody>
      </p:sp>
      <p:sp>
        <p:nvSpPr>
          <p:cNvPr id="186" name="Which features predict detectability?…"/>
          <p:cNvSpPr txBox="1"/>
          <p:nvPr/>
        </p:nvSpPr>
        <p:spPr>
          <a:xfrm>
            <a:off x="5988599" y="1554480"/>
            <a:ext cx="2470324" cy="666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Which features predict detectability?</a:t>
            </a:r>
          </a:p>
          <a:p>
            <a:pPr>
              <a:lnSpc>
                <a:spcPct val="140000"/>
              </a:lnSpc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Top predictors and Model R² pending experimentation.</a:t>
            </a:r>
          </a:p>
        </p:txBody>
      </p:sp>
      <p:sp>
        <p:nvSpPr>
          <p:cNvPr id="187" name="Rectangle"/>
          <p:cNvSpPr/>
          <p:nvPr/>
        </p:nvSpPr>
        <p:spPr>
          <a:xfrm>
            <a:off x="457198" y="3657598"/>
            <a:ext cx="8229963" cy="11890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88" name="Interpretation"/>
          <p:cNvSpPr txBox="1"/>
          <p:nvPr/>
        </p:nvSpPr>
        <p:spPr>
          <a:xfrm>
            <a:off x="776518" y="3749040"/>
            <a:ext cx="1738803" cy="280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300">
                <a:solidFill>
                  <a:srgbClr val="93C5F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Interpretation</a:t>
            </a:r>
          </a:p>
        </p:txBody>
      </p:sp>
      <p:sp>
        <p:nvSpPr>
          <p:cNvPr id="189" name="C3 style rules directly target the top predictive features (discourse markers, contractions, sentence variance)…"/>
          <p:cNvSpPr txBox="1"/>
          <p:nvPr/>
        </p:nvSpPr>
        <p:spPr>
          <a:xfrm>
            <a:off x="822240" y="4069079"/>
            <a:ext cx="7499520" cy="658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61280" indent="-161280">
              <a:spcBef>
                <a:spcPts val="400"/>
              </a:spcBef>
              <a:defRPr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C3 style rules directly target the top predictive features (discourse markers, contractions, sentence variance)</a:t>
            </a:r>
          </a:p>
          <a:p>
            <a:pPr marL="161280" indent="-161280">
              <a:spcBef>
                <a:spcPts val="400"/>
              </a:spcBef>
              <a:defRPr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Detector scores track measurable stylistic patterns - not a black box</a:t>
            </a:r>
          </a:p>
          <a:p>
            <a:pPr marL="161280" indent="-161280">
              <a:spcBef>
                <a:spcPts val="400"/>
              </a:spcBef>
              <a:defRPr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Targeted style interventions can be principled, not just heuristic</a:t>
            </a:r>
          </a:p>
        </p:txBody>
      </p:sp>
      <p:sp>
        <p:nvSpPr>
          <p:cNvPr id="190" name="15 / 18"/>
          <p:cNvSpPr txBox="1"/>
          <p:nvPr/>
        </p:nvSpPr>
        <p:spPr>
          <a:xfrm>
            <a:off x="8091719" y="4754879"/>
            <a:ext cx="824403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15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Code &amp; Implementation"/>
          <p:cNvSpPr txBox="1"/>
          <p:nvPr/>
        </p:nvSpPr>
        <p:spPr>
          <a:xfrm>
            <a:off x="776519" y="320040"/>
            <a:ext cx="7225201" cy="496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Code &amp; Implementation</a:t>
            </a:r>
          </a:p>
        </p:txBody>
      </p:sp>
      <p:sp>
        <p:nvSpPr>
          <p:cNvPr id="193" name="Rectangle"/>
          <p:cNvSpPr/>
          <p:nvPr/>
        </p:nvSpPr>
        <p:spPr>
          <a:xfrm>
            <a:off x="457200" y="1005837"/>
            <a:ext cx="4755240" cy="384084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94" name="Repository Structure"/>
          <p:cNvSpPr txBox="1"/>
          <p:nvPr/>
        </p:nvSpPr>
        <p:spPr>
          <a:xfrm>
            <a:off x="685077" y="1097280"/>
            <a:ext cx="4299126" cy="280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300">
                <a:solidFill>
                  <a:srgbClr val="93C5F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Repository Structure</a:t>
            </a:r>
          </a:p>
        </p:txBody>
      </p:sp>
      <p:sp>
        <p:nvSpPr>
          <p:cNvPr id="195" name="ai-detectability-research/…"/>
          <p:cNvSpPr txBox="1"/>
          <p:nvPr/>
        </p:nvSpPr>
        <p:spPr>
          <a:xfrm>
            <a:off x="730799" y="1463037"/>
            <a:ext cx="4207683" cy="2617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ai-detectability-research/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 xml:space="preserve"> configs/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 xml:space="preserve">   conditions.yaml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 xml:space="preserve">   style_rules.yaml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 xml:space="preserve">   validators.yaml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 xml:space="preserve"> data/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 xml:space="preserve">   tasks/  context/  human_baselines/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 xml:space="preserve">   generated/  results/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 xml:space="preserve"> src/ai_text_quality/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 xml:space="preserve">   generate.py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 xml:space="preserve">   detect.py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 xml:space="preserve">   factcheck.py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 xml:space="preserve">   linguistic.py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 xml:space="preserve"> notebooks/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 xml:space="preserve">   01-05 (design → analysis)</a:t>
            </a:r>
          </a:p>
        </p:txBody>
      </p:sp>
      <p:sp>
        <p:nvSpPr>
          <p:cNvPr id="196" name="Rectangle"/>
          <p:cNvSpPr/>
          <p:nvPr/>
        </p:nvSpPr>
        <p:spPr>
          <a:xfrm>
            <a:off x="5486398" y="1005837"/>
            <a:ext cx="3200764" cy="384084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97" name="Tech Stack"/>
          <p:cNvSpPr txBox="1"/>
          <p:nvPr/>
        </p:nvSpPr>
        <p:spPr>
          <a:xfrm>
            <a:off x="5714279" y="1188719"/>
            <a:ext cx="2744643" cy="293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4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Tech Stack</a:t>
            </a:r>
          </a:p>
        </p:txBody>
      </p:sp>
      <p:sp>
        <p:nvSpPr>
          <p:cNvPr id="198" name="Generation"/>
          <p:cNvSpPr txBox="1"/>
          <p:nvPr/>
        </p:nvSpPr>
        <p:spPr>
          <a:xfrm>
            <a:off x="5714279" y="1600200"/>
            <a:ext cx="2744643" cy="229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0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Generation</a:t>
            </a:r>
          </a:p>
        </p:txBody>
      </p:sp>
      <p:sp>
        <p:nvSpPr>
          <p:cNvPr id="199" name="Claude Sonnet 4 via Anthropic API (temp=0.3, 3 runs)"/>
          <p:cNvSpPr txBox="1"/>
          <p:nvPr/>
        </p:nvSpPr>
        <p:spPr>
          <a:xfrm>
            <a:off x="5714279" y="1801440"/>
            <a:ext cx="2744643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Claude Sonnet 4 via Anthropic API (temp=0.3, 3 runs)</a:t>
            </a:r>
          </a:p>
        </p:txBody>
      </p:sp>
      <p:sp>
        <p:nvSpPr>
          <p:cNvPr id="200" name="Detection"/>
          <p:cNvSpPr txBox="1"/>
          <p:nvPr/>
        </p:nvSpPr>
        <p:spPr>
          <a:xfrm>
            <a:off x="5714279" y="2331720"/>
            <a:ext cx="2744643" cy="229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0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Detection</a:t>
            </a:r>
          </a:p>
        </p:txBody>
      </p:sp>
      <p:sp>
        <p:nvSpPr>
          <p:cNvPr id="201" name="GPTZero API + Originality.ai API"/>
          <p:cNvSpPr txBox="1"/>
          <p:nvPr/>
        </p:nvSpPr>
        <p:spPr>
          <a:xfrm>
            <a:off x="5714279" y="2532957"/>
            <a:ext cx="2744643" cy="204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GPTZero API + Originality.ai API</a:t>
            </a:r>
          </a:p>
        </p:txBody>
      </p:sp>
      <p:sp>
        <p:nvSpPr>
          <p:cNvPr id="202" name="Linguistics"/>
          <p:cNvSpPr txBox="1"/>
          <p:nvPr/>
        </p:nvSpPr>
        <p:spPr>
          <a:xfrm>
            <a:off x="5714279" y="3063238"/>
            <a:ext cx="2744643" cy="229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0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Linguistics</a:t>
            </a:r>
          </a:p>
        </p:txBody>
      </p:sp>
      <p:sp>
        <p:nvSpPr>
          <p:cNvPr id="203" name="spaCy (en_core_web_sm)"/>
          <p:cNvSpPr txBox="1"/>
          <p:nvPr/>
        </p:nvSpPr>
        <p:spPr>
          <a:xfrm>
            <a:off x="5714279" y="3264479"/>
            <a:ext cx="2744643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spaCy (en_core_web_sm)</a:t>
            </a:r>
          </a:p>
        </p:txBody>
      </p:sp>
      <p:sp>
        <p:nvSpPr>
          <p:cNvPr id="204" name="Statistics"/>
          <p:cNvSpPr txBox="1"/>
          <p:nvPr/>
        </p:nvSpPr>
        <p:spPr>
          <a:xfrm>
            <a:off x="5714279" y="3794759"/>
            <a:ext cx="2744643" cy="229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0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Statistics</a:t>
            </a:r>
          </a:p>
        </p:txBody>
      </p:sp>
      <p:sp>
        <p:nvSpPr>
          <p:cNvPr id="205" name="SciPy (Wilcoxon), statsmodels (regression)"/>
          <p:cNvSpPr txBox="1"/>
          <p:nvPr/>
        </p:nvSpPr>
        <p:spPr>
          <a:xfrm>
            <a:off x="5714279" y="3995999"/>
            <a:ext cx="2744643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SciPy (Wilcoxon), statsmodels (regression)</a:t>
            </a:r>
          </a:p>
        </p:txBody>
      </p:sp>
      <p:sp>
        <p:nvSpPr>
          <p:cNvPr id="206" name="Rectangle"/>
          <p:cNvSpPr/>
          <p:nvPr/>
        </p:nvSpPr>
        <p:spPr>
          <a:xfrm>
            <a:off x="5486398" y="4069079"/>
            <a:ext cx="3200764" cy="503283"/>
          </a:xfrm>
          <a:prstGeom prst="rect">
            <a:avLst/>
          </a:prstGeom>
          <a:solidFill>
            <a:srgbClr val="191E3C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07" name="github.com/yongkyunlee/…"/>
          <p:cNvSpPr txBox="1"/>
          <p:nvPr/>
        </p:nvSpPr>
        <p:spPr>
          <a:xfrm>
            <a:off x="6125758" y="4069079"/>
            <a:ext cx="2378884" cy="363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15000"/>
              </a:lnSpc>
              <a:defRPr sz="900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github.com/yongkyunlee/</a:t>
            </a:r>
          </a:p>
          <a:p>
            <a:pPr>
              <a:lnSpc>
                <a:spcPct val="115000"/>
              </a:lnSpc>
              <a:defRPr sz="900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ai-detectability-research</a:t>
            </a:r>
          </a:p>
        </p:txBody>
      </p:sp>
      <p:sp>
        <p:nvSpPr>
          <p:cNvPr id="208" name="16 / 18"/>
          <p:cNvSpPr txBox="1"/>
          <p:nvPr/>
        </p:nvSpPr>
        <p:spPr>
          <a:xfrm>
            <a:off x="8091719" y="4754879"/>
            <a:ext cx="824403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16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Example: C1 vs C3 Side-by-Side"/>
          <p:cNvSpPr txBox="1"/>
          <p:nvPr/>
        </p:nvSpPr>
        <p:spPr>
          <a:xfrm>
            <a:off x="776519" y="274319"/>
            <a:ext cx="7225201" cy="44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24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Example: C1 vs C3 Side-by-Side</a:t>
            </a:r>
          </a:p>
        </p:txBody>
      </p:sp>
      <p:sp>
        <p:nvSpPr>
          <p:cNvPr id="211" name="Square"/>
          <p:cNvSpPr/>
          <p:nvPr/>
        </p:nvSpPr>
        <p:spPr>
          <a:xfrm>
            <a:off x="457197" y="868677"/>
            <a:ext cx="3978004" cy="397800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12" name="Rectangle"/>
          <p:cNvSpPr/>
          <p:nvPr/>
        </p:nvSpPr>
        <p:spPr>
          <a:xfrm>
            <a:off x="457197" y="868680"/>
            <a:ext cx="3978004" cy="457561"/>
          </a:xfrm>
          <a:prstGeom prst="rect">
            <a:avLst/>
          </a:prstGeom>
          <a:solidFill>
            <a:srgbClr val="94A3B8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13" name="C1 (Code Only) - human_prob: [X.XX]"/>
          <p:cNvSpPr txBox="1"/>
          <p:nvPr/>
        </p:nvSpPr>
        <p:spPr>
          <a:xfrm>
            <a:off x="685078" y="868680"/>
            <a:ext cx="3521883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C1 (Code Only) - human_prob: [X.XX]</a:t>
            </a:r>
          </a:p>
        </p:txBody>
      </p:sp>
      <p:sp>
        <p:nvSpPr>
          <p:cNvPr id="214" name="In the world of modern AI frameworks, CrewAI stands out as a powerful tool for building multi-agent systems. It is important to note that installation requires Python 3.10 or newer. Furthermore, the framework provides a streamlined setup process. To get "/>
          <p:cNvSpPr txBox="1"/>
          <p:nvPr/>
        </p:nvSpPr>
        <p:spPr>
          <a:xfrm>
            <a:off x="685078" y="1417318"/>
            <a:ext cx="3521883" cy="1317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40000"/>
              </a:lnSpc>
              <a:defRPr i="1"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In the world of modern AI frameworks, CrewAI stands out as a powerful tool for building multi-agent systems. It is important to note that installation requires Python 3.10 or newer. Furthermore, the framework provides a streamlined setup process. To get started, you can install CrewAI using pip install crewai. Moreover, the project initialization command crewai create crew my_project generates a well-structured template...</a:t>
            </a:r>
          </a:p>
        </p:txBody>
      </p:sp>
      <p:sp>
        <p:nvSpPr>
          <p:cNvPr id="215" name="Line"/>
          <p:cNvSpPr/>
          <p:nvPr/>
        </p:nvSpPr>
        <p:spPr>
          <a:xfrm>
            <a:off x="640078" y="3383279"/>
            <a:ext cx="3611524" cy="3"/>
          </a:xfrm>
          <a:prstGeom prst="line">
            <a:avLst/>
          </a:prstGeom>
          <a:ln w="126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6" name="AI tells: &quot;In the world of&quot;, &quot;It is important to note&quot;, &quot;Furthermore&quot;, &quot;Moreover&quot;, uniform sentence length, no contractions"/>
          <p:cNvSpPr txBox="1"/>
          <p:nvPr/>
        </p:nvSpPr>
        <p:spPr>
          <a:xfrm>
            <a:off x="685078" y="3520440"/>
            <a:ext cx="3521883" cy="37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EF434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AI tells: "In the world of", "It is important to note", "Furthermore", "Moreover", uniform sentence length, no contractions</a:t>
            </a:r>
          </a:p>
        </p:txBody>
      </p:sp>
      <p:sp>
        <p:nvSpPr>
          <p:cNvPr id="217" name="Square"/>
          <p:cNvSpPr/>
          <p:nvPr/>
        </p:nvSpPr>
        <p:spPr>
          <a:xfrm>
            <a:off x="4709158" y="868677"/>
            <a:ext cx="3978004" cy="397800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18" name="Rectangle"/>
          <p:cNvSpPr/>
          <p:nvPr/>
        </p:nvSpPr>
        <p:spPr>
          <a:xfrm>
            <a:off x="4709158" y="868680"/>
            <a:ext cx="3978004" cy="457561"/>
          </a:xfrm>
          <a:prstGeom prst="rect">
            <a:avLst/>
          </a:prstGeom>
          <a:solidFill>
            <a:srgbClr val="0FB98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19" name="C3 (Style Constrained) - human_prob: [X.XX]"/>
          <p:cNvSpPr txBox="1"/>
          <p:nvPr/>
        </p:nvSpPr>
        <p:spPr>
          <a:xfrm>
            <a:off x="4937040" y="868680"/>
            <a:ext cx="3521883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C3 (Style Constrained) - human_prob: [X.XX]</a:t>
            </a:r>
          </a:p>
        </p:txBody>
      </p:sp>
      <p:sp>
        <p:nvSpPr>
          <p:cNvPr id="220" name="CrewAI's setup is dead simple - pip install crewai and you're off. You'll need Python 3.10+, which shouldn't be an issue for most teams at this point. Run crewai create crew my_project and it scaffolds the whole thing: agents.yaml for your agent configs,"/>
          <p:cNvSpPr txBox="1"/>
          <p:nvPr/>
        </p:nvSpPr>
        <p:spPr>
          <a:xfrm>
            <a:off x="4937040" y="1417318"/>
            <a:ext cx="3521883" cy="1317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40000"/>
              </a:lnSpc>
              <a:defRPr i="1"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CrewAI's setup is dead simple - pip install crewai and you're off. You'll need Python 3.10+, which shouldn't be an issue for most teams at this point. Run crewai create crew my_project and it scaffolds the whole thing: agents.yaml for your agent configs, tasks.yaml for workflows. I've found the YAML-first approach polarizing. It's great for quick iteration, but if you're managing 20+ agents, you'll want to drop into Python classes eventually...</a:t>
            </a:r>
          </a:p>
        </p:txBody>
      </p:sp>
      <p:sp>
        <p:nvSpPr>
          <p:cNvPr id="221" name="Line"/>
          <p:cNvSpPr/>
          <p:nvPr/>
        </p:nvSpPr>
        <p:spPr>
          <a:xfrm>
            <a:off x="4892040" y="3383279"/>
            <a:ext cx="3611520" cy="3"/>
          </a:xfrm>
          <a:prstGeom prst="line">
            <a:avLst/>
          </a:prstGeom>
          <a:ln w="126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2" name="Improvements: Contractions, first person, varied sentence length, specific details, opinionated trade-off"/>
          <p:cNvSpPr txBox="1"/>
          <p:nvPr/>
        </p:nvSpPr>
        <p:spPr>
          <a:xfrm>
            <a:off x="4937040" y="3520440"/>
            <a:ext cx="3521883" cy="37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0FB98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Improvements: Contractions, first person, varied sentence length, specific details, opinionated trade-off</a:t>
            </a:r>
          </a:p>
        </p:txBody>
      </p:sp>
      <p:sp>
        <p:nvSpPr>
          <p:cNvPr id="223" name="17 / 18"/>
          <p:cNvSpPr txBox="1"/>
          <p:nvPr/>
        </p:nvSpPr>
        <p:spPr>
          <a:xfrm>
            <a:off x="8091719" y="4754879"/>
            <a:ext cx="824403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17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Demo &amp; Links"/>
          <p:cNvSpPr txBox="1"/>
          <p:nvPr/>
        </p:nvSpPr>
        <p:spPr>
          <a:xfrm>
            <a:off x="776519" y="365757"/>
            <a:ext cx="4482001" cy="623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36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Demo &amp; Links</a:t>
            </a:r>
          </a:p>
        </p:txBody>
      </p:sp>
      <p:sp>
        <p:nvSpPr>
          <p:cNvPr id="226" name="Rectangle"/>
          <p:cNvSpPr/>
          <p:nvPr/>
        </p:nvSpPr>
        <p:spPr>
          <a:xfrm>
            <a:off x="457198" y="1188719"/>
            <a:ext cx="3932285" cy="2286363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1D283A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27" name="YouTube Demo"/>
          <p:cNvSpPr txBox="1"/>
          <p:nvPr/>
        </p:nvSpPr>
        <p:spPr>
          <a:xfrm>
            <a:off x="776518" y="1417319"/>
            <a:ext cx="3110403" cy="356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YouTube Demo</a:t>
            </a:r>
          </a:p>
        </p:txBody>
      </p:sp>
      <p:sp>
        <p:nvSpPr>
          <p:cNvPr id="228" name="Pre-recorded walkthrough covering:…"/>
          <p:cNvSpPr txBox="1"/>
          <p:nvPr/>
        </p:nvSpPr>
        <p:spPr>
          <a:xfrm>
            <a:off x="822237" y="2011677"/>
            <a:ext cx="3201845" cy="10398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Pre-recorded walkthrough covering:</a:t>
            </a:r>
            <a:endParaRPr>
              <a:solidFill>
                <a:srgbClr val="1D283A"/>
              </a:solidFill>
            </a:endParaRPr>
          </a:p>
          <a:p>
            <a:pPr marL="161280" indent="-161280">
              <a:spcBef>
                <a:spcPts val="3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Task definition &amp; gold fact setup</a:t>
            </a:r>
            <a:endParaRPr>
              <a:solidFill>
                <a:srgbClr val="1D283A"/>
              </a:solidFill>
            </a:endParaRPr>
          </a:p>
          <a:p>
            <a:pPr marL="161280" indent="-161280">
              <a:spcBef>
                <a:spcPts val="3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Generation across all 5 conditions</a:t>
            </a:r>
            <a:endParaRPr>
              <a:solidFill>
                <a:srgbClr val="1D283A"/>
              </a:solidFill>
            </a:endParaRPr>
          </a:p>
          <a:p>
            <a:pPr marL="161280" indent="-161280">
              <a:spcBef>
                <a:spcPts val="3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Detector API calls &amp; score comparison</a:t>
            </a:r>
            <a:endParaRPr>
              <a:solidFill>
                <a:srgbClr val="1D283A"/>
              </a:solidFill>
            </a:endParaRPr>
          </a:p>
          <a:p>
            <a:pPr marL="161280" indent="-161280">
              <a:spcBef>
                <a:spcPts val="3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Linguistic feature extraction</a:t>
            </a:r>
          </a:p>
        </p:txBody>
      </p:sp>
      <p:sp>
        <p:nvSpPr>
          <p:cNvPr id="229" name="Rectangle"/>
          <p:cNvSpPr/>
          <p:nvPr/>
        </p:nvSpPr>
        <p:spPr>
          <a:xfrm>
            <a:off x="4754879" y="1188718"/>
            <a:ext cx="3932283" cy="914763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1D283A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30" name="github.com/yongkyunlee/ai-detectability-research"/>
          <p:cNvSpPr txBox="1"/>
          <p:nvPr/>
        </p:nvSpPr>
        <p:spPr>
          <a:xfrm>
            <a:off x="5028479" y="1325880"/>
            <a:ext cx="3384723" cy="369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sz="1000">
                <a:solidFill>
                  <a:srgbClr val="3A82F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github.com/yongkyunlee/ai-detectability-research</a:t>
            </a:r>
          </a:p>
        </p:txBody>
      </p:sp>
      <p:sp>
        <p:nvSpPr>
          <p:cNvPr id="231" name="Rectangle"/>
          <p:cNvSpPr/>
          <p:nvPr/>
        </p:nvSpPr>
        <p:spPr>
          <a:xfrm>
            <a:off x="4754879" y="2285998"/>
            <a:ext cx="3932283" cy="2560685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1D283A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32" name="Key References"/>
          <p:cNvSpPr txBox="1"/>
          <p:nvPr/>
        </p:nvSpPr>
        <p:spPr>
          <a:xfrm>
            <a:off x="5028479" y="2423160"/>
            <a:ext cx="3384723" cy="293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4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Key References</a:t>
            </a:r>
          </a:p>
        </p:txBody>
      </p:sp>
      <p:sp>
        <p:nvSpPr>
          <p:cNvPr id="233" name="1. Mitchell et al. (2023) - DetectGPT…"/>
          <p:cNvSpPr txBox="1"/>
          <p:nvPr/>
        </p:nvSpPr>
        <p:spPr>
          <a:xfrm>
            <a:off x="5074199" y="2788920"/>
            <a:ext cx="3293282" cy="1339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35000"/>
              </a:lnSpc>
              <a:defRPr sz="8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1. Mitchell et al. (2023) - DetectGPT</a:t>
            </a:r>
            <a:endParaRPr>
              <a:solidFill>
                <a:srgbClr val="1D283A"/>
              </a:solidFill>
            </a:endParaRPr>
          </a:p>
          <a:p>
            <a:pPr>
              <a:lnSpc>
                <a:spcPct val="135000"/>
              </a:lnSpc>
              <a:defRPr sz="8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2. Kirchenbauer et al. (2023) - Watermarking</a:t>
            </a:r>
            <a:endParaRPr>
              <a:solidFill>
                <a:srgbClr val="1D283A"/>
              </a:solidFill>
            </a:endParaRPr>
          </a:p>
          <a:p>
            <a:pPr>
              <a:lnSpc>
                <a:spcPct val="135000"/>
              </a:lnSpc>
              <a:defRPr sz="8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3. Sadasivan et al. (2023) - Reliable Detection?</a:t>
            </a:r>
            <a:endParaRPr>
              <a:solidFill>
                <a:srgbClr val="1D283A"/>
              </a:solidFill>
            </a:endParaRPr>
          </a:p>
          <a:p>
            <a:pPr>
              <a:lnSpc>
                <a:spcPct val="135000"/>
              </a:lnSpc>
              <a:defRPr sz="8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4. Krishna et al. (2023) - Paraphrasing Evades</a:t>
            </a:r>
            <a:endParaRPr>
              <a:solidFill>
                <a:srgbClr val="1D283A"/>
              </a:solidFill>
            </a:endParaRPr>
          </a:p>
          <a:p>
            <a:pPr>
              <a:lnSpc>
                <a:spcPct val="135000"/>
              </a:lnSpc>
              <a:defRPr sz="8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5. Liang et al. (2023) - Detector Bias</a:t>
            </a:r>
            <a:endParaRPr>
              <a:solidFill>
                <a:srgbClr val="1D283A"/>
              </a:solidFill>
            </a:endParaRPr>
          </a:p>
          <a:p>
            <a:pPr>
              <a:lnSpc>
                <a:spcPct val="135000"/>
              </a:lnSpc>
              <a:defRPr sz="8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6. Wang et al. (2025) - HUMPA (ICLR)</a:t>
            </a:r>
            <a:endParaRPr>
              <a:solidFill>
                <a:srgbClr val="1D283A"/>
              </a:solidFill>
            </a:endParaRPr>
          </a:p>
          <a:p>
            <a:pPr>
              <a:lnSpc>
                <a:spcPct val="135000"/>
              </a:lnSpc>
              <a:defRPr sz="8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7. Wu et al. (2024) - DetectRL (NeurIPS)</a:t>
            </a:r>
            <a:endParaRPr>
              <a:solidFill>
                <a:srgbClr val="1D283A"/>
              </a:solidFill>
            </a:endParaRPr>
          </a:p>
          <a:p>
            <a:pPr>
              <a:lnSpc>
                <a:spcPct val="135000"/>
              </a:lnSpc>
              <a:defRPr sz="8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8. Rivera Soto et al. (2025) - Distinct Style</a:t>
            </a:r>
          </a:p>
        </p:txBody>
      </p:sp>
      <p:sp>
        <p:nvSpPr>
          <p:cNvPr id="234" name="Thank you!"/>
          <p:cNvSpPr txBox="1"/>
          <p:nvPr/>
        </p:nvSpPr>
        <p:spPr>
          <a:xfrm>
            <a:off x="502197" y="4114798"/>
            <a:ext cx="3841925" cy="496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defRPr b="1" sz="28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Thank you!</a:t>
            </a:r>
          </a:p>
        </p:txBody>
      </p:sp>
      <p:sp>
        <p:nvSpPr>
          <p:cNvPr id="235" name="18 / 18"/>
          <p:cNvSpPr txBox="1"/>
          <p:nvPr/>
        </p:nvSpPr>
        <p:spPr>
          <a:xfrm>
            <a:off x="8091719" y="4754879"/>
            <a:ext cx="824403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18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DetectGPT  Mitchell et al. (2023)"/>
          <p:cNvSpPr txBox="1"/>
          <p:nvPr/>
        </p:nvSpPr>
        <p:spPr>
          <a:xfrm>
            <a:off x="502199" y="182878"/>
            <a:ext cx="8139601" cy="382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20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DetectGPT</a:t>
            </a:r>
            <a:r>
              <a:rPr b="0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 xml:space="preserve">  Mitchell et al. (2023)</a:t>
            </a:r>
          </a:p>
        </p:txBody>
      </p:sp>
      <p:sp>
        <p:nvSpPr>
          <p:cNvPr id="238" name="Eric Mitchell, Yoonho Lee, Alexander Khazatsky, Christopher D. Manning, Chelsea Finn  |  ICML 2023"/>
          <p:cNvSpPr txBox="1"/>
          <p:nvPr/>
        </p:nvSpPr>
        <p:spPr>
          <a:xfrm>
            <a:off x="502199" y="640080"/>
            <a:ext cx="8139601" cy="194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15000"/>
              </a:lnSpc>
              <a:defRPr i="1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Eric Mitchell, Yoonho Lee, Alexander Khazatsky, Christopher D. Manning, Chelsea Finn  |  ICML 2023</a:t>
            </a:r>
          </a:p>
        </p:txBody>
      </p:sp>
      <p:sp>
        <p:nvSpPr>
          <p:cNvPr id="239" name="Rectangle"/>
          <p:cNvSpPr/>
          <p:nvPr/>
        </p:nvSpPr>
        <p:spPr>
          <a:xfrm>
            <a:off x="457198" y="1005837"/>
            <a:ext cx="3932285" cy="374940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40" name="Core Idea"/>
          <p:cNvSpPr txBox="1"/>
          <p:nvPr/>
        </p:nvSpPr>
        <p:spPr>
          <a:xfrm>
            <a:off x="730797" y="1097280"/>
            <a:ext cx="3384725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Core Idea</a:t>
            </a:r>
          </a:p>
        </p:txBody>
      </p:sp>
      <p:sp>
        <p:nvSpPr>
          <p:cNvPr id="241" name="AI-generated text occupies negative curvature regions of the source model's log probability function. By generating ~100 perturbations of a passage and comparing log probabilities, DetectGPT identifies machine text without any training data."/>
          <p:cNvSpPr txBox="1"/>
          <p:nvPr/>
        </p:nvSpPr>
        <p:spPr>
          <a:xfrm>
            <a:off x="730797" y="1371599"/>
            <a:ext cx="3384725" cy="692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AI-generated text occupies negative curvature regions of the source model's log probability function. By generating ~100 perturbations of a passage and comparing log probabilities, DetectGPT identifies machine text without any training data.</a:t>
            </a:r>
          </a:p>
        </p:txBody>
      </p:sp>
      <p:sp>
        <p:nvSpPr>
          <p:cNvPr id="242" name="Method"/>
          <p:cNvSpPr txBox="1"/>
          <p:nvPr/>
        </p:nvSpPr>
        <p:spPr>
          <a:xfrm>
            <a:off x="730797" y="2377438"/>
            <a:ext cx="3384725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Method</a:t>
            </a:r>
          </a:p>
        </p:txBody>
      </p:sp>
      <p:sp>
        <p:nvSpPr>
          <p:cNvPr id="243" name="Generate perturbations via T5, compute log probabilities under the source model, classify based on curvature (original has higher log-prob than perturbations)."/>
          <p:cNvSpPr txBox="1"/>
          <p:nvPr/>
        </p:nvSpPr>
        <p:spPr>
          <a:xfrm>
            <a:off x="730797" y="2651760"/>
            <a:ext cx="3384725" cy="529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Generate perturbations via T5, compute log probabilities under the source model, classify based on curvature (original has higher log-prob than perturbations).</a:t>
            </a:r>
          </a:p>
        </p:txBody>
      </p:sp>
      <p:sp>
        <p:nvSpPr>
          <p:cNvPr id="244" name="Limitations"/>
          <p:cNvSpPr txBox="1"/>
          <p:nvPr/>
        </p:nvSpPr>
        <p:spPr>
          <a:xfrm>
            <a:off x="730797" y="3383279"/>
            <a:ext cx="3384725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Limitations</a:t>
            </a:r>
          </a:p>
        </p:txBody>
      </p:sp>
      <p:sp>
        <p:nvSpPr>
          <p:cNvPr id="245" name="Requires access to source model log probabilities. Computationally expensive (~100 forward passes/doc). Degrades when source model is unknown."/>
          <p:cNvSpPr txBox="1"/>
          <p:nvPr/>
        </p:nvSpPr>
        <p:spPr>
          <a:xfrm>
            <a:off x="730797" y="3657598"/>
            <a:ext cx="3384725" cy="529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Requires access to source model log probabilities. Computationally expensive (~100 forward passes/doc). Degrades when source model is unknown.</a:t>
            </a:r>
          </a:p>
        </p:txBody>
      </p:sp>
      <p:sp>
        <p:nvSpPr>
          <p:cNvPr id="246" name="Rectangle"/>
          <p:cNvSpPr/>
          <p:nvPr/>
        </p:nvSpPr>
        <p:spPr>
          <a:xfrm>
            <a:off x="4754879" y="1005838"/>
            <a:ext cx="3932283" cy="210312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47" name="Key Results"/>
          <p:cNvSpPr txBox="1"/>
          <p:nvPr/>
        </p:nvSpPr>
        <p:spPr>
          <a:xfrm>
            <a:off x="5028479" y="1097280"/>
            <a:ext cx="3384723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Key Results</a:t>
            </a:r>
          </a:p>
        </p:txBody>
      </p:sp>
      <p:sp>
        <p:nvSpPr>
          <p:cNvPr id="248" name="Improves fake news detection from 0.81 to 0.95 AUROC (GPT-NeoX 20B). Zero-shot: no training data, no classifier, no watermarking required."/>
          <p:cNvSpPr txBox="1"/>
          <p:nvPr/>
        </p:nvSpPr>
        <p:spPr>
          <a:xfrm>
            <a:off x="5028479" y="1371599"/>
            <a:ext cx="3384723" cy="529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Improves fake news detection from 0.81 to 0.95 AUROC (GPT-NeoX 20B). Zero-shot: no training data, no classifier, no watermarking required.</a:t>
            </a:r>
          </a:p>
        </p:txBody>
      </p:sp>
      <p:sp>
        <p:nvSpPr>
          <p:cNvPr id="249" name="Rectangle"/>
          <p:cNvSpPr/>
          <p:nvPr/>
        </p:nvSpPr>
        <p:spPr>
          <a:xfrm>
            <a:off x="4754879" y="3291840"/>
            <a:ext cx="3932283" cy="146304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50" name="Relevance to This Study"/>
          <p:cNvSpPr txBox="1"/>
          <p:nvPr/>
        </p:nvSpPr>
        <p:spPr>
          <a:xfrm>
            <a:off x="5028479" y="3383279"/>
            <a:ext cx="3384723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93C5F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Relevance to This Study</a:t>
            </a:r>
          </a:p>
        </p:txBody>
      </p:sp>
      <p:sp>
        <p:nvSpPr>
          <p:cNvPr id="251" name="Foundational method behind GPTZero and similar tools. Understanding its log-probability basis explains why stylistic interventions can shift detector scores."/>
          <p:cNvSpPr txBox="1"/>
          <p:nvPr/>
        </p:nvSpPr>
        <p:spPr>
          <a:xfrm>
            <a:off x="5028479" y="3657599"/>
            <a:ext cx="3384723" cy="552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Foundational method behind GPTZero and similar tools. Understanding its log-probability basis explains why stylistic interventions can shift detector scores.</a:t>
            </a:r>
          </a:p>
        </p:txBody>
      </p:sp>
      <p:sp>
        <p:nvSpPr>
          <p:cNvPr id="252" name="Appendix"/>
          <p:cNvSpPr txBox="1"/>
          <p:nvPr/>
        </p:nvSpPr>
        <p:spPr>
          <a:xfrm>
            <a:off x="8091719" y="4754879"/>
            <a:ext cx="824403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Appendix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Watermarking LLMs  Kirchenbauer et al. (2023)"/>
          <p:cNvSpPr txBox="1"/>
          <p:nvPr/>
        </p:nvSpPr>
        <p:spPr>
          <a:xfrm>
            <a:off x="502199" y="182878"/>
            <a:ext cx="8139601" cy="382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20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Watermarking LLMs</a:t>
            </a:r>
            <a:r>
              <a:rPr b="0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 xml:space="preserve">  Kirchenbauer et al. (2023)</a:t>
            </a:r>
          </a:p>
        </p:txBody>
      </p:sp>
      <p:sp>
        <p:nvSpPr>
          <p:cNvPr id="255" name="John Kirchenbauer, Jonas Geiping, Yuxin Wen, Jonathan Katz, Ian Miers, Tom Goldstein  |  ICML 2023"/>
          <p:cNvSpPr txBox="1"/>
          <p:nvPr/>
        </p:nvSpPr>
        <p:spPr>
          <a:xfrm>
            <a:off x="502199" y="640080"/>
            <a:ext cx="8139601" cy="194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15000"/>
              </a:lnSpc>
              <a:defRPr i="1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John Kirchenbauer, Jonas Geiping, Yuxin Wen, Jonathan Katz, Ian Miers, Tom Goldstein  |  ICML 2023</a:t>
            </a:r>
          </a:p>
        </p:txBody>
      </p:sp>
      <p:sp>
        <p:nvSpPr>
          <p:cNvPr id="256" name="Rectangle"/>
          <p:cNvSpPr/>
          <p:nvPr/>
        </p:nvSpPr>
        <p:spPr>
          <a:xfrm>
            <a:off x="457198" y="1005837"/>
            <a:ext cx="3932285" cy="374940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57" name="Core Idea"/>
          <p:cNvSpPr txBox="1"/>
          <p:nvPr/>
        </p:nvSpPr>
        <p:spPr>
          <a:xfrm>
            <a:off x="730797" y="1097280"/>
            <a:ext cx="3384725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Core Idea</a:t>
            </a:r>
          </a:p>
        </p:txBody>
      </p:sp>
      <p:sp>
        <p:nvSpPr>
          <p:cNvPr id="258" name="Embeds an imperceptible statistical signal into LLM output by partitioning vocabulary into green/red token lists at each generation step using a hash of the previous token."/>
          <p:cNvSpPr txBox="1"/>
          <p:nvPr/>
        </p:nvSpPr>
        <p:spPr>
          <a:xfrm>
            <a:off x="730797" y="1371599"/>
            <a:ext cx="3384725" cy="529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Embeds an imperceptible statistical signal into LLM output by partitioning vocabulary into green/red token lists at each generation step using a hash of the previous token.</a:t>
            </a:r>
          </a:p>
        </p:txBody>
      </p:sp>
      <p:sp>
        <p:nvSpPr>
          <p:cNvPr id="259" name="Method"/>
          <p:cNvSpPr txBox="1"/>
          <p:nvPr/>
        </p:nvSpPr>
        <p:spPr>
          <a:xfrm>
            <a:off x="730797" y="2377438"/>
            <a:ext cx="3384725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Method</a:t>
            </a:r>
          </a:p>
        </p:txBody>
      </p:sp>
      <p:sp>
        <p:nvSpPr>
          <p:cNvPr id="260" name="Hash previous token to seed RNG, partition vocab into green/red lists, bias sampling toward green tokens. Detection via z-test on green token count."/>
          <p:cNvSpPr txBox="1"/>
          <p:nvPr/>
        </p:nvSpPr>
        <p:spPr>
          <a:xfrm>
            <a:off x="730797" y="2651760"/>
            <a:ext cx="3384725" cy="529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Hash previous token to seed RNG, partition vocab into green/red lists, bias sampling toward green tokens. Detection via z-test on green token count.</a:t>
            </a:r>
          </a:p>
        </p:txBody>
      </p:sp>
      <p:sp>
        <p:nvSpPr>
          <p:cNvPr id="261" name="Limitations"/>
          <p:cNvSpPr txBox="1"/>
          <p:nvPr/>
        </p:nvSpPr>
        <p:spPr>
          <a:xfrm>
            <a:off x="730797" y="3383279"/>
            <a:ext cx="3384725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Limitations</a:t>
            </a:r>
          </a:p>
        </p:txBody>
      </p:sp>
      <p:sp>
        <p:nvSpPr>
          <p:cNvPr id="262" name="Low-entropy sequences (code, formulaic text) hard to watermark. Requires provider cooperation. Vulnerable to paraphrasing attacks."/>
          <p:cNvSpPr txBox="1"/>
          <p:nvPr/>
        </p:nvSpPr>
        <p:spPr>
          <a:xfrm>
            <a:off x="730797" y="3657598"/>
            <a:ext cx="3384725" cy="367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Low-entropy sequences (code, formulaic text) hard to watermark. Requires provider cooperation. Vulnerable to paraphrasing attacks.</a:t>
            </a:r>
          </a:p>
        </p:txBody>
      </p:sp>
      <p:sp>
        <p:nvSpPr>
          <p:cNvPr id="263" name="Rectangle"/>
          <p:cNvSpPr/>
          <p:nvPr/>
        </p:nvSpPr>
        <p:spPr>
          <a:xfrm>
            <a:off x="4754879" y="1005838"/>
            <a:ext cx="3932283" cy="210312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64" name="Key Results"/>
          <p:cNvSpPr txBox="1"/>
          <p:nvPr/>
        </p:nvSpPr>
        <p:spPr>
          <a:xfrm>
            <a:off x="5028479" y="1097280"/>
            <a:ext cx="3384723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Key Results</a:t>
            </a:r>
          </a:p>
        </p:txBody>
      </p:sp>
      <p:sp>
        <p:nvSpPr>
          <p:cNvPr id="265" name="Detectable from as few as 25 tokens with negligible quality impact. p-values as low as ~6e-14 for watermarked text. Robust to moderate edits."/>
          <p:cNvSpPr txBox="1"/>
          <p:nvPr/>
        </p:nvSpPr>
        <p:spPr>
          <a:xfrm>
            <a:off x="5028479" y="1371599"/>
            <a:ext cx="3384723" cy="529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Detectable from as few as 25 tokens with negligible quality impact. p-values as low as ~6e-14 for watermarked text. Robust to moderate edits.</a:t>
            </a:r>
          </a:p>
        </p:txBody>
      </p:sp>
      <p:sp>
        <p:nvSpPr>
          <p:cNvPr id="266" name="Rectangle"/>
          <p:cNvSpPr/>
          <p:nvPr/>
        </p:nvSpPr>
        <p:spPr>
          <a:xfrm>
            <a:off x="4754879" y="3291840"/>
            <a:ext cx="3932283" cy="146304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67" name="Relevance to This Study"/>
          <p:cNvSpPr txBox="1"/>
          <p:nvPr/>
        </p:nvSpPr>
        <p:spPr>
          <a:xfrm>
            <a:off x="5028479" y="3383279"/>
            <a:ext cx="3384723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93C5F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Relevance to This Study</a:t>
            </a:r>
          </a:p>
        </p:txBody>
      </p:sp>
      <p:sp>
        <p:nvSpPr>
          <p:cNvPr id="268" name="Demonstrates token distribution patterns as a primary detection axis. Our C3 style constraints work in a complementary space - modifying stylistic patterns rather than token-level statistics."/>
          <p:cNvSpPr txBox="1"/>
          <p:nvPr/>
        </p:nvSpPr>
        <p:spPr>
          <a:xfrm>
            <a:off x="5028479" y="3657599"/>
            <a:ext cx="3384723" cy="552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Demonstrates token distribution patterns as a primary detection axis. Our C3 style constraints work in a complementary space - modifying stylistic patterns rather than token-level statistics.</a:t>
            </a:r>
          </a:p>
        </p:txBody>
      </p:sp>
      <p:sp>
        <p:nvSpPr>
          <p:cNvPr id="269" name="Appendix"/>
          <p:cNvSpPr txBox="1"/>
          <p:nvPr/>
        </p:nvSpPr>
        <p:spPr>
          <a:xfrm>
            <a:off x="8091719" y="4754879"/>
            <a:ext cx="824403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Appendix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Can AI Text Be Reliably Detected?  Sadasivan et al. (2023)"/>
          <p:cNvSpPr txBox="1"/>
          <p:nvPr/>
        </p:nvSpPr>
        <p:spPr>
          <a:xfrm>
            <a:off x="502199" y="182878"/>
            <a:ext cx="8139601" cy="382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20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Can AI Text Be Reliably Detected?</a:t>
            </a:r>
            <a:r>
              <a:rPr b="0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 xml:space="preserve">  Sadasivan et al. (2023)</a:t>
            </a:r>
          </a:p>
        </p:txBody>
      </p:sp>
      <p:sp>
        <p:nvSpPr>
          <p:cNvPr id="272" name="Vinu Sankar Sadasivan, Aounon Kumar, Sriram Balasubramanian, Wenxiao Wang, Soheil Feizi  |  arXiv preprint (2023)"/>
          <p:cNvSpPr txBox="1"/>
          <p:nvPr/>
        </p:nvSpPr>
        <p:spPr>
          <a:xfrm>
            <a:off x="502199" y="640080"/>
            <a:ext cx="8139601" cy="194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15000"/>
              </a:lnSpc>
              <a:defRPr i="1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Vinu Sankar Sadasivan, Aounon Kumar, Sriram Balasubramanian, Wenxiao Wang, Soheil Feizi  |  arXiv preprint (2023)</a:t>
            </a:r>
          </a:p>
        </p:txBody>
      </p:sp>
      <p:sp>
        <p:nvSpPr>
          <p:cNvPr id="273" name="Rectangle"/>
          <p:cNvSpPr/>
          <p:nvPr/>
        </p:nvSpPr>
        <p:spPr>
          <a:xfrm>
            <a:off x="457198" y="1005837"/>
            <a:ext cx="3932285" cy="374940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74" name="Core Idea"/>
          <p:cNvSpPr txBox="1"/>
          <p:nvPr/>
        </p:nvSpPr>
        <p:spPr>
          <a:xfrm>
            <a:off x="730797" y="1097280"/>
            <a:ext cx="3384725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Core Idea</a:t>
            </a:r>
          </a:p>
        </p:txBody>
      </p:sp>
      <p:sp>
        <p:nvSpPr>
          <p:cNvPr id="275" name="Stress-tests AI text detectors with recursive paraphrasing attacks and spoofing attacks, revealing fundamental vulnerabilities in both watermark-based and statistical detectors."/>
          <p:cNvSpPr txBox="1"/>
          <p:nvPr/>
        </p:nvSpPr>
        <p:spPr>
          <a:xfrm>
            <a:off x="730797" y="1371599"/>
            <a:ext cx="3384725" cy="529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Stress-tests AI text detectors with recursive paraphrasing attacks and spoofing attacks, revealing fundamental vulnerabilities in both watermark-based and statistical detectors.</a:t>
            </a:r>
          </a:p>
        </p:txBody>
      </p:sp>
      <p:sp>
        <p:nvSpPr>
          <p:cNvPr id="276" name="Method"/>
          <p:cNvSpPr txBox="1"/>
          <p:nvPr/>
        </p:nvSpPr>
        <p:spPr>
          <a:xfrm>
            <a:off x="730797" y="2377438"/>
            <a:ext cx="3384725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Method</a:t>
            </a:r>
          </a:p>
        </p:txBody>
      </p:sp>
      <p:sp>
        <p:nvSpPr>
          <p:cNvPr id="277" name="Repeatedly paraphrase AI text to remove statistical signatures. Also demonstrates spoofing: inferring watermark schemes to create false positives on human text."/>
          <p:cNvSpPr txBox="1"/>
          <p:nvPr/>
        </p:nvSpPr>
        <p:spPr>
          <a:xfrm>
            <a:off x="730797" y="2651760"/>
            <a:ext cx="3384725" cy="529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Repeatedly paraphrase AI text to remove statistical signatures. Also demonstrates spoofing: inferring watermark schemes to create false positives on human text.</a:t>
            </a:r>
          </a:p>
        </p:txBody>
      </p:sp>
      <p:sp>
        <p:nvSpPr>
          <p:cNvPr id="278" name="Limitations"/>
          <p:cNvSpPr txBox="1"/>
          <p:nvPr/>
        </p:nvSpPr>
        <p:spPr>
          <a:xfrm>
            <a:off x="730797" y="3383279"/>
            <a:ext cx="3384725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Limitations</a:t>
            </a:r>
          </a:p>
        </p:txBody>
      </p:sp>
      <p:sp>
        <p:nvSpPr>
          <p:cNvPr id="279" name="Assumes access to a capable paraphrasing model. Spoofing requires multiple queries to the watermarked LLM."/>
          <p:cNvSpPr txBox="1"/>
          <p:nvPr/>
        </p:nvSpPr>
        <p:spPr>
          <a:xfrm>
            <a:off x="730797" y="3657598"/>
            <a:ext cx="3384725" cy="367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Assumes access to a capable paraphrasing model. Spoofing requires multiple queries to the watermarked LLM.</a:t>
            </a:r>
          </a:p>
        </p:txBody>
      </p:sp>
      <p:sp>
        <p:nvSpPr>
          <p:cNvPr id="280" name="Rectangle"/>
          <p:cNvSpPr/>
          <p:nvPr/>
        </p:nvSpPr>
        <p:spPr>
          <a:xfrm>
            <a:off x="4754879" y="1005838"/>
            <a:ext cx="3932283" cy="210312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81" name="Key Results"/>
          <p:cNvSpPr txBox="1"/>
          <p:nvPr/>
        </p:nvSpPr>
        <p:spPr>
          <a:xfrm>
            <a:off x="5028479" y="1097280"/>
            <a:ext cx="3384723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Key Results</a:t>
            </a:r>
          </a:p>
        </p:txBody>
      </p:sp>
      <p:sp>
        <p:nvSpPr>
          <p:cNvPr id="282" name="Watermark detection TPR drops from 99.3% to 9.7%. DetectGPT AUROC drops from 96.5% to 25.2%. 77% of paraphrased passages rated high quality."/>
          <p:cNvSpPr txBox="1"/>
          <p:nvPr/>
        </p:nvSpPr>
        <p:spPr>
          <a:xfrm>
            <a:off x="5028479" y="1371599"/>
            <a:ext cx="3384723" cy="529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Watermark detection TPR drops from 99.3% to 9.7%. DetectGPT AUROC drops from 96.5% to 25.2%. 77% of paraphrased passages rated high quality.</a:t>
            </a:r>
          </a:p>
        </p:txBody>
      </p:sp>
      <p:sp>
        <p:nvSpPr>
          <p:cNvPr id="283" name="Rectangle"/>
          <p:cNvSpPr/>
          <p:nvPr/>
        </p:nvSpPr>
        <p:spPr>
          <a:xfrm>
            <a:off x="4754879" y="3291840"/>
            <a:ext cx="3932283" cy="146304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84" name="Relevance to This Study"/>
          <p:cNvSpPr txBox="1"/>
          <p:nvPr/>
        </p:nvSpPr>
        <p:spPr>
          <a:xfrm>
            <a:off x="5028479" y="3383279"/>
            <a:ext cx="3384723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93C5F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Relevance to This Study</a:t>
            </a:r>
          </a:p>
        </p:txBody>
      </p:sp>
      <p:sp>
        <p:nvSpPr>
          <p:cNvPr id="285" name="Directly motivates C4 (humanization) - paraphrasing is a powerful evasion tool but introduces quality trade-offs. Theoretical bounds contextualize why evasion is possible."/>
          <p:cNvSpPr txBox="1"/>
          <p:nvPr/>
        </p:nvSpPr>
        <p:spPr>
          <a:xfrm>
            <a:off x="5028479" y="3657599"/>
            <a:ext cx="3384723" cy="552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Directly motivates C4 (humanization) - paraphrasing is a powerful evasion tool but introduces quality trade-offs. Theoretical bounds contextualize why evasion is possible.</a:t>
            </a:r>
          </a:p>
        </p:txBody>
      </p:sp>
      <p:sp>
        <p:nvSpPr>
          <p:cNvPr id="286" name="Appendix"/>
          <p:cNvSpPr txBox="1"/>
          <p:nvPr/>
        </p:nvSpPr>
        <p:spPr>
          <a:xfrm>
            <a:off x="8091719" y="4754879"/>
            <a:ext cx="824403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Appendix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araphrasing Evades Detectors  Krishna et al. (2023)"/>
          <p:cNvSpPr txBox="1"/>
          <p:nvPr/>
        </p:nvSpPr>
        <p:spPr>
          <a:xfrm>
            <a:off x="502199" y="182878"/>
            <a:ext cx="8139601" cy="382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20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Paraphrasing Evades Detectors</a:t>
            </a:r>
            <a:r>
              <a:rPr b="0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 xml:space="preserve">  Krishna et al. (2023)</a:t>
            </a:r>
          </a:p>
        </p:txBody>
      </p:sp>
      <p:sp>
        <p:nvSpPr>
          <p:cNvPr id="289" name="Kalpesh Krishna, Yixiao Song, Marzena Karpinska, John Wieting, Mohit Iyyer  |  NeurIPS 2023"/>
          <p:cNvSpPr txBox="1"/>
          <p:nvPr/>
        </p:nvSpPr>
        <p:spPr>
          <a:xfrm>
            <a:off x="502199" y="640080"/>
            <a:ext cx="8139601" cy="194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15000"/>
              </a:lnSpc>
              <a:defRPr i="1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Kalpesh Krishna, Yixiao Song, Marzena Karpinska, John Wieting, Mohit Iyyer  |  NeurIPS 2023</a:t>
            </a:r>
          </a:p>
        </p:txBody>
      </p:sp>
      <p:sp>
        <p:nvSpPr>
          <p:cNvPr id="290" name="Rectangle"/>
          <p:cNvSpPr/>
          <p:nvPr/>
        </p:nvSpPr>
        <p:spPr>
          <a:xfrm>
            <a:off x="457198" y="1005837"/>
            <a:ext cx="3932285" cy="374940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91" name="Core Idea"/>
          <p:cNvSpPr txBox="1"/>
          <p:nvPr/>
        </p:nvSpPr>
        <p:spPr>
          <a:xfrm>
            <a:off x="730797" y="1097280"/>
            <a:ext cx="3384725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Core Idea</a:t>
            </a:r>
          </a:p>
        </p:txBody>
      </p:sp>
      <p:sp>
        <p:nvSpPr>
          <p:cNvPr id="292" name="Builds DIPPER, an 11B-parameter discourse-level paraphraser with controllable diversity, to attack AI text detectors. Also proposes a retrieval-based defense."/>
          <p:cNvSpPr txBox="1"/>
          <p:nvPr/>
        </p:nvSpPr>
        <p:spPr>
          <a:xfrm>
            <a:off x="730797" y="1371599"/>
            <a:ext cx="3384725" cy="529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Builds DIPPER, an 11B-parameter discourse-level paraphraser with controllable diversity, to attack AI text detectors. Also proposes a retrieval-based defense.</a:t>
            </a:r>
          </a:p>
        </p:txBody>
      </p:sp>
      <p:sp>
        <p:nvSpPr>
          <p:cNvPr id="293" name="Method"/>
          <p:cNvSpPr txBox="1"/>
          <p:nvPr/>
        </p:nvSpPr>
        <p:spPr>
          <a:xfrm>
            <a:off x="730797" y="2377438"/>
            <a:ext cx="3384725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Method</a:t>
            </a:r>
          </a:p>
        </p:txBody>
      </p:sp>
      <p:sp>
        <p:nvSpPr>
          <p:cNvPr id="294" name="DIPPER paraphrases paragraph-length text with two control knobs: lexical diversity and content reordering. Retrieval defense stores all LLM outputs and uses BM-25 + embeddings."/>
          <p:cNvSpPr txBox="1"/>
          <p:nvPr/>
        </p:nvSpPr>
        <p:spPr>
          <a:xfrm>
            <a:off x="730797" y="2651760"/>
            <a:ext cx="3384725" cy="529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DIPPER paraphrases paragraph-length text with two control knobs: lexical diversity and content reordering. Retrieval defense stores all LLM outputs and uses BM-25 + embeddings.</a:t>
            </a:r>
          </a:p>
        </p:txBody>
      </p:sp>
      <p:sp>
        <p:nvSpPr>
          <p:cNvPr id="295" name="Limitations"/>
          <p:cNvSpPr txBox="1"/>
          <p:nvPr/>
        </p:nvSpPr>
        <p:spPr>
          <a:xfrm>
            <a:off x="730797" y="3383279"/>
            <a:ext cx="3384725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Limitations</a:t>
            </a:r>
          </a:p>
        </p:txBody>
      </p:sp>
      <p:sp>
        <p:nvSpPr>
          <p:cNvPr id="296" name="Retrieval defense requires API provider cooperation and storage of all generated outputs."/>
          <p:cNvSpPr txBox="1"/>
          <p:nvPr/>
        </p:nvSpPr>
        <p:spPr>
          <a:xfrm>
            <a:off x="730797" y="3657598"/>
            <a:ext cx="3384725" cy="367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Retrieval defense requires API provider cooperation and storage of all generated outputs.</a:t>
            </a:r>
          </a:p>
        </p:txBody>
      </p:sp>
      <p:sp>
        <p:nvSpPr>
          <p:cNvPr id="297" name="Rectangle"/>
          <p:cNvSpPr/>
          <p:nvPr/>
        </p:nvSpPr>
        <p:spPr>
          <a:xfrm>
            <a:off x="4754879" y="1005838"/>
            <a:ext cx="3932283" cy="210312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98" name="Key Results"/>
          <p:cNvSpPr txBox="1"/>
          <p:nvPr/>
        </p:nvSpPr>
        <p:spPr>
          <a:xfrm>
            <a:off x="5028479" y="1097280"/>
            <a:ext cx="3384723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Key Results</a:t>
            </a:r>
          </a:p>
        </p:txBody>
      </p:sp>
      <p:sp>
        <p:nvSpPr>
          <p:cNvPr id="299" name="DetectGPT drops from 70.3% to 4.6% after DIPPER. Retrieval defense detects 80-97% of paraphrased text at 1% FPR (tested on 15M generation database)."/>
          <p:cNvSpPr txBox="1"/>
          <p:nvPr/>
        </p:nvSpPr>
        <p:spPr>
          <a:xfrm>
            <a:off x="5028479" y="1371599"/>
            <a:ext cx="3384723" cy="529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DetectGPT drops from 70.3% to 4.6% after DIPPER. Retrieval defense detects 80-97% of paraphrased text at 1% FPR (tested on 15M generation database).</a:t>
            </a:r>
          </a:p>
        </p:txBody>
      </p:sp>
      <p:sp>
        <p:nvSpPr>
          <p:cNvPr id="300" name="Rectangle"/>
          <p:cNvSpPr/>
          <p:nvPr/>
        </p:nvSpPr>
        <p:spPr>
          <a:xfrm>
            <a:off x="4754879" y="3291840"/>
            <a:ext cx="3932283" cy="146304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01" name="Relevance to This Study"/>
          <p:cNvSpPr txBox="1"/>
          <p:nvPr/>
        </p:nvSpPr>
        <p:spPr>
          <a:xfrm>
            <a:off x="5028479" y="3383279"/>
            <a:ext cx="3384723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93C5F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Relevance to This Study</a:t>
            </a:r>
          </a:p>
        </p:txBody>
      </p:sp>
      <p:sp>
        <p:nvSpPr>
          <p:cNvPr id="302" name="DIPPER's controllable paraphrasing directly informs our C4 humanization strategy. The retrieval defense shows evasion has limits when API providers participate."/>
          <p:cNvSpPr txBox="1"/>
          <p:nvPr/>
        </p:nvSpPr>
        <p:spPr>
          <a:xfrm>
            <a:off x="5028479" y="3657599"/>
            <a:ext cx="3384723" cy="552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DIPPER's controllable paraphrasing directly informs our C4 humanization strategy. The retrieval defense shows evasion has limits when API providers participate.</a:t>
            </a:r>
          </a:p>
        </p:txBody>
      </p:sp>
      <p:sp>
        <p:nvSpPr>
          <p:cNvPr id="303" name="Appendix"/>
          <p:cNvSpPr txBox="1"/>
          <p:nvPr/>
        </p:nvSpPr>
        <p:spPr>
          <a:xfrm>
            <a:off x="8091719" y="4754879"/>
            <a:ext cx="824403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Appendix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PT Detectors Are Biased  Liang et al. (2023)"/>
          <p:cNvSpPr txBox="1"/>
          <p:nvPr/>
        </p:nvSpPr>
        <p:spPr>
          <a:xfrm>
            <a:off x="502199" y="182878"/>
            <a:ext cx="8139601" cy="382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20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GPT Detectors Are Biased</a:t>
            </a:r>
            <a:r>
              <a:rPr b="0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 xml:space="preserve">  Liang et al. (2023)</a:t>
            </a:r>
          </a:p>
        </p:txBody>
      </p:sp>
      <p:sp>
        <p:nvSpPr>
          <p:cNvPr id="306" name="Weixin Liang, Mert Yuksekgonul, Yining Mao, Eric Wu, James Zou  |  Patterns (Cell Press), 2023"/>
          <p:cNvSpPr txBox="1"/>
          <p:nvPr/>
        </p:nvSpPr>
        <p:spPr>
          <a:xfrm>
            <a:off x="502199" y="640080"/>
            <a:ext cx="8139601" cy="194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15000"/>
              </a:lnSpc>
              <a:defRPr i="1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Weixin Liang, Mert Yuksekgonul, Yining Mao, Eric Wu, James Zou  |  Patterns (Cell Press), 2023</a:t>
            </a:r>
          </a:p>
        </p:txBody>
      </p:sp>
      <p:sp>
        <p:nvSpPr>
          <p:cNvPr id="307" name="Rectangle"/>
          <p:cNvSpPr/>
          <p:nvPr/>
        </p:nvSpPr>
        <p:spPr>
          <a:xfrm>
            <a:off x="457198" y="1005837"/>
            <a:ext cx="3932285" cy="374940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08" name="Core Idea"/>
          <p:cNvSpPr txBox="1"/>
          <p:nvPr/>
        </p:nvSpPr>
        <p:spPr>
          <a:xfrm>
            <a:off x="730797" y="1097280"/>
            <a:ext cx="3384725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Core Idea</a:t>
            </a:r>
          </a:p>
        </p:txBody>
      </p:sp>
      <p:sp>
        <p:nvSpPr>
          <p:cNvPr id="309" name="GPT detectors systematically misclassify non-native English writing as AI-generated due to lower linguistic variability, with a 61% average false positive rate on TOEFL essays."/>
          <p:cNvSpPr txBox="1"/>
          <p:nvPr/>
        </p:nvSpPr>
        <p:spPr>
          <a:xfrm>
            <a:off x="730797" y="1371599"/>
            <a:ext cx="3384725" cy="529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GPT detectors systematically misclassify non-native English writing as AI-generated due to lower linguistic variability, with a 61% average false positive rate on TOEFL essays.</a:t>
            </a:r>
          </a:p>
        </p:txBody>
      </p:sp>
      <p:sp>
        <p:nvSpPr>
          <p:cNvPr id="310" name="Method"/>
          <p:cNvSpPr txBox="1"/>
          <p:nvPr/>
        </p:nvSpPr>
        <p:spPr>
          <a:xfrm>
            <a:off x="730797" y="2377438"/>
            <a:ext cx="3384725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Method</a:t>
            </a:r>
          </a:p>
        </p:txBody>
      </p:sp>
      <p:sp>
        <p:nvSpPr>
          <p:cNvPr id="311" name="Tested 7 detectors on 91 TOEFL essays + 88 US 8th-grade essays. Also tested mitigation via ChatGPT rewriting prompts."/>
          <p:cNvSpPr txBox="1"/>
          <p:nvPr/>
        </p:nvSpPr>
        <p:spPr>
          <a:xfrm>
            <a:off x="730797" y="2651760"/>
            <a:ext cx="3384725" cy="367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Tested 7 detectors on 91 TOEFL essays + 88 US 8th-grade essays. Also tested mitigation via ChatGPT rewriting prompts.</a:t>
            </a:r>
          </a:p>
        </p:txBody>
      </p:sp>
      <p:sp>
        <p:nvSpPr>
          <p:cNvPr id="312" name="Limitations"/>
          <p:cNvSpPr txBox="1"/>
          <p:nvPr/>
        </p:nvSpPr>
        <p:spPr>
          <a:xfrm>
            <a:off x="730797" y="3383279"/>
            <a:ext cx="3384725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Limitations</a:t>
            </a:r>
          </a:p>
        </p:txBody>
      </p:sp>
      <p:sp>
        <p:nvSpPr>
          <p:cNvPr id="313" name="Study focused on English-language detectors. Bias patterns may differ for other languages."/>
          <p:cNvSpPr txBox="1"/>
          <p:nvPr/>
        </p:nvSpPr>
        <p:spPr>
          <a:xfrm>
            <a:off x="730797" y="3657598"/>
            <a:ext cx="3384725" cy="367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Study focused on English-language detectors. Bias patterns may differ for other languages.</a:t>
            </a:r>
          </a:p>
        </p:txBody>
      </p:sp>
      <p:sp>
        <p:nvSpPr>
          <p:cNvPr id="314" name="Rectangle"/>
          <p:cNvSpPr/>
          <p:nvPr/>
        </p:nvSpPr>
        <p:spPr>
          <a:xfrm>
            <a:off x="4754879" y="1005838"/>
            <a:ext cx="3932283" cy="210312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15" name="Key Results"/>
          <p:cNvSpPr txBox="1"/>
          <p:nvPr/>
        </p:nvSpPr>
        <p:spPr>
          <a:xfrm>
            <a:off x="5028479" y="1097280"/>
            <a:ext cx="3384723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Key Results</a:t>
            </a:r>
          </a:p>
        </p:txBody>
      </p:sp>
      <p:sp>
        <p:nvSpPr>
          <p:cNvPr id="316" name="61% FP rate on non-native essays vs. near-zero on native essays. Simple rewriting prompt reduced FP from 61% to 12%. Simplifying native text raised FP from 5% to 57%."/>
          <p:cNvSpPr txBox="1"/>
          <p:nvPr/>
        </p:nvSpPr>
        <p:spPr>
          <a:xfrm>
            <a:off x="5028479" y="1371599"/>
            <a:ext cx="3384723" cy="529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61% FP rate on non-native essays vs. near-zero on native essays. Simple rewriting prompt reduced FP from 61% to 12%. Simplifying native text raised FP from 5% to 57%.</a:t>
            </a:r>
          </a:p>
        </p:txBody>
      </p:sp>
      <p:sp>
        <p:nvSpPr>
          <p:cNvPr id="317" name="Rectangle"/>
          <p:cNvSpPr/>
          <p:nvPr/>
        </p:nvSpPr>
        <p:spPr>
          <a:xfrm>
            <a:off x="4754879" y="3291840"/>
            <a:ext cx="3932283" cy="146304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18" name="Relevance to This Study"/>
          <p:cNvSpPr txBox="1"/>
          <p:nvPr/>
        </p:nvSpPr>
        <p:spPr>
          <a:xfrm>
            <a:off x="5028479" y="3383279"/>
            <a:ext cx="3384723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93C5F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Relevance to This Study</a:t>
            </a:r>
          </a:p>
        </p:txBody>
      </p:sp>
      <p:sp>
        <p:nvSpPr>
          <p:cNvPr id="319" name="Motivates awareness of fairness when interpreting detector scores. Demonstrates that simple rewriting prompts can dramatically shift detection - validates our C4 approach."/>
          <p:cNvSpPr txBox="1"/>
          <p:nvPr/>
        </p:nvSpPr>
        <p:spPr>
          <a:xfrm>
            <a:off x="5028479" y="3657599"/>
            <a:ext cx="3384723" cy="552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Motivates awareness of fairness when interpreting detector scores. Demonstrates that simple rewriting prompts can dramatically shift detection - validates our C4 approach.</a:t>
            </a:r>
          </a:p>
        </p:txBody>
      </p:sp>
      <p:sp>
        <p:nvSpPr>
          <p:cNvPr id="320" name="Appendix"/>
          <p:cNvSpPr txBox="1"/>
          <p:nvPr/>
        </p:nvSpPr>
        <p:spPr>
          <a:xfrm>
            <a:off x="8091719" y="4754879"/>
            <a:ext cx="824403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Appendix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ALCE - Citation Quality Metrics  Gao et al. (2023)"/>
          <p:cNvSpPr txBox="1"/>
          <p:nvPr/>
        </p:nvSpPr>
        <p:spPr>
          <a:xfrm>
            <a:off x="502199" y="182878"/>
            <a:ext cx="8139601" cy="382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20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ALCE - Citation Quality Metrics</a:t>
            </a:r>
            <a:r>
              <a:rPr b="0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 xml:space="preserve">  Gao et al. (2023)</a:t>
            </a:r>
          </a:p>
        </p:txBody>
      </p:sp>
      <p:sp>
        <p:nvSpPr>
          <p:cNvPr id="323" name="Tianyu Gao, Howard Yen, Jiatong Yu, Danqi Chen  |  EMNLP 2023"/>
          <p:cNvSpPr txBox="1"/>
          <p:nvPr/>
        </p:nvSpPr>
        <p:spPr>
          <a:xfrm>
            <a:off x="502199" y="640080"/>
            <a:ext cx="8139601" cy="194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15000"/>
              </a:lnSpc>
              <a:defRPr i="1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Tianyu Gao, Howard Yen, Jiatong Yu, Danqi Chen  |  EMNLP 2023</a:t>
            </a:r>
          </a:p>
        </p:txBody>
      </p:sp>
      <p:sp>
        <p:nvSpPr>
          <p:cNvPr id="324" name="Rectangle"/>
          <p:cNvSpPr/>
          <p:nvPr/>
        </p:nvSpPr>
        <p:spPr>
          <a:xfrm>
            <a:off x="457198" y="1005837"/>
            <a:ext cx="3932285" cy="374940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25" name="Core Idea"/>
          <p:cNvSpPr txBox="1"/>
          <p:nvPr/>
        </p:nvSpPr>
        <p:spPr>
          <a:xfrm>
            <a:off x="730797" y="1097280"/>
            <a:ext cx="3384725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Core Idea</a:t>
            </a:r>
          </a:p>
        </p:txBody>
      </p:sp>
      <p:sp>
        <p:nvSpPr>
          <p:cNvPr id="326" name="First reproducible benchmark for evaluating LLM-generated text with citations, measuring fluency, correctness, and citation quality using NLI-based metrics."/>
          <p:cNvSpPr txBox="1"/>
          <p:nvPr/>
        </p:nvSpPr>
        <p:spPr>
          <a:xfrm>
            <a:off x="730797" y="1371599"/>
            <a:ext cx="3384725" cy="529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First reproducible benchmark for evaluating LLM-generated text with citations, measuring fluency, correctness, and citation quality using NLI-based metrics.</a:t>
            </a:r>
          </a:p>
        </p:txBody>
      </p:sp>
      <p:sp>
        <p:nvSpPr>
          <p:cNvPr id="327" name="Method"/>
          <p:cNvSpPr txBox="1"/>
          <p:nvPr/>
        </p:nvSpPr>
        <p:spPr>
          <a:xfrm>
            <a:off x="730797" y="2377438"/>
            <a:ext cx="3384725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Method</a:t>
            </a:r>
          </a:p>
        </p:txBody>
      </p:sp>
      <p:sp>
        <p:nvSpPr>
          <p:cNvPr id="328" name="Three datasets: ASQA, QAMPARI, ELI5. Evaluation via MAUVE (fluency), exact match/F1 (correctness), NLI-based citation precision and recall."/>
          <p:cNvSpPr txBox="1"/>
          <p:nvPr/>
        </p:nvSpPr>
        <p:spPr>
          <a:xfrm>
            <a:off x="730797" y="2651760"/>
            <a:ext cx="3384725" cy="367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Three datasets: ASQA, QAMPARI, ELI5. Evaluation via MAUVE (fluency), exact match/F1 (correctness), NLI-based citation precision and recall.</a:t>
            </a:r>
          </a:p>
        </p:txBody>
      </p:sp>
      <p:sp>
        <p:nvSpPr>
          <p:cNvPr id="329" name="Limitations"/>
          <p:cNvSpPr txBox="1"/>
          <p:nvPr/>
        </p:nvSpPr>
        <p:spPr>
          <a:xfrm>
            <a:off x="730797" y="3383279"/>
            <a:ext cx="3384725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Limitations</a:t>
            </a:r>
          </a:p>
        </p:txBody>
      </p:sp>
      <p:sp>
        <p:nvSpPr>
          <p:cNvPr id="330" name="NLI models may have their own biases. Benchmark focused on English factoid and explanation tasks."/>
          <p:cNvSpPr txBox="1"/>
          <p:nvPr/>
        </p:nvSpPr>
        <p:spPr>
          <a:xfrm>
            <a:off x="730797" y="3657598"/>
            <a:ext cx="3384725" cy="367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NLI models may have their own biases. Benchmark focused on English factoid and explanation tasks.</a:t>
            </a:r>
          </a:p>
        </p:txBody>
      </p:sp>
      <p:sp>
        <p:nvSpPr>
          <p:cNvPr id="331" name="Rectangle"/>
          <p:cNvSpPr/>
          <p:nvPr/>
        </p:nvSpPr>
        <p:spPr>
          <a:xfrm>
            <a:off x="4754879" y="1005838"/>
            <a:ext cx="3932283" cy="210312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32" name="Key Results"/>
          <p:cNvSpPr txBox="1"/>
          <p:nvPr/>
        </p:nvSpPr>
        <p:spPr>
          <a:xfrm>
            <a:off x="5028479" y="1097280"/>
            <a:ext cx="3384723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Key Results</a:t>
            </a:r>
          </a:p>
        </p:txBody>
      </p:sp>
      <p:sp>
        <p:nvSpPr>
          <p:cNvPr id="333" name="Even GPT-4 lacks complete citation support ~50% of the time on ELI5. Closed-book models achieve good correctness but poor citation quality."/>
          <p:cNvSpPr txBox="1"/>
          <p:nvPr/>
        </p:nvSpPr>
        <p:spPr>
          <a:xfrm>
            <a:off x="5028479" y="1371599"/>
            <a:ext cx="3384723" cy="529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Even GPT-4 lacks complete citation support ~50% of the time on ELI5. Closed-book models achieve good correctness but poor citation quality.</a:t>
            </a:r>
          </a:p>
        </p:txBody>
      </p:sp>
      <p:sp>
        <p:nvSpPr>
          <p:cNvPr id="334" name="Rectangle"/>
          <p:cNvSpPr/>
          <p:nvPr/>
        </p:nvSpPr>
        <p:spPr>
          <a:xfrm>
            <a:off x="4754879" y="3291840"/>
            <a:ext cx="3932283" cy="146304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35" name="Relevance to This Study"/>
          <p:cNvSpPr txBox="1"/>
          <p:nvPr/>
        </p:nvSpPr>
        <p:spPr>
          <a:xfrm>
            <a:off x="5028479" y="3383279"/>
            <a:ext cx="3384723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93C5F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Relevance to This Study</a:t>
            </a:r>
          </a:p>
        </p:txBody>
      </p:sp>
      <p:sp>
        <p:nvSpPr>
          <p:cNvPr id="336" name="ALCE's citation quality metrics (NLI-based verification) inform our factual accuracy evaluation - we adapt the principle of checking whether claims are supported by source material."/>
          <p:cNvSpPr txBox="1"/>
          <p:nvPr/>
        </p:nvSpPr>
        <p:spPr>
          <a:xfrm>
            <a:off x="5028479" y="3657599"/>
            <a:ext cx="3384723" cy="552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ALCE's citation quality metrics (NLI-based verification) inform our factual accuracy evaluation - we adapt the principle of checking whether claims are supported by source material.</a:t>
            </a:r>
          </a:p>
        </p:txBody>
      </p:sp>
      <p:sp>
        <p:nvSpPr>
          <p:cNvPr id="337" name="Appendix"/>
          <p:cNvSpPr txBox="1"/>
          <p:nvPr/>
        </p:nvSpPr>
        <p:spPr>
          <a:xfrm>
            <a:off x="8091719" y="4754879"/>
            <a:ext cx="824403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Appendix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Verifiability in Generative Search  Liu et al. (2023)"/>
          <p:cNvSpPr txBox="1"/>
          <p:nvPr/>
        </p:nvSpPr>
        <p:spPr>
          <a:xfrm>
            <a:off x="502199" y="182878"/>
            <a:ext cx="8139601" cy="382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20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Verifiability in Generative Search</a:t>
            </a:r>
            <a:r>
              <a:rPr b="0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 xml:space="preserve">  Liu et al. (2023)</a:t>
            </a:r>
          </a:p>
        </p:txBody>
      </p:sp>
      <p:sp>
        <p:nvSpPr>
          <p:cNvPr id="340" name="Nelson F. Liu, Tianyi Zhang, Percy Liang  |  EMNLP 2023 (Findings)"/>
          <p:cNvSpPr txBox="1"/>
          <p:nvPr/>
        </p:nvSpPr>
        <p:spPr>
          <a:xfrm>
            <a:off x="502199" y="640080"/>
            <a:ext cx="8139601" cy="194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15000"/>
              </a:lnSpc>
              <a:defRPr i="1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Nelson F. Liu, Tianyi Zhang, Percy Liang  |  EMNLP 2023 (Findings)</a:t>
            </a:r>
          </a:p>
        </p:txBody>
      </p:sp>
      <p:sp>
        <p:nvSpPr>
          <p:cNvPr id="341" name="Rectangle"/>
          <p:cNvSpPr/>
          <p:nvPr/>
        </p:nvSpPr>
        <p:spPr>
          <a:xfrm>
            <a:off x="457198" y="1005837"/>
            <a:ext cx="3932285" cy="374940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42" name="Core Idea"/>
          <p:cNvSpPr txBox="1"/>
          <p:nvPr/>
        </p:nvSpPr>
        <p:spPr>
          <a:xfrm>
            <a:off x="730797" y="1097280"/>
            <a:ext cx="3384725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Core Idea</a:t>
            </a:r>
          </a:p>
        </p:txBody>
      </p:sp>
      <p:sp>
        <p:nvSpPr>
          <p:cNvPr id="343" name="Audits four generative search engines for verifiability - whether cited sources actually support generated claims. Finds a significant gap between surface quality and factual support."/>
          <p:cNvSpPr txBox="1"/>
          <p:nvPr/>
        </p:nvSpPr>
        <p:spPr>
          <a:xfrm>
            <a:off x="730797" y="1371599"/>
            <a:ext cx="3384725" cy="529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Audits four generative search engines for verifiability - whether cited sources actually support generated claims. Finds a significant gap between surface quality and factual support.</a:t>
            </a:r>
          </a:p>
        </p:txBody>
      </p:sp>
      <p:sp>
        <p:nvSpPr>
          <p:cNvPr id="344" name="Method"/>
          <p:cNvSpPr txBox="1"/>
          <p:nvPr/>
        </p:nvSpPr>
        <p:spPr>
          <a:xfrm>
            <a:off x="730797" y="2377438"/>
            <a:ext cx="3384725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Method</a:t>
            </a:r>
          </a:p>
        </p:txBody>
      </p:sp>
      <p:sp>
        <p:nvSpPr>
          <p:cNvPr id="345" name="Evaluated Bing Chat, NeevaAI, perplexity.ai, YouChat using citation recall (% statements supported) and citation precision (% citations that support their claim)."/>
          <p:cNvSpPr txBox="1"/>
          <p:nvPr/>
        </p:nvSpPr>
        <p:spPr>
          <a:xfrm>
            <a:off x="730797" y="2651760"/>
            <a:ext cx="3384725" cy="529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Evaluated Bing Chat, NeevaAI, perplexity.ai, YouChat using citation recall (% statements supported) and citation precision (% citations that support their claim).</a:t>
            </a:r>
          </a:p>
        </p:txBody>
      </p:sp>
      <p:sp>
        <p:nvSpPr>
          <p:cNvPr id="346" name="Limitations"/>
          <p:cNvSpPr txBox="1"/>
          <p:nvPr/>
        </p:nvSpPr>
        <p:spPr>
          <a:xfrm>
            <a:off x="730797" y="3383279"/>
            <a:ext cx="3384725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Limitations</a:t>
            </a:r>
          </a:p>
        </p:txBody>
      </p:sp>
      <p:sp>
        <p:nvSpPr>
          <p:cNvPr id="347" name="Evaluated only four systems at a single point in time. Systems have evolved since the study."/>
          <p:cNvSpPr txBox="1"/>
          <p:nvPr/>
        </p:nvSpPr>
        <p:spPr>
          <a:xfrm>
            <a:off x="730797" y="3657598"/>
            <a:ext cx="3384725" cy="367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Evaluated only four systems at a single point in time. Systems have evolved since the study.</a:t>
            </a:r>
          </a:p>
        </p:txBody>
      </p:sp>
      <p:sp>
        <p:nvSpPr>
          <p:cNvPr id="348" name="Rectangle"/>
          <p:cNvSpPr/>
          <p:nvPr/>
        </p:nvSpPr>
        <p:spPr>
          <a:xfrm>
            <a:off x="4754879" y="1005838"/>
            <a:ext cx="3932283" cy="210312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49" name="Key Results"/>
          <p:cNvSpPr txBox="1"/>
          <p:nvPr/>
        </p:nvSpPr>
        <p:spPr>
          <a:xfrm>
            <a:off x="5028479" y="1097280"/>
            <a:ext cx="3384723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Key Results</a:t>
            </a:r>
          </a:p>
        </p:txBody>
      </p:sp>
      <p:sp>
        <p:nvSpPr>
          <p:cNvPr id="350" name="Only 51.5% of generated sentences are fully supported by citations. Only 74.5% of citations actually support their associated statement."/>
          <p:cNvSpPr txBox="1"/>
          <p:nvPr/>
        </p:nvSpPr>
        <p:spPr>
          <a:xfrm>
            <a:off x="5028479" y="1371599"/>
            <a:ext cx="3384723" cy="367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Only 51.5% of generated sentences are fully supported by citations. Only 74.5% of citations actually support their associated statement.</a:t>
            </a:r>
          </a:p>
        </p:txBody>
      </p:sp>
      <p:sp>
        <p:nvSpPr>
          <p:cNvPr id="351" name="Rectangle"/>
          <p:cNvSpPr/>
          <p:nvPr/>
        </p:nvSpPr>
        <p:spPr>
          <a:xfrm>
            <a:off x="4754879" y="3291840"/>
            <a:ext cx="3932283" cy="146304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52" name="Relevance to This Study"/>
          <p:cNvSpPr txBox="1"/>
          <p:nvPr/>
        </p:nvSpPr>
        <p:spPr>
          <a:xfrm>
            <a:off x="5028479" y="3383279"/>
            <a:ext cx="3384723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93C5F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Relevance to This Study</a:t>
            </a:r>
          </a:p>
        </p:txBody>
      </p:sp>
      <p:sp>
        <p:nvSpPr>
          <p:cNvPr id="353" name="Directly motivates our dual-metric approach: measuring both detectability (surface quality) and factual accuracy. Evading detectors but introducing errors is not useful."/>
          <p:cNvSpPr txBox="1"/>
          <p:nvPr/>
        </p:nvSpPr>
        <p:spPr>
          <a:xfrm>
            <a:off x="5028479" y="3657599"/>
            <a:ext cx="3384723" cy="552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Directly motivates our dual-metric approach: measuring both detectability (surface quality) and factual accuracy. Evading detectors but introducing errors is not useful.</a:t>
            </a:r>
          </a:p>
        </p:txBody>
      </p:sp>
      <p:sp>
        <p:nvSpPr>
          <p:cNvPr id="354" name="Appendix"/>
          <p:cNvSpPr txBox="1"/>
          <p:nvPr/>
        </p:nvSpPr>
        <p:spPr>
          <a:xfrm>
            <a:off x="8091719" y="4754879"/>
            <a:ext cx="824403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Appendix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HUMPA - Proxy Attack  Wang et al. (2025)"/>
          <p:cNvSpPr txBox="1"/>
          <p:nvPr/>
        </p:nvSpPr>
        <p:spPr>
          <a:xfrm>
            <a:off x="502199" y="182878"/>
            <a:ext cx="8139601" cy="382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20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HUMPA - Proxy Attack</a:t>
            </a:r>
            <a:r>
              <a:rPr b="0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 xml:space="preserve">  Wang et al. (2025)</a:t>
            </a:r>
          </a:p>
        </p:txBody>
      </p:sp>
      <p:sp>
        <p:nvSpPr>
          <p:cNvPr id="357" name="Tianchun Wang, Yuanzhou Chen, Zichuan Liu, Zhanwen Chen, Haifeng Chen, Xiang Zhang, Wei Cheng  |  ICLR 2025"/>
          <p:cNvSpPr txBox="1"/>
          <p:nvPr/>
        </p:nvSpPr>
        <p:spPr>
          <a:xfrm>
            <a:off x="502199" y="640080"/>
            <a:ext cx="8139601" cy="194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15000"/>
              </a:lnSpc>
              <a:defRPr i="1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Tianchun Wang, Yuanzhou Chen, Zichuan Liu, Zhanwen Chen, Haifeng Chen, Xiang Zhang, Wei Cheng  |  ICLR 2025</a:t>
            </a:r>
          </a:p>
        </p:txBody>
      </p:sp>
      <p:sp>
        <p:nvSpPr>
          <p:cNvPr id="358" name="Rectangle"/>
          <p:cNvSpPr/>
          <p:nvPr/>
        </p:nvSpPr>
        <p:spPr>
          <a:xfrm>
            <a:off x="457198" y="1005837"/>
            <a:ext cx="3932285" cy="374940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59" name="Core Idea"/>
          <p:cNvSpPr txBox="1"/>
          <p:nvPr/>
        </p:nvSpPr>
        <p:spPr>
          <a:xfrm>
            <a:off x="730797" y="1097280"/>
            <a:ext cx="3384725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Core Idea</a:t>
            </a:r>
          </a:p>
        </p:txBody>
      </p:sp>
      <p:sp>
        <p:nvSpPr>
          <p:cNvPr id="360" name="A proxy attack (HUMPA) that uses a small, RL-fine-tuned &quot;humanized&quot; language model to shift a large source model's output distribution toward human-like text during decoding."/>
          <p:cNvSpPr txBox="1"/>
          <p:nvPr/>
        </p:nvSpPr>
        <p:spPr>
          <a:xfrm>
            <a:off x="730797" y="1371599"/>
            <a:ext cx="3384725" cy="529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 proxy attack (HUMPA) that uses a small, RL-fine-tuned "humanized" language model to shift a large source model's output distribution toward human-like text during decoding.</a:t>
            </a:r>
          </a:p>
        </p:txBody>
      </p:sp>
      <p:sp>
        <p:nvSpPr>
          <p:cNvPr id="361" name="Method"/>
          <p:cNvSpPr txBox="1"/>
          <p:nvPr/>
        </p:nvSpPr>
        <p:spPr>
          <a:xfrm>
            <a:off x="730797" y="2377438"/>
            <a:ext cx="3384725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Method</a:t>
            </a:r>
          </a:p>
        </p:txBody>
      </p:sp>
      <p:sp>
        <p:nvSpPr>
          <p:cNvPr id="362" name="Fine-tune a small LM (e.g., Llama3-8B) via DPO with detector-derived preferences. At inference, the humanized SLM modifies the source model's token probabilities. No source model fine-tuning needed."/>
          <p:cNvSpPr txBox="1"/>
          <p:nvPr/>
        </p:nvSpPr>
        <p:spPr>
          <a:xfrm>
            <a:off x="730797" y="2651760"/>
            <a:ext cx="3384725" cy="529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Fine-tune a small LM (e.g., Llama3-8B) via DPO with detector-derived preferences. At inference, the humanized SLM modifies the source model's token probabilities. No source model fine-tuning needed.</a:t>
            </a:r>
          </a:p>
        </p:txBody>
      </p:sp>
      <p:sp>
        <p:nvSpPr>
          <p:cNvPr id="363" name="Limitations"/>
          <p:cNvSpPr txBox="1"/>
          <p:nvPr/>
        </p:nvSpPr>
        <p:spPr>
          <a:xfrm>
            <a:off x="730797" y="3383279"/>
            <a:ext cx="3384725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Limitations</a:t>
            </a:r>
          </a:p>
        </p:txBody>
      </p:sp>
      <p:sp>
        <p:nvSpPr>
          <p:cNvPr id="364" name="Requires training a proxy model. Utility-detectability tradeoff still exists at extreme settings."/>
          <p:cNvSpPr txBox="1"/>
          <p:nvPr/>
        </p:nvSpPr>
        <p:spPr>
          <a:xfrm>
            <a:off x="730797" y="3657598"/>
            <a:ext cx="3384725" cy="367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Requires training a proxy model. Utility-detectability tradeoff still exists at extreme settings.</a:t>
            </a:r>
          </a:p>
        </p:txBody>
      </p:sp>
      <p:sp>
        <p:nvSpPr>
          <p:cNvPr id="365" name="Rectangle"/>
          <p:cNvSpPr/>
          <p:nvPr/>
        </p:nvSpPr>
        <p:spPr>
          <a:xfrm>
            <a:off x="4754879" y="1005838"/>
            <a:ext cx="3932283" cy="210312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66" name="Key Results"/>
          <p:cNvSpPr txBox="1"/>
          <p:nvPr/>
        </p:nvSpPr>
        <p:spPr>
          <a:xfrm>
            <a:off x="5028479" y="1097280"/>
            <a:ext cx="3384723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Key Results</a:t>
            </a:r>
          </a:p>
        </p:txBody>
      </p:sp>
      <p:sp>
        <p:nvSpPr>
          <p:cNvPr id="367" name="Average AUROC drop of 70.4% across datasets. Maximum drop of 95.0% on single dataset. Cross-language scenarios: up to 91.3% relative decrease in detection."/>
          <p:cNvSpPr txBox="1"/>
          <p:nvPr/>
        </p:nvSpPr>
        <p:spPr>
          <a:xfrm>
            <a:off x="5028479" y="1371599"/>
            <a:ext cx="3384723" cy="529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Average AUROC drop of 70.4% across datasets. Maximum drop of 95.0% on single dataset. Cross-language scenarios: up to 91.3% relative decrease in detection.</a:t>
            </a:r>
          </a:p>
        </p:txBody>
      </p:sp>
      <p:sp>
        <p:nvSpPr>
          <p:cNvPr id="368" name="Rectangle"/>
          <p:cNvSpPr/>
          <p:nvPr/>
        </p:nvSpPr>
        <p:spPr>
          <a:xfrm>
            <a:off x="4754879" y="3291840"/>
            <a:ext cx="3932283" cy="146304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69" name="Relevance to This Study"/>
          <p:cNvSpPr txBox="1"/>
          <p:nvPr/>
        </p:nvSpPr>
        <p:spPr>
          <a:xfrm>
            <a:off x="5028479" y="3383279"/>
            <a:ext cx="3384723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93C5F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Relevance to This Study</a:t>
            </a:r>
          </a:p>
        </p:txBody>
      </p:sp>
      <p:sp>
        <p:nvSpPr>
          <p:cNvPr id="370" name="Extends evasion beyond post-hoc paraphrasing to generation-time intervention. Our C4 tests a simpler version; HUMPA shows stronger results at the model level."/>
          <p:cNvSpPr txBox="1"/>
          <p:nvPr/>
        </p:nvSpPr>
        <p:spPr>
          <a:xfrm>
            <a:off x="5028479" y="3657599"/>
            <a:ext cx="3384723" cy="552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Extends evasion beyond post-hoc paraphrasing to generation-time intervention. Our C4 tests a simpler version; HUMPA shows stronger results at the model level.</a:t>
            </a:r>
          </a:p>
        </p:txBody>
      </p:sp>
      <p:sp>
        <p:nvSpPr>
          <p:cNvPr id="371" name="Appendix"/>
          <p:cNvSpPr txBox="1"/>
          <p:nvPr/>
        </p:nvSpPr>
        <p:spPr>
          <a:xfrm>
            <a:off x="8091719" y="4754879"/>
            <a:ext cx="824403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Appendix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DetectRL - Real-World Benchmark  Wu et al. (2024)"/>
          <p:cNvSpPr txBox="1"/>
          <p:nvPr/>
        </p:nvSpPr>
        <p:spPr>
          <a:xfrm>
            <a:off x="502199" y="182878"/>
            <a:ext cx="8139601" cy="382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20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DetectRL - Real-World Benchmark</a:t>
            </a:r>
            <a:r>
              <a:rPr b="0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 xml:space="preserve">  Wu et al. (2024)</a:t>
            </a:r>
          </a:p>
        </p:txBody>
      </p:sp>
      <p:sp>
        <p:nvSpPr>
          <p:cNvPr id="374" name="Junchao Wu, Runzhe Zhan, Derek F. Wong, Shu Yang, Xinyi Yang, Yulin Yuan, Lidia S. Chao  |  NeurIPS 2024 (Datasets and Benchmarks Track)"/>
          <p:cNvSpPr txBox="1"/>
          <p:nvPr/>
        </p:nvSpPr>
        <p:spPr>
          <a:xfrm>
            <a:off x="502199" y="640080"/>
            <a:ext cx="8139601" cy="194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15000"/>
              </a:lnSpc>
              <a:defRPr i="1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Junchao Wu, Runzhe Zhan, Derek F. Wong, Shu Yang, Xinyi Yang, Yulin Yuan, Lidia S. Chao  |  NeurIPS 2024 (Datasets and Benchmarks Track)</a:t>
            </a:r>
          </a:p>
        </p:txBody>
      </p:sp>
      <p:sp>
        <p:nvSpPr>
          <p:cNvPr id="375" name="Rectangle"/>
          <p:cNvSpPr/>
          <p:nvPr/>
        </p:nvSpPr>
        <p:spPr>
          <a:xfrm>
            <a:off x="457198" y="1005837"/>
            <a:ext cx="3932285" cy="374940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76" name="Core Idea"/>
          <p:cNvSpPr txBox="1"/>
          <p:nvPr/>
        </p:nvSpPr>
        <p:spPr>
          <a:xfrm>
            <a:off x="730797" y="1097280"/>
            <a:ext cx="3384725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Core Idea</a:t>
            </a:r>
          </a:p>
        </p:txBody>
      </p:sp>
      <p:sp>
        <p:nvSpPr>
          <p:cNvPr id="377" name="A benchmark showing that SOTA detectors underperform significantly in real-world conditions vs. idealized lab settings, with adversarial perturbations reducing all zero-shot detectors by 39% AUROC."/>
          <p:cNvSpPr txBox="1"/>
          <p:nvPr/>
        </p:nvSpPr>
        <p:spPr>
          <a:xfrm>
            <a:off x="730797" y="1371599"/>
            <a:ext cx="3384725" cy="529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 benchmark showing that SOTA detectors underperform significantly in real-world conditions vs. idealized lab settings, with adversarial perturbations reducing all zero-shot detectors by 39% AUROC.</a:t>
            </a:r>
          </a:p>
        </p:txBody>
      </p:sp>
      <p:sp>
        <p:nvSpPr>
          <p:cNvPr id="378" name="Method"/>
          <p:cNvSpPr txBox="1"/>
          <p:nvPr/>
        </p:nvSpPr>
        <p:spPr>
          <a:xfrm>
            <a:off x="730797" y="2377438"/>
            <a:ext cx="3384725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Method</a:t>
            </a:r>
          </a:p>
        </p:txBody>
      </p:sp>
      <p:sp>
        <p:nvSpPr>
          <p:cNvPr id="379" name="Tests various prompt styles, human revisions, spelling noise, adversarial perturbations, and domain diversity across GPT-3.5, PaLM-2, Claude-instant, Llama-2-70b."/>
          <p:cNvSpPr txBox="1"/>
          <p:nvPr/>
        </p:nvSpPr>
        <p:spPr>
          <a:xfrm>
            <a:off x="730797" y="2651760"/>
            <a:ext cx="3384725" cy="529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Tests various prompt styles, human revisions, spelling noise, adversarial perturbations, and domain diversity across GPT-3.5, PaLM-2, Claude-instant, Llama-2-70b.</a:t>
            </a:r>
          </a:p>
        </p:txBody>
      </p:sp>
      <p:sp>
        <p:nvSpPr>
          <p:cNvPr id="380" name="Limitations"/>
          <p:cNvSpPr txBox="1"/>
          <p:nvPr/>
        </p:nvSpPr>
        <p:spPr>
          <a:xfrm>
            <a:off x="730797" y="3383279"/>
            <a:ext cx="3384725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Limitations</a:t>
            </a:r>
          </a:p>
        </p:txBody>
      </p:sp>
      <p:sp>
        <p:nvSpPr>
          <p:cNvPr id="381" name="Benchmark uses specific LLMs; newer models may produce different results."/>
          <p:cNvSpPr txBox="1"/>
          <p:nvPr/>
        </p:nvSpPr>
        <p:spPr>
          <a:xfrm>
            <a:off x="730797" y="3657598"/>
            <a:ext cx="3384725" cy="367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Benchmark uses specific LLMs; newer models may produce different results.</a:t>
            </a:r>
          </a:p>
        </p:txBody>
      </p:sp>
      <p:sp>
        <p:nvSpPr>
          <p:cNvPr id="382" name="Rectangle"/>
          <p:cNvSpPr/>
          <p:nvPr/>
        </p:nvSpPr>
        <p:spPr>
          <a:xfrm>
            <a:off x="4754879" y="1005838"/>
            <a:ext cx="3932283" cy="210312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83" name="Key Results"/>
          <p:cNvSpPr txBox="1"/>
          <p:nvPr/>
        </p:nvSpPr>
        <p:spPr>
          <a:xfrm>
            <a:off x="5028479" y="1097280"/>
            <a:ext cx="3384723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Key Results</a:t>
            </a:r>
          </a:p>
        </p:txBody>
      </p:sp>
      <p:sp>
        <p:nvSpPr>
          <p:cNvPr id="384" name="Adversarial attacks reduce zero-shot detectors by 39.28% AUROC on average. Informal domain data degrades detection most. Supervised detectors more robust than zero-shot."/>
          <p:cNvSpPr txBox="1"/>
          <p:nvPr/>
        </p:nvSpPr>
        <p:spPr>
          <a:xfrm>
            <a:off x="5028479" y="1371599"/>
            <a:ext cx="3384723" cy="529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Adversarial attacks reduce zero-shot detectors by 39.28% AUROC on average. Informal domain data degrades detection most. Supervised detectors more robust than zero-shot.</a:t>
            </a:r>
          </a:p>
        </p:txBody>
      </p:sp>
      <p:sp>
        <p:nvSpPr>
          <p:cNvPr id="385" name="Rectangle"/>
          <p:cNvSpPr/>
          <p:nvPr/>
        </p:nvSpPr>
        <p:spPr>
          <a:xfrm>
            <a:off x="4754879" y="3291840"/>
            <a:ext cx="3932283" cy="146304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86" name="Relevance to This Study"/>
          <p:cNvSpPr txBox="1"/>
          <p:nvPr/>
        </p:nvSpPr>
        <p:spPr>
          <a:xfrm>
            <a:off x="5028479" y="3383279"/>
            <a:ext cx="3384723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93C5F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Relevance to This Study</a:t>
            </a:r>
          </a:p>
        </p:txBody>
      </p:sp>
      <p:sp>
        <p:nvSpPr>
          <p:cNvPr id="387" name="Validates our multi-detector evaluation approach and the importance of testing under realistic conditions (not just clean AI output vs. clean human text)."/>
          <p:cNvSpPr txBox="1"/>
          <p:nvPr/>
        </p:nvSpPr>
        <p:spPr>
          <a:xfrm>
            <a:off x="5028479" y="3657599"/>
            <a:ext cx="3384723" cy="552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Validates our multi-detector evaluation approach and the importance of testing under realistic conditions (not just clean AI output vs. clean human text).</a:t>
            </a:r>
          </a:p>
        </p:txBody>
      </p:sp>
      <p:sp>
        <p:nvSpPr>
          <p:cNvPr id="388" name="Appendix"/>
          <p:cNvSpPr txBox="1"/>
          <p:nvPr/>
        </p:nvSpPr>
        <p:spPr>
          <a:xfrm>
            <a:off x="8091719" y="4754879"/>
            <a:ext cx="824403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Appendix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Distinct Style Persists  Rivera Soto et al. (2025)"/>
          <p:cNvSpPr txBox="1"/>
          <p:nvPr/>
        </p:nvSpPr>
        <p:spPr>
          <a:xfrm>
            <a:off x="502199" y="182878"/>
            <a:ext cx="8139601" cy="382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20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Distinct Style Persists</a:t>
            </a:r>
            <a:r>
              <a:rPr b="0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 xml:space="preserve">  Rivera Soto et al. (2025)</a:t>
            </a:r>
          </a:p>
        </p:txBody>
      </p:sp>
      <p:sp>
        <p:nvSpPr>
          <p:cNvPr id="391" name="Rafael Rivera Soto, Barry Chen, Nicholas Andrews  |  arXiv preprint (2025)"/>
          <p:cNvSpPr txBox="1"/>
          <p:nvPr/>
        </p:nvSpPr>
        <p:spPr>
          <a:xfrm>
            <a:off x="502199" y="640080"/>
            <a:ext cx="8139601" cy="194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15000"/>
              </a:lnSpc>
              <a:defRPr i="1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Rafael Rivera Soto, Barry Chen, Nicholas Andrews  |  arXiv preprint (2025)</a:t>
            </a:r>
          </a:p>
        </p:txBody>
      </p:sp>
      <p:sp>
        <p:nvSpPr>
          <p:cNvPr id="392" name="Rectangle"/>
          <p:cNvSpPr/>
          <p:nvPr/>
        </p:nvSpPr>
        <p:spPr>
          <a:xfrm>
            <a:off x="457198" y="1005837"/>
            <a:ext cx="3932285" cy="374940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93" name="Core Idea"/>
          <p:cNvSpPr txBox="1"/>
          <p:nvPr/>
        </p:nvSpPr>
        <p:spPr>
          <a:xfrm>
            <a:off x="730797" y="1097280"/>
            <a:ext cx="3384725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Core Idea</a:t>
            </a:r>
          </a:p>
        </p:txBody>
      </p:sp>
      <p:sp>
        <p:nvSpPr>
          <p:cNvPr id="394" name="Even when LLMs are explicitly optimized via RL to evade detectors, they retain identifiable stylistic signatures in a stylistic feature space. Style-aware paraphrasing is needed to truly close the gap."/>
          <p:cNvSpPr txBox="1"/>
          <p:nvPr/>
        </p:nvSpPr>
        <p:spPr>
          <a:xfrm>
            <a:off x="730797" y="1371599"/>
            <a:ext cx="3384725" cy="529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Even when LLMs are explicitly optimized via RL to evade detectors, they retain identifiable stylistic signatures in a stylistic feature space. Style-aware paraphrasing is needed to truly close the gap.</a:t>
            </a:r>
          </a:p>
        </p:txBody>
      </p:sp>
      <p:sp>
        <p:nvSpPr>
          <p:cNvPr id="395" name="Method"/>
          <p:cNvSpPr txBox="1"/>
          <p:nvPr/>
        </p:nvSpPr>
        <p:spPr>
          <a:xfrm>
            <a:off x="730797" y="2377438"/>
            <a:ext cx="3384725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Method</a:t>
            </a:r>
          </a:p>
        </p:txBody>
      </p:sp>
      <p:sp>
        <p:nvSpPr>
          <p:cNvPr id="396" name="Analyzes stylistic features of RL-optimized models. Proposes style-aware paraphrasing that targets both statistical and stylistic detection axes."/>
          <p:cNvSpPr txBox="1"/>
          <p:nvPr/>
        </p:nvSpPr>
        <p:spPr>
          <a:xfrm>
            <a:off x="730797" y="2651760"/>
            <a:ext cx="3384725" cy="529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Analyzes stylistic features of RL-optimized models. Proposes style-aware paraphrasing that targets both statistical and stylistic detection axes.</a:t>
            </a:r>
          </a:p>
        </p:txBody>
      </p:sp>
      <p:sp>
        <p:nvSpPr>
          <p:cNvPr id="397" name="Limitations"/>
          <p:cNvSpPr txBox="1"/>
          <p:nvPr/>
        </p:nvSpPr>
        <p:spPr>
          <a:xfrm>
            <a:off x="730797" y="3383279"/>
            <a:ext cx="3384725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Limitations</a:t>
            </a:r>
          </a:p>
        </p:txBody>
      </p:sp>
      <p:sp>
        <p:nvSpPr>
          <p:cNvPr id="398" name="Multi-sample detection requires multiple documents from the same source, which may not always be available."/>
          <p:cNvSpPr txBox="1"/>
          <p:nvPr/>
        </p:nvSpPr>
        <p:spPr>
          <a:xfrm>
            <a:off x="730797" y="3657598"/>
            <a:ext cx="3384725" cy="367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Multi-sample detection requires multiple documents from the same source, which may not always be available.</a:t>
            </a:r>
          </a:p>
        </p:txBody>
      </p:sp>
      <p:sp>
        <p:nvSpPr>
          <p:cNvPr id="399" name="Rectangle"/>
          <p:cNvSpPr/>
          <p:nvPr/>
        </p:nvSpPr>
        <p:spPr>
          <a:xfrm>
            <a:off x="4754879" y="1005838"/>
            <a:ext cx="3932283" cy="210312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400" name="Key Results"/>
          <p:cNvSpPr txBox="1"/>
          <p:nvPr/>
        </p:nvSpPr>
        <p:spPr>
          <a:xfrm>
            <a:off x="5028479" y="1097280"/>
            <a:ext cx="3384723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Key Results</a:t>
            </a:r>
          </a:p>
        </p:txBody>
      </p:sp>
      <p:sp>
        <p:nvSpPr>
          <p:cNvPr id="401" name="Models fine-tuned to fool detectors still have a distinct writing style. Style-aware paraphrasing evades single-sample detection but multi-sample analysis remains robust."/>
          <p:cNvSpPr txBox="1"/>
          <p:nvPr/>
        </p:nvSpPr>
        <p:spPr>
          <a:xfrm>
            <a:off x="5028479" y="1371599"/>
            <a:ext cx="3384723" cy="529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Models fine-tuned to fool detectors still have a distinct writing style. Style-aware paraphrasing evades single-sample detection but multi-sample analysis remains robust.</a:t>
            </a:r>
          </a:p>
        </p:txBody>
      </p:sp>
      <p:sp>
        <p:nvSpPr>
          <p:cNvPr id="402" name="Rectangle"/>
          <p:cNvSpPr/>
          <p:nvPr/>
        </p:nvSpPr>
        <p:spPr>
          <a:xfrm>
            <a:off x="4754879" y="3291840"/>
            <a:ext cx="3932283" cy="146304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403" name="Relevance to This Study"/>
          <p:cNvSpPr txBox="1"/>
          <p:nvPr/>
        </p:nvSpPr>
        <p:spPr>
          <a:xfrm>
            <a:off x="5028479" y="3383279"/>
            <a:ext cx="3384723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93C5F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Relevance to This Study</a:t>
            </a:r>
          </a:p>
        </p:txBody>
      </p:sp>
      <p:sp>
        <p:nvSpPr>
          <p:cNvPr id="404" name="Directly supports our H5 hypothesis - measurable linguistic features (sentence variance, contractions, discourse markers) form a robust detection axis. Aligns with our 10-feature analysis."/>
          <p:cNvSpPr txBox="1"/>
          <p:nvPr/>
        </p:nvSpPr>
        <p:spPr>
          <a:xfrm>
            <a:off x="5028479" y="3657599"/>
            <a:ext cx="3384723" cy="552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Directly supports our H5 hypothesis - measurable linguistic features (sentence variance, contractions, discourse markers) form a robust detection axis. Aligns with our 10-feature analysis.</a:t>
            </a:r>
          </a:p>
        </p:txBody>
      </p:sp>
      <p:sp>
        <p:nvSpPr>
          <p:cNvPr id="405" name="Appendix"/>
          <p:cNvSpPr txBox="1"/>
          <p:nvPr/>
        </p:nvSpPr>
        <p:spPr>
          <a:xfrm>
            <a:off x="8091719" y="4754879"/>
            <a:ext cx="824403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Appendix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FF"/>
      </a:hlink>
      <a:folHlink>
        <a:srgbClr val="FF00FF"/>
      </a:folHlink>
    </a:clrScheme>
    <a:fontScheme name="Offi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FF"/>
      </a:hlink>
      <a:folHlink>
        <a:srgbClr val="FF00FF"/>
      </a:folHlink>
    </a:clrScheme>
    <a:fontScheme name="Offi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