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</a:pPr>
            <a:r>
              <a:rPr b="1" lang="en-US" sz="28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Context Enrichment and</a:t>
            </a:r>
            <a:endParaRPr b="0" lang="en-US" sz="2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b="1" lang="en-US" sz="28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Style Intervention for Reducing</a:t>
            </a:r>
            <a:endParaRPr b="0" lang="en-US" sz="2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b="1" lang="en-US" sz="28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AI Detectability in Technical Content</a:t>
            </a:r>
            <a:endParaRPr b="0" lang="en-US" sz="2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731520" y="3200400"/>
            <a:ext cx="457200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3a82f6"/>
                </a:solidFill>
                <a:effectLst/>
                <a:uFillTx/>
                <a:latin typeface="Calibri"/>
                <a:ea typeface="Calibri"/>
              </a:rPr>
              <a:t>Yongkyun Lee</a:t>
            </a:r>
            <a:endParaRPr b="0" lang="en-US" sz="1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731520" y="3611880"/>
            <a:ext cx="45720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3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Mini Research Project  -  March 2025</a:t>
            </a:r>
            <a:endParaRPr b="0" lang="en-US" sz="13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 txBox="1"/>
          <p:nvPr/>
        </p:nvSpPr>
        <p:spPr>
          <a:xfrm>
            <a:off x="548640" y="274320"/>
            <a:ext cx="45720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8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About Me</a:t>
            </a:r>
            <a:endParaRPr b="0" lang="en-US" sz="2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5486400" y="274320"/>
            <a:ext cx="3474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1100" strike="noStrike" u="none">
                <a:solidFill>
                  <a:srgbClr val="3a82f6"/>
                </a:solidFill>
                <a:effectLst/>
                <a:uFillTx/>
                <a:latin typeface="Calibri"/>
                <a:ea typeface="Calibri"/>
              </a:rPr>
              <a:t>yongkyun.daniel.lee@gmail.com  |  linkedin.com/in/yongkyunlee</a:t>
            </a:r>
            <a:endParaRPr b="0" lang="en-US" sz="1100" strike="noStrike" u="none">
              <a:solidFill>
                <a:srgbClr val="3a82f6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1188720" y="1005840"/>
            <a:ext cx="27432" cy="2560320"/>
          </a:xfrm>
          <a:prstGeom prst="rect">
            <a:avLst/>
          </a:prstGeom>
          <a:solidFill>
            <a:srgbClr val="3a82f6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/>
          </a:p>
        </p:txBody>
      </p:sp>
      <p:sp>
        <p:nvSpPr>
          <p:cNvPr id="33" name=""/>
          <p:cNvSpPr/>
          <p:nvPr/>
        </p:nvSpPr>
        <p:spPr>
          <a:xfrm>
            <a:off x="1143000" y="1143000"/>
            <a:ext cx="118872" cy="118872"/>
          </a:xfrm>
          <a:prstGeom prst="ellipse">
            <a:avLst/>
          </a:prstGeom>
          <a:solidFill>
            <a:srgbClr val="3a82f6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/>
          </a:p>
        </p:txBody>
      </p:sp>
      <p:sp>
        <p:nvSpPr>
          <p:cNvPr id="34" name=""/>
          <p:cNvSpPr txBox="1"/>
          <p:nvPr/>
        </p:nvSpPr>
        <p:spPr>
          <a:xfrm>
            <a:off x="1508760" y="1051560"/>
            <a:ext cx="70866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4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MS Computer Science</a:t>
            </a:r>
            <a:endParaRPr b="0" lang="en-US" sz="14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  <a:p>
            <a:r>
              <a:rPr b="0" lang="en-US" sz="11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Interested in applied AI/ML and building intelligent systems</a:t>
            </a:r>
            <a:endParaRPr b="0" lang="en-US" sz="1100" strike="noStrike" u="none">
              <a:solidFill>
                <a:srgbClr val="63738b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143000" y="2057400"/>
            <a:ext cx="118872" cy="118872"/>
          </a:xfrm>
          <a:prstGeom prst="ellipse">
            <a:avLst/>
          </a:prstGeom>
          <a:solidFill>
            <a:srgbClr val="3a82f6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/>
          </a:p>
        </p:txBody>
      </p:sp>
      <p:sp>
        <p:nvSpPr>
          <p:cNvPr id="36" name=""/>
          <p:cNvSpPr txBox="1"/>
          <p:nvPr/>
        </p:nvSpPr>
        <p:spPr>
          <a:xfrm>
            <a:off x="1508760" y="1965960"/>
            <a:ext cx="70866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4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Software Engineer</a:t>
            </a:r>
            <a:endParaRPr b="0" lang="en-US" sz="14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  <a:p>
            <a:r>
              <a:rPr b="0" lang="en-US" sz="11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Experience at startups and tech companies, focused on backend systems and data pipelines</a:t>
            </a:r>
            <a:endParaRPr b="0" lang="en-US" sz="1100" strike="noStrike" u="none">
              <a:solidFill>
                <a:srgbClr val="63738b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143000" y="2971800"/>
            <a:ext cx="118872" cy="118872"/>
          </a:xfrm>
          <a:prstGeom prst="ellipse">
            <a:avLst/>
          </a:prstGeom>
          <a:solidFill>
            <a:srgbClr val="3a82f6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/>
          </a:p>
        </p:txBody>
      </p:sp>
      <p:sp>
        <p:nvSpPr>
          <p:cNvPr id="38" name=""/>
          <p:cNvSpPr txBox="1"/>
          <p:nvPr/>
        </p:nvSpPr>
        <p:spPr>
          <a:xfrm>
            <a:off x="1508760" y="2880360"/>
            <a:ext cx="70866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4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Research Interest</a:t>
            </a:r>
            <a:endParaRPr b="0" lang="en-US" sz="14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  <a:p>
            <a:r>
              <a:rPr b="0" lang="en-US" sz="11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Exploring how AI-generated content can be made more natural and trustworthy for technical audiences</a:t>
            </a:r>
            <a:endParaRPr b="0" lang="en-US" sz="1100" strike="noStrike" u="none">
              <a:solidFill>
                <a:srgbClr val="63738b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2 / 16</a:t>
            </a:r>
            <a:endParaRPr b="0" lang="en-US" sz="900" strike="noStrike" u="none">
              <a:solidFill>
                <a:srgbClr val="63738b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 txBox="1"/>
          <p:nvPr/>
        </p:nvSpPr>
        <p:spPr>
          <a:xfrm>
            <a:off x="731520" y="365760"/>
            <a:ext cx="3657600" cy="62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36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tl;dr</a:t>
            </a:r>
            <a:endParaRPr b="0" lang="en-US" sz="36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457200" y="1188720"/>
            <a:ext cx="2606400" cy="3200760"/>
          </a:xfrm>
          <a:custGeom>
            <a:avLst/>
            <a:gdLst/>
            <a:ahLst/>
            <a:rect l="0" t="0" r="r" b="b"/>
            <a:pathLst>
              <a:path w="7240" h="8891">
                <a:moveTo>
                  <a:pt x="0" y="0"/>
                </a:moveTo>
                <a:lnTo>
                  <a:pt x="7240" y="0"/>
                </a:lnTo>
                <a:lnTo>
                  <a:pt x="7240" y="8891"/>
                </a:lnTo>
                <a:lnTo>
                  <a:pt x="0" y="8891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85800" y="1417320"/>
            <a:ext cx="214884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8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Problem</a:t>
            </a:r>
            <a:endParaRPr b="0" lang="en-US" sz="1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85800" y="1920240"/>
            <a:ext cx="2148840" cy="219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5000"/>
              </a:lnSpc>
            </a:pPr>
            <a:r>
              <a:rPr b="0" lang="en-US" sz="12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AI-generated technical content is easily detected - 73% of readers say they can spot it, and detectors report &gt;99% accuracy on raw output.</a:t>
            </a:r>
            <a:endParaRPr b="0" lang="en-US" sz="12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3291840" y="1188720"/>
            <a:ext cx="2606400" cy="3200760"/>
          </a:xfrm>
          <a:custGeom>
            <a:avLst/>
            <a:gdLst/>
            <a:ahLst/>
            <a:rect l="0" t="0" r="r" b="b"/>
            <a:pathLst>
              <a:path w="7240" h="8891">
                <a:moveTo>
                  <a:pt x="0" y="0"/>
                </a:moveTo>
                <a:lnTo>
                  <a:pt x="7240" y="0"/>
                </a:lnTo>
                <a:lnTo>
                  <a:pt x="7240" y="8891"/>
                </a:lnTo>
                <a:lnTo>
                  <a:pt x="0" y="8891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3520440" y="1417320"/>
            <a:ext cx="214884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8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Method</a:t>
            </a:r>
            <a:endParaRPr b="0" lang="en-US" sz="1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3520440" y="1920240"/>
            <a:ext cx="2148840" cy="219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5000"/>
              </a:lnSpc>
            </a:pPr>
            <a:r>
              <a:rPr b="0" lang="en-US" sz="12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5-condition ablation study isolating the effects of context enrichment, style constraints, and post-hoc humanization on detectability and factual accuracy across 15 tasks.</a:t>
            </a:r>
            <a:endParaRPr b="0" lang="en-US" sz="12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6126480" y="1188720"/>
            <a:ext cx="2606400" cy="3200760"/>
          </a:xfrm>
          <a:custGeom>
            <a:avLst/>
            <a:gdLst/>
            <a:ahLst/>
            <a:rect l="0" t="0" r="r" b="b"/>
            <a:pathLst>
              <a:path w="7240" h="8891">
                <a:moveTo>
                  <a:pt x="0" y="0"/>
                </a:moveTo>
                <a:lnTo>
                  <a:pt x="7240" y="0"/>
                </a:lnTo>
                <a:lnTo>
                  <a:pt x="7240" y="8891"/>
                </a:lnTo>
                <a:lnTo>
                  <a:pt x="0" y="8891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355080" y="1417320"/>
            <a:ext cx="214884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8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Key Results</a:t>
            </a:r>
            <a:endParaRPr b="0" lang="en-US" sz="1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6355080" y="1920240"/>
            <a:ext cx="2148840" cy="219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5000"/>
              </a:lnSpc>
            </a:pPr>
            <a:r>
              <a:rPr b="0" lang="en-US" sz="12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Style constraints (C3) reduced AI detection by [X]% while preserving [Y]% accuracy. Post-hoc humanization (C4) achieved lowest scores but introduced factual errors in [Z]% of cases.</a:t>
            </a:r>
            <a:endParaRPr b="0" lang="en-US" sz="12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3 / 16</a:t>
            </a:r>
            <a:endParaRPr b="0" lang="en-US" sz="9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 txBox="1"/>
          <p:nvPr/>
        </p:nvSpPr>
        <p:spPr>
          <a:xfrm>
            <a:off x="731520" y="320040"/>
            <a:ext cx="4572000" cy="56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32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Motivation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i="1" lang="en-US" sz="1400" strike="noStrike" u="none">
                <a:solidFill>
                  <a:srgbClr val="63738b"/>
                </a:solidFill>
                <a:effectLst/>
                <a:uFillTx/>
                <a:latin typeface="Calibri-Italic"/>
                <a:ea typeface="Calibri-Italic"/>
              </a:rPr>
              <a:t>The "AI Slop" Problem in Technical Content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457200" y="1417320"/>
            <a:ext cx="3932280" cy="1371960"/>
          </a:xfrm>
          <a:custGeom>
            <a:avLst/>
            <a:gdLst/>
            <a:ahLst/>
            <a:rect l="0" t="0" r="r" b="b"/>
            <a:pathLst>
              <a:path w="10923" h="3811">
                <a:moveTo>
                  <a:pt x="0" y="0"/>
                </a:moveTo>
                <a:lnTo>
                  <a:pt x="10923" y="0"/>
                </a:lnTo>
                <a:lnTo>
                  <a:pt x="10923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731520" y="1554480"/>
            <a:ext cx="137160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42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9x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2194560" y="1645920"/>
            <a:ext cx="201168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</a:pPr>
            <a:r>
              <a:rPr b="0" lang="en-US" sz="12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Growth in AI-generated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2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content production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4572000" y="1417320"/>
            <a:ext cx="3932280" cy="1371960"/>
          </a:xfrm>
          <a:custGeom>
            <a:avLst/>
            <a:gdLst/>
            <a:ahLst/>
            <a:rect l="0" t="0" r="r" b="b"/>
            <a:pathLst>
              <a:path w="10923" h="3811">
                <a:moveTo>
                  <a:pt x="0" y="0"/>
                </a:moveTo>
                <a:lnTo>
                  <a:pt x="10923" y="0"/>
                </a:lnTo>
                <a:lnTo>
                  <a:pt x="10923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4846320" y="1554480"/>
            <a:ext cx="1371600" cy="133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4200" strike="noStrike" u="none">
                <a:solidFill>
                  <a:srgbClr val="f97215"/>
                </a:solidFill>
                <a:effectLst/>
                <a:uFillTx/>
                <a:latin typeface="TrebuchetMS-Bold"/>
                <a:ea typeface="TrebuchetMS-Bold"/>
              </a:rPr>
              <a:t>73%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6309360" y="1645920"/>
            <a:ext cx="201168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</a:pPr>
            <a:r>
              <a:rPr b="0" lang="en-US" sz="12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Of practitioners say they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2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can identify AI text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457200" y="3017520"/>
            <a:ext cx="3932280" cy="1371960"/>
          </a:xfrm>
          <a:custGeom>
            <a:avLst/>
            <a:gdLst/>
            <a:ahLst/>
            <a:rect l="0" t="0" r="r" b="b"/>
            <a:pathLst>
              <a:path w="10923" h="3811">
                <a:moveTo>
                  <a:pt x="0" y="0"/>
                </a:moveTo>
                <a:lnTo>
                  <a:pt x="10923" y="0"/>
                </a:lnTo>
                <a:lnTo>
                  <a:pt x="10923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731520" y="3154680"/>
            <a:ext cx="1371600" cy="133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4200" strike="noStrike" u="none">
                <a:solidFill>
                  <a:srgbClr val="ef4343"/>
                </a:solidFill>
                <a:effectLst/>
                <a:uFillTx/>
                <a:latin typeface="TrebuchetMS-Bold"/>
                <a:ea typeface="TrebuchetMS-Bold"/>
              </a:rPr>
              <a:t>&gt;99%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2194560" y="3246120"/>
            <a:ext cx="201168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</a:pPr>
            <a:r>
              <a:rPr b="0" lang="en-US" sz="12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Detector accuracy 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2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unmodified AI output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4572000" y="3017520"/>
            <a:ext cx="3932280" cy="1371960"/>
          </a:xfrm>
          <a:custGeom>
            <a:avLst/>
            <a:gdLst/>
            <a:ahLst/>
            <a:rect l="0" t="0" r="r" b="b"/>
            <a:pathLst>
              <a:path w="10923" h="3811">
                <a:moveTo>
                  <a:pt x="0" y="0"/>
                </a:moveTo>
                <a:lnTo>
                  <a:pt x="10923" y="0"/>
                </a:lnTo>
                <a:lnTo>
                  <a:pt x="10923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846320" y="3154680"/>
            <a:ext cx="137160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4200" strike="noStrike" u="none">
                <a:solidFill>
                  <a:srgbClr val="0fb981"/>
                </a:solidFill>
                <a:effectLst/>
                <a:uFillTx/>
                <a:latin typeface="TrebuchetMS-Bold"/>
                <a:ea typeface="TrebuchetMS-Bold"/>
              </a:rPr>
              <a:t>?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309360" y="3246120"/>
            <a:ext cx="201168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</a:pPr>
            <a:r>
              <a:rPr b="0" lang="en-US" sz="12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Which interventions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2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actually reduce detectability?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4 / 16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 txBox="1"/>
          <p:nvPr/>
        </p:nvSpPr>
        <p:spPr>
          <a:xfrm>
            <a:off x="731520" y="320040"/>
            <a:ext cx="73152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8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The Open Question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9" name=""/>
          <p:cNvGraphicFramePr/>
          <p:nvPr/>
        </p:nvGraphicFramePr>
        <p:xfrm>
          <a:off x="457200" y="1005840"/>
          <a:ext cx="8229600" cy="36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3017520"/>
              </a:tblGrid>
              <a:tr h="326160"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4920" marR="34920">
                    <a:lnL w="12960">
                      <a:solidFill>
                        <a:srgbClr val="e2e8f0"/>
                      </a:solidFill>
                      <a:prstDash val="solid"/>
                    </a:lnL>
                    <a:lnR w="12960">
                      <a:solidFill>
                        <a:srgbClr val="e2e8f0"/>
                      </a:solidFill>
                      <a:prstDash val="solid"/>
                    </a:lnR>
                    <a:lnT w="12960">
                      <a:solidFill>
                        <a:srgbClr val="e2e8f0"/>
                      </a:solidFill>
                      <a:prstDash val="solid"/>
                    </a:lnT>
                    <a:lnB w="1296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4920" marR="34920">
                    <a:lnL w="12960">
                      <a:solidFill>
                        <a:srgbClr val="e2e8f0"/>
                      </a:solidFill>
                      <a:prstDash val="solid"/>
                    </a:lnL>
                    <a:lnR w="12960">
                      <a:solidFill>
                        <a:srgbClr val="e2e8f0"/>
                      </a:solidFill>
                      <a:prstDash val="solid"/>
                    </a:lnR>
                    <a:lnT w="12960">
                      <a:solidFill>
                        <a:srgbClr val="e2e8f0"/>
                      </a:solidFill>
                      <a:prstDash val="solid"/>
                    </a:lnT>
                    <a:lnB w="1296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4920" marR="34920">
                    <a:lnL w="12960">
                      <a:solidFill>
                        <a:srgbClr val="e2e8f0"/>
                      </a:solidFill>
                      <a:prstDash val="solid"/>
                    </a:lnL>
                    <a:lnR w="12960">
                      <a:solidFill>
                        <a:srgbClr val="e2e8f0"/>
                      </a:solidFill>
                      <a:prstDash val="solid"/>
                    </a:lnR>
                    <a:lnT w="12960">
                      <a:solidFill>
                        <a:srgbClr val="e2e8f0"/>
                      </a:solidFill>
                      <a:prstDash val="solid"/>
                    </a:lnT>
                    <a:lnB w="1296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326160"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4920" marR="34920">
                    <a:lnL w="12960">
                      <a:solidFill>
                        <a:srgbClr val="e2e8f0"/>
                      </a:solidFill>
                      <a:prstDash val="solid"/>
                    </a:lnL>
                    <a:lnR w="12960">
                      <a:solidFill>
                        <a:srgbClr val="e2e8f0"/>
                      </a:solidFill>
                      <a:prstDash val="solid"/>
                    </a:lnR>
                    <a:lnT w="12960">
                      <a:solidFill>
                        <a:srgbClr val="e2e8f0"/>
                      </a:solidFill>
                      <a:prstDash val="solid"/>
                    </a:lnT>
                    <a:lnB w="1296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4920" marR="34920">
                    <a:lnL w="12960">
                      <a:solidFill>
                        <a:srgbClr val="e2e8f0"/>
                      </a:solidFill>
                      <a:prstDash val="solid"/>
                    </a:lnL>
                    <a:lnR w="12960">
                      <a:solidFill>
                        <a:srgbClr val="e2e8f0"/>
                      </a:solidFill>
                      <a:prstDash val="solid"/>
                    </a:lnR>
                    <a:lnT w="12960">
                      <a:solidFill>
                        <a:srgbClr val="e2e8f0"/>
                      </a:solidFill>
                      <a:prstDash val="solid"/>
                    </a:lnT>
                    <a:lnB w="1296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4920" marR="34920">
                    <a:lnL w="12960">
                      <a:solidFill>
                        <a:srgbClr val="e2e8f0"/>
                      </a:solidFill>
                      <a:prstDash val="solid"/>
                    </a:lnL>
                    <a:lnR w="12960">
                      <a:solidFill>
                        <a:srgbClr val="e2e8f0"/>
                      </a:solidFill>
                      <a:prstDash val="solid"/>
                    </a:lnR>
                    <a:lnT w="12960">
                      <a:solidFill>
                        <a:srgbClr val="e2e8f0"/>
                      </a:solidFill>
                      <a:prstDash val="solid"/>
                    </a:lnT>
                    <a:lnB w="1296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326160"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4920" marR="34920">
                    <a:lnL w="12960">
                      <a:solidFill>
                        <a:srgbClr val="e2e8f0"/>
                      </a:solidFill>
                      <a:prstDash val="solid"/>
                    </a:lnL>
                    <a:lnR w="12960">
                      <a:solidFill>
                        <a:srgbClr val="e2e8f0"/>
                      </a:solidFill>
                      <a:prstDash val="solid"/>
                    </a:lnR>
                    <a:lnT w="12960">
                      <a:solidFill>
                        <a:srgbClr val="e2e8f0"/>
                      </a:solidFill>
                      <a:prstDash val="solid"/>
                    </a:lnT>
                    <a:lnB w="1296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4920" marR="34920">
                    <a:lnL w="12960">
                      <a:solidFill>
                        <a:srgbClr val="e2e8f0"/>
                      </a:solidFill>
                      <a:prstDash val="solid"/>
                    </a:lnL>
                    <a:lnR w="12960">
                      <a:solidFill>
                        <a:srgbClr val="e2e8f0"/>
                      </a:solidFill>
                      <a:prstDash val="solid"/>
                    </a:lnR>
                    <a:lnT w="12960">
                      <a:solidFill>
                        <a:srgbClr val="e2e8f0"/>
                      </a:solidFill>
                      <a:prstDash val="solid"/>
                    </a:lnT>
                    <a:lnB w="1296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4920" marR="34920">
                    <a:lnL w="12960">
                      <a:solidFill>
                        <a:srgbClr val="e2e8f0"/>
                      </a:solidFill>
                      <a:prstDash val="solid"/>
                    </a:lnL>
                    <a:lnR w="12960">
                      <a:solidFill>
                        <a:srgbClr val="e2e8f0"/>
                      </a:solidFill>
                      <a:prstDash val="solid"/>
                    </a:lnR>
                    <a:lnT w="12960">
                      <a:solidFill>
                        <a:srgbClr val="e2e8f0"/>
                      </a:solidFill>
                      <a:prstDash val="solid"/>
                    </a:lnT>
                    <a:lnB w="1296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326160"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4920" marR="34920">
                    <a:lnL w="12960">
                      <a:solidFill>
                        <a:srgbClr val="e2e8f0"/>
                      </a:solidFill>
                      <a:prstDash val="solid"/>
                    </a:lnL>
                    <a:lnR w="12960">
                      <a:solidFill>
                        <a:srgbClr val="e2e8f0"/>
                      </a:solidFill>
                      <a:prstDash val="solid"/>
                    </a:lnR>
                    <a:lnT w="12960">
                      <a:solidFill>
                        <a:srgbClr val="e2e8f0"/>
                      </a:solidFill>
                      <a:prstDash val="solid"/>
                    </a:lnT>
                    <a:lnB w="1296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4920" marR="34920">
                    <a:lnL w="12960">
                      <a:solidFill>
                        <a:srgbClr val="e2e8f0"/>
                      </a:solidFill>
                      <a:prstDash val="solid"/>
                    </a:lnL>
                    <a:lnR w="12960">
                      <a:solidFill>
                        <a:srgbClr val="e2e8f0"/>
                      </a:solidFill>
                      <a:prstDash val="solid"/>
                    </a:lnR>
                    <a:lnT w="12960">
                      <a:solidFill>
                        <a:srgbClr val="e2e8f0"/>
                      </a:solidFill>
                      <a:prstDash val="solid"/>
                    </a:lnT>
                    <a:lnB w="1296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4920" marR="34920">
                    <a:lnL w="12960">
                      <a:solidFill>
                        <a:srgbClr val="e2e8f0"/>
                      </a:solidFill>
                      <a:prstDash val="solid"/>
                    </a:lnL>
                    <a:lnR w="12960">
                      <a:solidFill>
                        <a:srgbClr val="e2e8f0"/>
                      </a:solidFill>
                      <a:prstDash val="solid"/>
                    </a:lnR>
                    <a:lnT w="12960">
                      <a:solidFill>
                        <a:srgbClr val="e2e8f0"/>
                      </a:solidFill>
                      <a:prstDash val="solid"/>
                    </a:lnT>
                    <a:lnB w="1296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326160"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4920" marR="34920">
                    <a:lnL w="12960">
                      <a:solidFill>
                        <a:srgbClr val="e2e8f0"/>
                      </a:solidFill>
                      <a:prstDash val="solid"/>
                    </a:lnL>
                    <a:lnR w="12960">
                      <a:solidFill>
                        <a:srgbClr val="e2e8f0"/>
                      </a:solidFill>
                      <a:prstDash val="solid"/>
                    </a:lnR>
                    <a:lnT w="12960">
                      <a:solidFill>
                        <a:srgbClr val="e2e8f0"/>
                      </a:solidFill>
                      <a:prstDash val="solid"/>
                    </a:lnT>
                    <a:lnB w="1296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4920" marR="34920">
                    <a:lnL w="12960">
                      <a:solidFill>
                        <a:srgbClr val="e2e8f0"/>
                      </a:solidFill>
                      <a:prstDash val="solid"/>
                    </a:lnL>
                    <a:lnR w="12960">
                      <a:solidFill>
                        <a:srgbClr val="e2e8f0"/>
                      </a:solidFill>
                      <a:prstDash val="solid"/>
                    </a:lnR>
                    <a:lnT w="12960">
                      <a:solidFill>
                        <a:srgbClr val="e2e8f0"/>
                      </a:solidFill>
                      <a:prstDash val="solid"/>
                    </a:lnT>
                    <a:lnB w="1296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4920" marR="34920">
                    <a:lnL w="12960">
                      <a:solidFill>
                        <a:srgbClr val="e2e8f0"/>
                      </a:solidFill>
                      <a:prstDash val="solid"/>
                    </a:lnL>
                    <a:lnR w="12960">
                      <a:solidFill>
                        <a:srgbClr val="e2e8f0"/>
                      </a:solidFill>
                      <a:prstDash val="solid"/>
                    </a:lnR>
                    <a:lnT w="12960">
                      <a:solidFill>
                        <a:srgbClr val="e2e8f0"/>
                      </a:solidFill>
                      <a:prstDash val="solid"/>
                    </a:lnT>
                    <a:lnB w="1296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0" name=""/>
          <p:cNvSpPr/>
          <p:nvPr/>
        </p:nvSpPr>
        <p:spPr>
          <a:xfrm>
            <a:off x="457200" y="2606040"/>
            <a:ext cx="8229960" cy="2240640"/>
          </a:xfrm>
          <a:custGeom>
            <a:avLst/>
            <a:gdLst/>
            <a:ahLst/>
            <a:rect l="0" t="0" r="r" b="b"/>
            <a:pathLst>
              <a:path w="22861" h="6224">
                <a:moveTo>
                  <a:pt x="0" y="0"/>
                </a:moveTo>
                <a:lnTo>
                  <a:pt x="22861" y="0"/>
                </a:lnTo>
                <a:lnTo>
                  <a:pt x="22861" y="6224"/>
                </a:lnTo>
                <a:lnTo>
                  <a:pt x="0" y="62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731520" y="2788920"/>
            <a:ext cx="36576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5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Course Connection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731520" y="3246120"/>
            <a:ext cx="768096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60000"/>
              </a:lnSpc>
            </a:pPr>
            <a:r>
              <a:rPr b="1" lang="en-US" sz="1200" strike="noStrike" u="none">
                <a:solidFill>
                  <a:srgbClr val="1d283a"/>
                </a:solidFill>
                <a:effectLst/>
                <a:uFillTx/>
                <a:latin typeface="Calibri-Bold"/>
                <a:ea typeface="Calibri-Bold"/>
              </a:rPr>
              <a:t xml:space="preserve">Lecture 03 (Transformers &amp; LLMs): </a:t>
            </a:r>
            <a:r>
              <a:rPr b="0" lang="en-US" sz="12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Interventions that reduce detectability may introduce hallucinations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b="1" lang="en-US" sz="1200" strike="noStrike" u="none">
                <a:solidFill>
                  <a:srgbClr val="1d283a"/>
                </a:solidFill>
                <a:effectLst/>
                <a:uFillTx/>
                <a:latin typeface="Calibri-Bold"/>
                <a:ea typeface="Calibri-Bold"/>
              </a:rPr>
              <a:t xml:space="preserve">Lecture 09 (Evaluation &amp; Trustworthy AI): </a:t>
            </a:r>
            <a:r>
              <a:rPr b="0" lang="en-US" sz="12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Building automated evaluation for naturalness, a quality dimension that relies on subjective judgment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5 / 16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 txBox="1"/>
          <p:nvPr/>
        </p:nvSpPr>
        <p:spPr>
          <a:xfrm>
            <a:off x="731520" y="320040"/>
            <a:ext cx="4572000" cy="56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32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Literature Review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457200" y="1051560"/>
            <a:ext cx="3932280" cy="3749400"/>
          </a:xfrm>
          <a:custGeom>
            <a:avLst/>
            <a:gdLst/>
            <a:ahLst/>
            <a:rect l="0" t="0" r="r" b="b"/>
            <a:pathLst>
              <a:path w="10923" h="10415">
                <a:moveTo>
                  <a:pt x="0" y="0"/>
                </a:moveTo>
                <a:lnTo>
                  <a:pt x="10923" y="0"/>
                </a:lnTo>
                <a:lnTo>
                  <a:pt x="10923" y="10415"/>
                </a:lnTo>
                <a:lnTo>
                  <a:pt x="0" y="104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685800" y="1234440"/>
            <a:ext cx="347472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5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AI Text Detection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685800" y="1691640"/>
            <a:ext cx="3474720" cy="23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000" strike="noStrike" u="none">
                <a:solidFill>
                  <a:srgbClr val="3a82f6"/>
                </a:solidFill>
                <a:effectLst/>
                <a:uFillTx/>
                <a:latin typeface="Calibri-Bold"/>
                <a:ea typeface="Calibri-Bold"/>
              </a:rPr>
              <a:t>Mitchell et al. (2023)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685800" y="1920240"/>
            <a:ext cx="34747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DetectGPT: Detects AI text zero-shot by measuring log-probability curvature under perturbations. Foundational baseline method used in this study.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85800" y="2700000"/>
            <a:ext cx="3474720" cy="23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000" strike="noStrike" u="none">
                <a:solidFill>
                  <a:srgbClr val="3a82f6"/>
                </a:solidFill>
                <a:effectLst/>
                <a:uFillTx/>
                <a:latin typeface="Calibri-Bold"/>
                <a:ea typeface="Calibri-Bold"/>
              </a:rPr>
              <a:t>Kirchenbauer et al. (2023)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85800" y="2930000"/>
            <a:ext cx="3474720" cy="6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A Watermark for LLMs: Partitions vocabulary into green/red token lists during generation, enabling statistical detection. Establishes proactive watermarking approach.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754880" y="1051560"/>
            <a:ext cx="3932280" cy="3749400"/>
          </a:xfrm>
          <a:custGeom>
            <a:avLst/>
            <a:gdLst/>
            <a:ahLst/>
            <a:rect l="0" t="0" r="r" b="b"/>
            <a:pathLst>
              <a:path w="10923" h="10415">
                <a:moveTo>
                  <a:pt x="0" y="0"/>
                </a:moveTo>
                <a:lnTo>
                  <a:pt x="10923" y="0"/>
                </a:lnTo>
                <a:lnTo>
                  <a:pt x="10923" y="10415"/>
                </a:lnTo>
                <a:lnTo>
                  <a:pt x="0" y="104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4983480" y="1234440"/>
            <a:ext cx="347472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500" strike="noStrike" u="none">
                <a:solidFill>
                  <a:srgbClr val="f97215"/>
                </a:solidFill>
                <a:effectLst/>
                <a:uFillTx/>
                <a:latin typeface="TrebuchetMS-Bold"/>
                <a:ea typeface="TrebuchetMS-Bold"/>
              </a:rPr>
              <a:t>Evasion &amp; Robustness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983480" y="1691640"/>
            <a:ext cx="3474720" cy="23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000" strike="noStrike" u="none">
                <a:solidFill>
                  <a:srgbClr val="f97215"/>
                </a:solidFill>
                <a:effectLst/>
                <a:uFillTx/>
                <a:latin typeface="Calibri-Bold"/>
                <a:ea typeface="Calibri-Bold"/>
              </a:rPr>
              <a:t>Sadasivan et al. (2023)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983480" y="1920240"/>
            <a:ext cx="3474720" cy="50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Can AI Text Be Reliably Detected? Recursive paraphrasing degrades detector accuracy. Proves theoretical impossibility bounds as LLMs improve.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4983480" y="2650000"/>
            <a:ext cx="3474720" cy="23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000" strike="noStrike" u="none">
                <a:solidFill>
                  <a:srgbClr val="f97215"/>
                </a:solidFill>
                <a:effectLst/>
                <a:uFillTx/>
                <a:latin typeface="Calibri-Bold"/>
                <a:ea typeface="Calibri-Bold"/>
              </a:rPr>
              <a:t>Krishna et al. (2023)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983480" y="2880000"/>
            <a:ext cx="3474720" cy="6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Paraphrasing Evades Detectors: 11B-param DIPPER paraphraser defeats watermarking, GPTZero, and DetectGPT. Demonstrates fragility of current detection.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4983480" y="3550000"/>
            <a:ext cx="3474720" cy="23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000" strike="noStrike" u="none">
                <a:solidFill>
                  <a:srgbClr val="f97215"/>
                </a:solidFill>
                <a:effectLst/>
                <a:uFillTx/>
                <a:latin typeface="Calibri-Bold"/>
                <a:ea typeface="Calibri-Bold"/>
              </a:rPr>
              <a:t>Wang et al. (2025)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4983480" y="3780000"/>
            <a:ext cx="3474720" cy="6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HUMPA (ICLR 2025): Trains a proxy LLM via DPO to produce human-like text that evades detectors. Most closely related evasion approach to this study.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6 / 16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 txBox="1"/>
          <p:nvPr/>
        </p:nvSpPr>
        <p:spPr>
          <a:xfrm>
            <a:off x="731520" y="320040"/>
            <a:ext cx="4572000" cy="56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32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Literature Review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029200" y="384120"/>
            <a:ext cx="182880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i="1" lang="en-US" sz="14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(continued)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457200" y="1051560"/>
            <a:ext cx="3932280" cy="3749400"/>
          </a:xfrm>
          <a:custGeom>
            <a:avLst/>
            <a:gdLst/>
            <a:ahLst/>
            <a:rect l="0" t="0" r="r" b="b"/>
            <a:pathLst>
              <a:path w="10923" h="10415">
                <a:moveTo>
                  <a:pt x="0" y="0"/>
                </a:moveTo>
                <a:lnTo>
                  <a:pt x="10923" y="0"/>
                </a:lnTo>
                <a:lnTo>
                  <a:pt x="10923" y="10415"/>
                </a:lnTo>
                <a:lnTo>
                  <a:pt x="0" y="104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85800" y="1234440"/>
            <a:ext cx="3474720" cy="50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400" strike="noStrike" u="none">
                <a:solidFill>
                  <a:srgbClr val="f59e0a"/>
                </a:solidFill>
                <a:effectLst/>
                <a:uFillTx/>
                <a:latin typeface="TrebuchetMS-Bold"/>
                <a:ea typeface="TrebuchetMS-Bold"/>
              </a:rPr>
              <a:t>Detector Limitations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85800" y="1691640"/>
            <a:ext cx="347472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900" strike="noStrike" u="none">
                <a:solidFill>
                  <a:srgbClr val="f59e0a"/>
                </a:solidFill>
                <a:effectLst/>
                <a:uFillTx/>
                <a:latin typeface="Calibri-Bold"/>
                <a:ea typeface="Calibri-Bold"/>
              </a:rPr>
              <a:t>Liang et al. (2023)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685800" y="1892880"/>
            <a:ext cx="3474720" cy="55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GPTZero Bias Study: Detectors show 61% false positive rate on non-native English writing. Highlights equity concerns in detector deployment and evaluation.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685800" y="2530000"/>
            <a:ext cx="347472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900" strike="noStrike" u="none">
                <a:solidFill>
                  <a:srgbClr val="f59e0a"/>
                </a:solidFill>
                <a:effectLst/>
                <a:uFillTx/>
                <a:latin typeface="Calibri-Bold"/>
                <a:ea typeface="Calibri-Bold"/>
              </a:rPr>
              <a:t>Wu et al. (2024)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85800" y="2730000"/>
            <a:ext cx="3474720" cy="55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DetectRL (NeurIPS 2024): Benchmarks SOTA detectors on real-world text, showing significant performance drops vs. lab conditions. Motivates ecological validity.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85800" y="3360000"/>
            <a:ext cx="347472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900" strike="noStrike" u="none">
                <a:solidFill>
                  <a:srgbClr val="f59e0a"/>
                </a:solidFill>
                <a:effectLst/>
                <a:uFillTx/>
                <a:latin typeface="Calibri-Bold"/>
                <a:ea typeface="Calibri-Bold"/>
              </a:rPr>
              <a:t>Gao et al. (2023)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685800" y="3560000"/>
            <a:ext cx="3474720" cy="55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ALCE: Proposes citation-level precision and recall metrics for evaluating factual grounding. Framework adopted for accuracy evaluation in this study.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685800" y="4130000"/>
            <a:ext cx="347472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900" strike="noStrike" u="none">
                <a:solidFill>
                  <a:srgbClr val="f59e0a"/>
                </a:solidFill>
                <a:effectLst/>
                <a:uFillTx/>
                <a:latin typeface="Calibri-Bold"/>
                <a:ea typeface="Calibri-Bold"/>
              </a:rPr>
              <a:t>Liu et al. (2023)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685800" y="4330000"/>
            <a:ext cx="3474720" cy="45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Shows high surface fluency does not guarantee factual accuracy. Motivates our dual-metric design (detectability + factual accuracy).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4754880" y="1051560"/>
            <a:ext cx="3932280" cy="1646280"/>
          </a:xfrm>
          <a:custGeom>
            <a:avLst/>
            <a:gdLst/>
            <a:ahLst/>
            <a:rect l="0" t="0" r="r" b="b"/>
            <a:pathLst>
              <a:path w="10923" h="4573">
                <a:moveTo>
                  <a:pt x="0" y="0"/>
                </a:moveTo>
                <a:lnTo>
                  <a:pt x="10923" y="0"/>
                </a:lnTo>
                <a:lnTo>
                  <a:pt x="10923" y="4573"/>
                </a:lnTo>
                <a:lnTo>
                  <a:pt x="0" y="45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4983480" y="1234440"/>
            <a:ext cx="347472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400" strike="noStrike" u="none">
                <a:solidFill>
                  <a:srgbClr val="0fb981"/>
                </a:solidFill>
                <a:effectLst/>
                <a:uFillTx/>
                <a:latin typeface="TrebuchetMS-Bold"/>
                <a:ea typeface="TrebuchetMS-Bold"/>
              </a:rPr>
              <a:t>Stylistic Features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4983480" y="1600200"/>
            <a:ext cx="347472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900" strike="noStrike" u="none">
                <a:solidFill>
                  <a:srgbClr val="0fb981"/>
                </a:solidFill>
                <a:effectLst/>
                <a:uFillTx/>
                <a:latin typeface="Calibri-Bold"/>
                <a:ea typeface="Calibri-Bold"/>
              </a:rPr>
              <a:t>Rivera Soto et al. (2025)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4983480" y="1801440"/>
            <a:ext cx="347472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Models trained to evade detectors still retain measurable stylistic fingerprints. Supports using linguistic feature analysis as a complementary detection axis.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4754880" y="2926080"/>
            <a:ext cx="3932280" cy="1874880"/>
          </a:xfrm>
          <a:custGeom>
            <a:avLst/>
            <a:gdLst/>
            <a:ahLst/>
            <a:rect l="0" t="0" r="r" b="b"/>
            <a:pathLst>
              <a:path w="10923" h="5208">
                <a:moveTo>
                  <a:pt x="0" y="0"/>
                </a:moveTo>
                <a:lnTo>
                  <a:pt x="10923" y="0"/>
                </a:lnTo>
                <a:lnTo>
                  <a:pt x="10923" y="5208"/>
                </a:lnTo>
                <a:lnTo>
                  <a:pt x="0" y="52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4983480" y="3063240"/>
            <a:ext cx="347472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400" strike="noStrike" u="none">
                <a:solidFill>
                  <a:srgbClr val="93c5fd"/>
                </a:solidFill>
                <a:effectLst/>
                <a:uFillTx/>
                <a:latin typeface="TrebuchetMS-Bold"/>
                <a:ea typeface="TrebuchetMS-Bold"/>
              </a:rPr>
              <a:t>Gap This Study Addresses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4983480" y="3429000"/>
            <a:ext cx="3474720" cy="109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5000"/>
              </a:lnSpc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No prior work systematically isolates which content generation pipeline decisions reduce detectability while tracking factual accuracy as a co-metric. This study fills that gap with a controlled ablation design.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7 / 16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 txBox="1"/>
          <p:nvPr/>
        </p:nvSpPr>
        <p:spPr>
          <a:xfrm>
            <a:off x="731520" y="320040"/>
            <a:ext cx="7315200" cy="56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32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Experimental Design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i="1" lang="en-US" sz="1400" strike="noStrike" u="none">
                <a:solidFill>
                  <a:srgbClr val="63738b"/>
                </a:solidFill>
                <a:effectLst/>
                <a:uFillTx/>
                <a:latin typeface="Calibri-Italic"/>
                <a:ea typeface="Calibri-Italic"/>
              </a:rPr>
              <a:t>5-Condition Ablation Ladder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457200" y="1234440"/>
            <a:ext cx="8229960" cy="567360"/>
          </a:xfrm>
          <a:custGeom>
            <a:avLst/>
            <a:gdLst/>
            <a:ahLst/>
            <a:rect l="0" t="0" r="r" b="b"/>
            <a:pathLst>
              <a:path w="22861" h="1576">
                <a:moveTo>
                  <a:pt x="0" y="0"/>
                </a:moveTo>
                <a:lnTo>
                  <a:pt x="22861" y="0"/>
                </a:lnTo>
                <a:lnTo>
                  <a:pt x="22861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457200" y="1234440"/>
            <a:ext cx="731880" cy="567360"/>
          </a:xfrm>
          <a:custGeom>
            <a:avLst/>
            <a:gdLst/>
            <a:ahLst/>
            <a:rect l="0" t="0" r="r" b="b"/>
            <a:pathLst>
              <a:path w="2033" h="1576">
                <a:moveTo>
                  <a:pt x="0" y="0"/>
                </a:moveTo>
                <a:lnTo>
                  <a:pt x="2033" y="0"/>
                </a:lnTo>
                <a:lnTo>
                  <a:pt x="2033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57200" y="1234440"/>
            <a:ext cx="73152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TrebuchetMS-Bold"/>
                <a:ea typeface="TrebuchetMS-Bold"/>
              </a:rPr>
              <a:t>C1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371600" y="1289160"/>
            <a:ext cx="1828800" cy="253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1d283a"/>
                </a:solidFill>
                <a:effectLst/>
                <a:uFillTx/>
                <a:latin typeface="Courier-Bold"/>
                <a:ea typeface="Courier-Bold"/>
              </a:rPr>
              <a:t>code_only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371600" y="1527120"/>
            <a:ext cx="6858000" cy="22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Baseline - README + source files only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457200" y="1901880"/>
            <a:ext cx="8229960" cy="567360"/>
          </a:xfrm>
          <a:custGeom>
            <a:avLst/>
            <a:gdLst/>
            <a:ahLst/>
            <a:rect l="0" t="0" r="r" b="b"/>
            <a:pathLst>
              <a:path w="22861" h="1576">
                <a:moveTo>
                  <a:pt x="0" y="0"/>
                </a:moveTo>
                <a:lnTo>
                  <a:pt x="22861" y="0"/>
                </a:lnTo>
                <a:lnTo>
                  <a:pt x="22861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457200" y="1901880"/>
            <a:ext cx="731880" cy="567360"/>
          </a:xfrm>
          <a:custGeom>
            <a:avLst/>
            <a:gdLst/>
            <a:ahLst/>
            <a:rect l="0" t="0" r="r" b="b"/>
            <a:pathLst>
              <a:path w="2033" h="1576">
                <a:moveTo>
                  <a:pt x="0" y="0"/>
                </a:moveTo>
                <a:lnTo>
                  <a:pt x="2033" y="0"/>
                </a:lnTo>
                <a:lnTo>
                  <a:pt x="2033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solidFill>
            <a:srgbClr val="3a82f6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457200" y="1901880"/>
            <a:ext cx="73152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TrebuchetMS-Bold"/>
                <a:ea typeface="TrebuchetMS-Bold"/>
              </a:rPr>
              <a:t>C2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371600" y="1956960"/>
            <a:ext cx="1828800" cy="253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1d283a"/>
                </a:solidFill>
                <a:effectLst/>
                <a:uFillTx/>
                <a:latin typeface="Courier-Bold"/>
                <a:ea typeface="Courier-Bold"/>
              </a:rPr>
              <a:t>context_rich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371600" y="2194560"/>
            <a:ext cx="6858000" cy="22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+ GitHub issues, community threads, competitor docs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457200" y="2569320"/>
            <a:ext cx="8229960" cy="567360"/>
          </a:xfrm>
          <a:custGeom>
            <a:avLst/>
            <a:gdLst/>
            <a:ahLst/>
            <a:rect l="0" t="0" r="r" b="b"/>
            <a:pathLst>
              <a:path w="22861" h="1576">
                <a:moveTo>
                  <a:pt x="0" y="0"/>
                </a:moveTo>
                <a:lnTo>
                  <a:pt x="22861" y="0"/>
                </a:lnTo>
                <a:lnTo>
                  <a:pt x="22861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457200" y="2569320"/>
            <a:ext cx="731880" cy="567360"/>
          </a:xfrm>
          <a:custGeom>
            <a:avLst/>
            <a:gdLst/>
            <a:ahLst/>
            <a:rect l="0" t="0" r="r" b="b"/>
            <a:pathLst>
              <a:path w="2033" h="1576">
                <a:moveTo>
                  <a:pt x="0" y="0"/>
                </a:moveTo>
                <a:lnTo>
                  <a:pt x="2033" y="0"/>
                </a:lnTo>
                <a:lnTo>
                  <a:pt x="2033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solidFill>
            <a:srgbClr val="0fb981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57200" y="2569320"/>
            <a:ext cx="73152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TrebuchetMS-Bold"/>
                <a:ea typeface="TrebuchetMS-Bold"/>
              </a:rPr>
              <a:t>C3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371600" y="2624400"/>
            <a:ext cx="1828800" cy="253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1d283a"/>
                </a:solidFill>
                <a:effectLst/>
                <a:uFillTx/>
                <a:latin typeface="Courier-Bold"/>
                <a:ea typeface="Courier-Bold"/>
              </a:rPr>
              <a:t>style_constrained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1371600" y="2862000"/>
            <a:ext cx="6858000" cy="22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+ Persona prompt, anti-pattern rules, style targets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457200" y="3237120"/>
            <a:ext cx="8229960" cy="567360"/>
          </a:xfrm>
          <a:custGeom>
            <a:avLst/>
            <a:gdLst/>
            <a:ahLst/>
            <a:rect l="0" t="0" r="r" b="b"/>
            <a:pathLst>
              <a:path w="22861" h="1576">
                <a:moveTo>
                  <a:pt x="0" y="0"/>
                </a:moveTo>
                <a:lnTo>
                  <a:pt x="22861" y="0"/>
                </a:lnTo>
                <a:lnTo>
                  <a:pt x="22861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457200" y="3237120"/>
            <a:ext cx="731880" cy="567360"/>
          </a:xfrm>
          <a:custGeom>
            <a:avLst/>
            <a:gdLst/>
            <a:ahLst/>
            <a:rect l="0" t="0" r="r" b="b"/>
            <a:pathLst>
              <a:path w="2033" h="1576">
                <a:moveTo>
                  <a:pt x="0" y="0"/>
                </a:moveTo>
                <a:lnTo>
                  <a:pt x="2033" y="0"/>
                </a:lnTo>
                <a:lnTo>
                  <a:pt x="2033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solidFill>
            <a:srgbClr val="f97215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457200" y="3237120"/>
            <a:ext cx="73152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TrebuchetMS-Bold"/>
                <a:ea typeface="TrebuchetMS-Bold"/>
              </a:rPr>
              <a:t>C4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371600" y="3291840"/>
            <a:ext cx="1828800" cy="253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1d283a"/>
                </a:solidFill>
                <a:effectLst/>
                <a:uFillTx/>
                <a:latin typeface="Courier-Bold"/>
                <a:ea typeface="Courier-Bold"/>
              </a:rPr>
              <a:t>humanized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371600" y="3529440"/>
            <a:ext cx="6858000" cy="22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+ C2 output rewritten with "sound human" prompt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57200" y="3904560"/>
            <a:ext cx="8229960" cy="567360"/>
          </a:xfrm>
          <a:custGeom>
            <a:avLst/>
            <a:gdLst/>
            <a:ahLst/>
            <a:rect l="0" t="0" r="r" b="b"/>
            <a:pathLst>
              <a:path w="22861" h="1576">
                <a:moveTo>
                  <a:pt x="0" y="0"/>
                </a:moveTo>
                <a:lnTo>
                  <a:pt x="22861" y="0"/>
                </a:lnTo>
                <a:lnTo>
                  <a:pt x="22861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457200" y="3904560"/>
            <a:ext cx="731880" cy="567360"/>
          </a:xfrm>
          <a:custGeom>
            <a:avLst/>
            <a:gdLst/>
            <a:ahLst/>
            <a:rect l="0" t="0" r="r" b="b"/>
            <a:pathLst>
              <a:path w="2033" h="1576">
                <a:moveTo>
                  <a:pt x="0" y="0"/>
                </a:moveTo>
                <a:lnTo>
                  <a:pt x="2033" y="0"/>
                </a:lnTo>
                <a:lnTo>
                  <a:pt x="2033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solidFill>
            <a:srgbClr val="f59e0a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57200" y="3904560"/>
            <a:ext cx="73152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TrebuchetMS-Bold"/>
                <a:ea typeface="TrebuchetMS-Bold"/>
              </a:rPr>
              <a:t>C5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371600" y="3959280"/>
            <a:ext cx="1828800" cy="253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1d283a"/>
                </a:solidFill>
                <a:effectLst/>
                <a:uFillTx/>
                <a:latin typeface="Courier-Bold"/>
                <a:ea typeface="Courier-Bold"/>
              </a:rPr>
              <a:t>human_baseline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371600" y="4197240"/>
            <a:ext cx="6858000" cy="22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Ground truth - real engineer-written blog posts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457200" y="4663440"/>
            <a:ext cx="8229960" cy="411840"/>
          </a:xfrm>
          <a:custGeom>
            <a:avLst/>
            <a:gdLst/>
            <a:ahLst/>
            <a:rect l="0" t="0" r="r" b="b"/>
            <a:pathLst>
              <a:path w="22861" h="1144">
                <a:moveTo>
                  <a:pt x="0" y="0"/>
                </a:moveTo>
                <a:lnTo>
                  <a:pt x="22861" y="0"/>
                </a:lnTo>
                <a:lnTo>
                  <a:pt x="22861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31520" y="4663440"/>
            <a:ext cx="768096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15 tasks  ×  2 projects (CrewAI, DuckDB)  ×  3 runs/condition  =  195 total documents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8 / 16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 txBox="1"/>
          <p:nvPr/>
        </p:nvSpPr>
        <p:spPr>
          <a:xfrm>
            <a:off x="731520" y="320040"/>
            <a:ext cx="73152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8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Style Constraint Design (C3)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457200" y="1005840"/>
            <a:ext cx="8229960" cy="594720"/>
          </a:xfrm>
          <a:custGeom>
            <a:avLst/>
            <a:gdLst/>
            <a:ahLst/>
            <a:rect l="0" t="0" r="r" b="b"/>
            <a:pathLst>
              <a:path w="22861" h="1652">
                <a:moveTo>
                  <a:pt x="0" y="0"/>
                </a:moveTo>
                <a:lnTo>
                  <a:pt x="22861" y="0"/>
                </a:lnTo>
                <a:lnTo>
                  <a:pt x="22861" y="1652"/>
                </a:lnTo>
                <a:lnTo>
                  <a:pt x="0" y="165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731520" y="1005840"/>
            <a:ext cx="7680960" cy="59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i="1" lang="en-US" sz="1100" strike="noStrike" u="none">
                <a:solidFill>
                  <a:srgbClr val="93c5fd"/>
                </a:solidFill>
                <a:effectLst/>
                <a:uFillTx/>
                <a:latin typeface="Calibri-Italic"/>
                <a:ea typeface="Calibri-Italic"/>
              </a:rPr>
              <a:t>Persona: "You are a senior backend engineer writing for other engineers. Sound experienced and opinionated."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57200" y="1828800"/>
            <a:ext cx="2560680" cy="2926440"/>
          </a:xfrm>
          <a:custGeom>
            <a:avLst/>
            <a:gdLst/>
            <a:ahLst/>
            <a:rect l="0" t="0" r="r" b="b"/>
            <a:pathLst>
              <a:path w="7113" h="8129">
                <a:moveTo>
                  <a:pt x="0" y="0"/>
                </a:moveTo>
                <a:lnTo>
                  <a:pt x="7113" y="0"/>
                </a:lnTo>
                <a:lnTo>
                  <a:pt x="7113" y="8129"/>
                </a:lnTo>
                <a:lnTo>
                  <a:pt x="0" y="8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640080" y="1965960"/>
            <a:ext cx="219456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3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Sentence Structure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640080" y="2331720"/>
            <a:ext cx="2194560" cy="219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161280" indent="-161280">
              <a:lnSpc>
                <a:spcPct val="120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Vary sentence length: mix short (5-8 words) with longer (20-30)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1280" indent="-161280">
              <a:lnSpc>
                <a:spcPct val="120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Use contractions naturally: don't, it's, we've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1280" indent="-161280">
              <a:lnSpc>
                <a:spcPct val="120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Start some sentences with I, We, So, But, or And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3291840" y="1828800"/>
            <a:ext cx="2560680" cy="2926440"/>
          </a:xfrm>
          <a:custGeom>
            <a:avLst/>
            <a:gdLst/>
            <a:ahLst/>
            <a:rect l="0" t="0" r="r" b="b"/>
            <a:pathLst>
              <a:path w="7113" h="8129">
                <a:moveTo>
                  <a:pt x="0" y="0"/>
                </a:moveTo>
                <a:lnTo>
                  <a:pt x="7113" y="0"/>
                </a:lnTo>
                <a:lnTo>
                  <a:pt x="7113" y="8129"/>
                </a:lnTo>
                <a:lnTo>
                  <a:pt x="0" y="8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3474720" y="1965960"/>
            <a:ext cx="219456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300" strike="noStrike" u="none">
                <a:solidFill>
                  <a:srgbClr val="ef4343"/>
                </a:solidFill>
                <a:effectLst/>
                <a:uFillTx/>
                <a:latin typeface="TrebuchetMS-Bold"/>
                <a:ea typeface="TrebuchetMS-Bold"/>
              </a:rPr>
              <a:t>Anti-Pattern Rules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3474720" y="2331720"/>
            <a:ext cx="2194560" cy="219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161280" indent="-161280">
              <a:lnSpc>
                <a:spcPct val="120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Never start with: "In the world of", "In today's", "Let's dive in"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1280" indent="-161280">
              <a:lnSpc>
                <a:spcPct val="120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Never use: "Furthermore", "Moreover", "It's important to note"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1280" indent="-161280">
              <a:lnSpc>
                <a:spcPct val="120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No excessive bullet lists - prefer prose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1280" indent="-161280">
              <a:lnSpc>
                <a:spcPct val="120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No hedging: "arguably", "one might argue"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6126480" y="1828800"/>
            <a:ext cx="2560680" cy="2926440"/>
          </a:xfrm>
          <a:custGeom>
            <a:avLst/>
            <a:gdLst/>
            <a:ahLst/>
            <a:rect l="0" t="0" r="r" b="b"/>
            <a:pathLst>
              <a:path w="7113" h="8129">
                <a:moveTo>
                  <a:pt x="0" y="0"/>
                </a:moveTo>
                <a:lnTo>
                  <a:pt x="7113" y="0"/>
                </a:lnTo>
                <a:lnTo>
                  <a:pt x="7113" y="8129"/>
                </a:lnTo>
                <a:lnTo>
                  <a:pt x="0" y="8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309360" y="1965960"/>
            <a:ext cx="219456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300" strike="noStrike" u="none">
                <a:solidFill>
                  <a:srgbClr val="0fb981"/>
                </a:solidFill>
                <a:effectLst/>
                <a:uFillTx/>
                <a:latin typeface="TrebuchetMS-Bold"/>
                <a:ea typeface="TrebuchetMS-Bold"/>
              </a:rPr>
              <a:t>Content Rules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6309360" y="2331720"/>
            <a:ext cx="2194560" cy="219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161280" indent="-161280">
              <a:lnSpc>
                <a:spcPct val="120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Include at least one specific version number, date, or command from sources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1280" indent="-161280">
              <a:lnSpc>
                <a:spcPct val="120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Only mention errors/configs that appear in provided sources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1280" indent="-161280">
              <a:lnSpc>
                <a:spcPct val="120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Include one grounded trade-off judgment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9 / 16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 txBox="1"/>
          <p:nvPr/>
        </p:nvSpPr>
        <p:spPr>
          <a:xfrm>
            <a:off x="731520" y="320040"/>
            <a:ext cx="7315200" cy="916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8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Methodology: Three Evaluation Axes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457200" y="1097280"/>
            <a:ext cx="2606400" cy="3657960"/>
          </a:xfrm>
          <a:custGeom>
            <a:avLst/>
            <a:gdLst/>
            <a:ahLst/>
            <a:rect l="0" t="0" r="r" b="b"/>
            <a:pathLst>
              <a:path w="7240" h="10161">
                <a:moveTo>
                  <a:pt x="0" y="0"/>
                </a:moveTo>
                <a:lnTo>
                  <a:pt x="7240" y="0"/>
                </a:lnTo>
                <a:lnTo>
                  <a:pt x="7240" y="10161"/>
                </a:lnTo>
                <a:lnTo>
                  <a:pt x="0" y="101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640080" y="1371600"/>
            <a:ext cx="224028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1" lang="en-US" sz="14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AI Detectability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685800" y="2423160"/>
            <a:ext cx="2194560" cy="210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161280" indent="-161280">
              <a:lnSpc>
                <a:spcPct val="130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GPTZero (primary): human_prob per document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1280" indent="-161280">
              <a:lnSpc>
                <a:spcPct val="130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Originality.ai (secondary): 100 - ai_score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1280" indent="-161280">
              <a:lnSpc>
                <a:spcPct val="130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Cross-check: Cohen's kappa between detectors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3291840" y="1097280"/>
            <a:ext cx="2606400" cy="3657960"/>
          </a:xfrm>
          <a:custGeom>
            <a:avLst/>
            <a:gdLst/>
            <a:ahLst/>
            <a:rect l="0" t="0" r="r" b="b"/>
            <a:pathLst>
              <a:path w="7240" h="10161">
                <a:moveTo>
                  <a:pt x="0" y="0"/>
                </a:moveTo>
                <a:lnTo>
                  <a:pt x="7240" y="0"/>
                </a:lnTo>
                <a:lnTo>
                  <a:pt x="7240" y="10161"/>
                </a:lnTo>
                <a:lnTo>
                  <a:pt x="0" y="101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3474720" y="1371600"/>
            <a:ext cx="224028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1" lang="en-US" sz="1400" strike="noStrike" u="none">
                <a:solidFill>
                  <a:srgbClr val="0fb981"/>
                </a:solidFill>
                <a:effectLst/>
                <a:uFillTx/>
                <a:latin typeface="TrebuchetMS-Bold"/>
                <a:ea typeface="TrebuchetMS-Bold"/>
              </a:rPr>
              <a:t>Factual Accuracy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3520440" y="2423160"/>
            <a:ext cx="2194560" cy="210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161280" indent="-161280">
              <a:lnSpc>
                <a:spcPct val="130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Hybrid slot accuracy: literal/regex + LLM judge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1280" indent="-161280">
              <a:lnSpc>
                <a:spcPct val="130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Strict slot accuracy: literal/regex only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1280" indent="-161280">
              <a:lnSpc>
                <a:spcPct val="130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Full rubric-based LLM audit per slot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6126480" y="1097280"/>
            <a:ext cx="2606400" cy="3657960"/>
          </a:xfrm>
          <a:custGeom>
            <a:avLst/>
            <a:gdLst/>
            <a:ahLst/>
            <a:rect l="0" t="0" r="r" b="b"/>
            <a:pathLst>
              <a:path w="7240" h="10161">
                <a:moveTo>
                  <a:pt x="0" y="0"/>
                </a:moveTo>
                <a:lnTo>
                  <a:pt x="7240" y="0"/>
                </a:lnTo>
                <a:lnTo>
                  <a:pt x="7240" y="10161"/>
                </a:lnTo>
                <a:lnTo>
                  <a:pt x="0" y="101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309360" y="1371600"/>
            <a:ext cx="224028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1" lang="en-US" sz="1400" strike="noStrike" u="none">
                <a:solidFill>
                  <a:srgbClr val="f97215"/>
                </a:solidFill>
                <a:effectLst/>
                <a:uFillTx/>
                <a:latin typeface="TrebuchetMS-Bold"/>
                <a:ea typeface="TrebuchetMS-Bold"/>
              </a:rPr>
              <a:t>Linguistic Features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6355080" y="2423160"/>
            <a:ext cx="2194560" cy="210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161280" indent="-161280">
              <a:lnSpc>
                <a:spcPct val="130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10 features per document (spaCy)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1280" indent="-161280">
              <a:lnSpc>
                <a:spcPct val="130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sent_len_std, vocab_diversity, contraction_rate, etc.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1280" indent="-161280">
              <a:lnSpc>
                <a:spcPct val="130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Cosine distance from human (C5) vector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10 / 16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 txBox="1"/>
          <p:nvPr/>
        </p:nvSpPr>
        <p:spPr>
          <a:xfrm>
            <a:off x="731520" y="320040"/>
            <a:ext cx="73152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8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Results: AI Detectability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457200" y="1005840"/>
            <a:ext cx="8229960" cy="3200760"/>
          </a:xfrm>
          <a:custGeom>
            <a:avLst/>
            <a:gdLst/>
            <a:ahLst/>
            <a:rect l="0" t="0" r="r" b="b"/>
            <a:pathLst>
              <a:path w="22861" h="8891">
                <a:moveTo>
                  <a:pt x="0" y="0"/>
                </a:moveTo>
                <a:lnTo>
                  <a:pt x="22861" y="0"/>
                </a:lnTo>
                <a:lnTo>
                  <a:pt x="22861" y="8891"/>
                </a:lnTo>
                <a:lnTo>
                  <a:pt x="0" y="88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0" i="1" lang="en-US" sz="18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GPTZero &amp; Originality.ai results charts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i="1" lang="en-US" sz="18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will be inserted here after experimentation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457200" y="4343400"/>
            <a:ext cx="8229960" cy="503280"/>
          </a:xfrm>
          <a:custGeom>
            <a:avLst/>
            <a:gdLst/>
            <a:ahLst/>
            <a:rect l="0" t="0" r="r" b="b"/>
            <a:pathLst>
              <a:path w="22861" h="1398">
                <a:moveTo>
                  <a:pt x="0" y="0"/>
                </a:moveTo>
                <a:lnTo>
                  <a:pt x="22861" y="0"/>
                </a:lnTo>
                <a:lnTo>
                  <a:pt x="22861" y="1398"/>
                </a:lnTo>
                <a:lnTo>
                  <a:pt x="0" y="13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731520" y="4343400"/>
            <a:ext cx="7680960" cy="50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Statistical tests (Paired Wilcoxon, n=15) - results pending experimentation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11 / 16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 txBox="1"/>
          <p:nvPr/>
        </p:nvSpPr>
        <p:spPr>
          <a:xfrm>
            <a:off x="731520" y="320040"/>
            <a:ext cx="73152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8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Results: Detectability vs. Accuracy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731520" y="822960"/>
            <a:ext cx="7315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i="1" lang="en-US" sz="1400" strike="noStrike" u="none">
                <a:solidFill>
                  <a:srgbClr val="63738b"/>
                </a:solidFill>
                <a:effectLst/>
                <a:uFillTx/>
                <a:latin typeface="Calibri-Italic"/>
                <a:ea typeface="Calibri-Italic"/>
              </a:rPr>
              <a:t>The Pareto Frontier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457200" y="1280160"/>
            <a:ext cx="5029560" cy="3475080"/>
          </a:xfrm>
          <a:custGeom>
            <a:avLst/>
            <a:gdLst/>
            <a:ahLst/>
            <a:rect l="0" t="0" r="r" b="b"/>
            <a:pathLst>
              <a:path w="13971" h="9653">
                <a:moveTo>
                  <a:pt x="0" y="0"/>
                </a:moveTo>
                <a:lnTo>
                  <a:pt x="13971" y="0"/>
                </a:lnTo>
                <a:lnTo>
                  <a:pt x="13971" y="9653"/>
                </a:lnTo>
                <a:lnTo>
                  <a:pt x="0" y="96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914400" y="2011680"/>
            <a:ext cx="411480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0" i="1" lang="en-US" sz="16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Pareto frontier scatter plot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i="1" lang="en-US" sz="16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(accuracy vs. detectability)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i="1" lang="en-US" sz="16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will be inserted here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5760720" y="1280160"/>
            <a:ext cx="2926440" cy="3475080"/>
          </a:xfrm>
          <a:custGeom>
            <a:avLst/>
            <a:gdLst/>
            <a:ahLst/>
            <a:rect l="0" t="0" r="r" b="b"/>
            <a:pathLst>
              <a:path w="8129" h="9653">
                <a:moveTo>
                  <a:pt x="0" y="0"/>
                </a:moveTo>
                <a:lnTo>
                  <a:pt x="8129" y="0"/>
                </a:lnTo>
                <a:lnTo>
                  <a:pt x="8129" y="9653"/>
                </a:lnTo>
                <a:lnTo>
                  <a:pt x="0" y="96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5943600" y="1463040"/>
            <a:ext cx="256032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4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Key Findings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5943600" y="1920240"/>
            <a:ext cx="25603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</a:pPr>
            <a:r>
              <a:rPr b="0" lang="en-US" sz="11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Takeaway: Context + style rules offer the best accuracy-preserving path to reduced detectability.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5943600" y="3017520"/>
            <a:ext cx="256032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i="1" lang="en-US" sz="10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Detailed metrics table pending experimentation results.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12 / 16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 txBox="1"/>
          <p:nvPr/>
        </p:nvSpPr>
        <p:spPr>
          <a:xfrm>
            <a:off x="731520" y="320040"/>
            <a:ext cx="7315200" cy="916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8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Results: Linguistic Feature Analysis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457200" y="1005840"/>
            <a:ext cx="5029560" cy="2377800"/>
          </a:xfrm>
          <a:custGeom>
            <a:avLst/>
            <a:gdLst/>
            <a:ahLst/>
            <a:rect l="0" t="0" r="r" b="b"/>
            <a:pathLst>
              <a:path w="13971" h="6605">
                <a:moveTo>
                  <a:pt x="0" y="0"/>
                </a:moveTo>
                <a:lnTo>
                  <a:pt x="13971" y="0"/>
                </a:lnTo>
                <a:lnTo>
                  <a:pt x="13971" y="6605"/>
                </a:lnTo>
                <a:lnTo>
                  <a:pt x="0" y="6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914400" y="1463040"/>
            <a:ext cx="411480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0" i="1" lang="en-US" sz="14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Feature profile heatmap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i="1" lang="en-US" sz="14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(normalized to human baseline)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i="1" lang="en-US" sz="14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will be inserted here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5760720" y="1005840"/>
            <a:ext cx="2926440" cy="2377800"/>
          </a:xfrm>
          <a:custGeom>
            <a:avLst/>
            <a:gdLst/>
            <a:ahLst/>
            <a:rect l="0" t="0" r="r" b="b"/>
            <a:pathLst>
              <a:path w="8129" h="6605">
                <a:moveTo>
                  <a:pt x="0" y="0"/>
                </a:moveTo>
                <a:lnTo>
                  <a:pt x="8129" y="0"/>
                </a:lnTo>
                <a:lnTo>
                  <a:pt x="8129" y="6605"/>
                </a:lnTo>
                <a:lnTo>
                  <a:pt x="0" y="6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5943600" y="1188720"/>
            <a:ext cx="256032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300" strike="noStrike" u="none">
                <a:solidFill>
                  <a:srgbClr val="f97215"/>
                </a:solidFill>
                <a:effectLst/>
                <a:uFillTx/>
                <a:latin typeface="TrebuchetMS-Bold"/>
                <a:ea typeface="TrebuchetMS-Bold"/>
              </a:rPr>
              <a:t>Regression Results (H5)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5943600" y="1554480"/>
            <a:ext cx="256032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40000"/>
              </a:lnSpc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Which features predict detectability?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Top predictors and Model R² pending experimentation.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457200" y="3657600"/>
            <a:ext cx="8229960" cy="1189080"/>
          </a:xfrm>
          <a:custGeom>
            <a:avLst/>
            <a:gdLst/>
            <a:ahLst/>
            <a:rect l="0" t="0" r="r" b="b"/>
            <a:pathLst>
              <a:path w="22861" h="3303">
                <a:moveTo>
                  <a:pt x="0" y="0"/>
                </a:moveTo>
                <a:lnTo>
                  <a:pt x="22861" y="0"/>
                </a:lnTo>
                <a:lnTo>
                  <a:pt x="22861" y="3303"/>
                </a:lnTo>
                <a:lnTo>
                  <a:pt x="0" y="33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731520" y="3749040"/>
            <a:ext cx="182880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300" strike="noStrike" u="none">
                <a:solidFill>
                  <a:srgbClr val="93c5fd"/>
                </a:solidFill>
                <a:effectLst/>
                <a:uFillTx/>
                <a:latin typeface="TrebuchetMS-Bold"/>
                <a:ea typeface="TrebuchetMS-Bold"/>
              </a:rPr>
              <a:t>Interpretation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777240" y="4069080"/>
            <a:ext cx="758952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161280" indent="-161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C3 style rules directly target the top predictive features (discourse markers, contractions, sentence variance)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1280" indent="-161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Detector scores track measurable stylistic patterns - not a black box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1280" indent="-161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Targeted style interventions can be principled, not just heuristic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13 / 16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 txBox="1"/>
          <p:nvPr/>
        </p:nvSpPr>
        <p:spPr>
          <a:xfrm>
            <a:off x="731520" y="320040"/>
            <a:ext cx="73152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8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Code &amp; Implementation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457200" y="1005840"/>
            <a:ext cx="4755240" cy="3840840"/>
          </a:xfrm>
          <a:custGeom>
            <a:avLst/>
            <a:gdLst/>
            <a:ahLst/>
            <a:rect l="0" t="0" r="r" b="b"/>
            <a:pathLst>
              <a:path w="13209" h="10669">
                <a:moveTo>
                  <a:pt x="0" y="0"/>
                </a:moveTo>
                <a:lnTo>
                  <a:pt x="13209" y="0"/>
                </a:lnTo>
                <a:lnTo>
                  <a:pt x="13209" y="10669"/>
                </a:lnTo>
                <a:lnTo>
                  <a:pt x="0" y="106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640080" y="1097280"/>
            <a:ext cx="438912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300" strike="noStrike" u="none">
                <a:solidFill>
                  <a:srgbClr val="93c5fd"/>
                </a:solidFill>
                <a:effectLst/>
                <a:uFillTx/>
                <a:latin typeface="TrebuchetMS-Bold"/>
                <a:ea typeface="TrebuchetMS-Bold"/>
              </a:rPr>
              <a:t>Repository Structure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685800" y="1463040"/>
            <a:ext cx="4297680" cy="3200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5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>ai-detectability-research/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 xml:space="preserve"> configs/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 xml:space="preserve">   conditions.yaml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 xml:space="preserve">   style_rules.yaml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 xml:space="preserve">   validators.yaml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 xml:space="preserve"> data/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 xml:space="preserve">   tasks/  context/  human_baselines/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 xml:space="preserve">   generated/  results/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 xml:space="preserve"> src/ai_text_quality/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 xml:space="preserve">   generate.py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 xml:space="preserve">   detect.py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 xml:space="preserve">   factcheck.py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 xml:space="preserve">   linguistic.py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 xml:space="preserve"> notebooks/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ourier New"/>
                <a:ea typeface="Courier New"/>
              </a:rPr>
              <a:t xml:space="preserve">   01-05 (design → analysis)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5486400" y="1005840"/>
            <a:ext cx="3200760" cy="3840840"/>
          </a:xfrm>
          <a:custGeom>
            <a:avLst/>
            <a:gdLst/>
            <a:ahLst/>
            <a:rect l="0" t="0" r="r" b="b"/>
            <a:pathLst>
              <a:path w="8891" h="10669">
                <a:moveTo>
                  <a:pt x="0" y="0"/>
                </a:moveTo>
                <a:lnTo>
                  <a:pt x="8891" y="0"/>
                </a:lnTo>
                <a:lnTo>
                  <a:pt x="8891" y="10669"/>
                </a:lnTo>
                <a:lnTo>
                  <a:pt x="0" y="106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5669280" y="1188720"/>
            <a:ext cx="283464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4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Tech Stack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5669280" y="1600200"/>
            <a:ext cx="2834640" cy="23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0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Generation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5669280" y="1801440"/>
            <a:ext cx="283464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Claude Sonnet 4 via Anthropic API (temp=0.3, 3 runs)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5669280" y="2331720"/>
            <a:ext cx="2834640" cy="23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0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Detection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5669280" y="2532960"/>
            <a:ext cx="283464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GPTZero API + Originality.ai API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669280" y="3063240"/>
            <a:ext cx="2834640" cy="23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0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Linguistics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5669280" y="3264480"/>
            <a:ext cx="283464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spaCy (en_core_web_sm)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5669280" y="3794760"/>
            <a:ext cx="2834640" cy="23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0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Statistics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5669280" y="3996000"/>
            <a:ext cx="283464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SciPy (Wilcoxon), statsmodels (regression)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5486400" y="4069080"/>
            <a:ext cx="3200760" cy="503280"/>
          </a:xfrm>
          <a:custGeom>
            <a:avLst/>
            <a:gdLst/>
            <a:ahLst/>
            <a:rect l="0" t="0" r="r" b="b"/>
            <a:pathLst>
              <a:path w="8891" h="1398">
                <a:moveTo>
                  <a:pt x="0" y="0"/>
                </a:moveTo>
                <a:lnTo>
                  <a:pt x="8891" y="0"/>
                </a:lnTo>
                <a:lnTo>
                  <a:pt x="8891" y="1398"/>
                </a:lnTo>
                <a:lnTo>
                  <a:pt x="0" y="1398"/>
                </a:lnTo>
                <a:lnTo>
                  <a:pt x="0" y="0"/>
                </a:lnTo>
                <a:close/>
              </a:path>
            </a:pathLst>
          </a:custGeom>
          <a:solidFill>
            <a:srgbClr val="191e3c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6080760" y="4069080"/>
            <a:ext cx="2468880" cy="50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</a:pPr>
            <a:r>
              <a:rPr b="0" lang="en-US" sz="900" strike="noStrike" u="none">
                <a:solidFill>
                  <a:srgbClr val="93c5fd"/>
                </a:solidFill>
                <a:effectLst/>
                <a:uFillTx/>
                <a:latin typeface="Courier New"/>
                <a:ea typeface="Courier New"/>
              </a:rPr>
              <a:t>github.com/yongkyunlee/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US" sz="900" strike="noStrike" u="none">
                <a:solidFill>
                  <a:srgbClr val="93c5fd"/>
                </a:solidFill>
                <a:effectLst/>
                <a:uFillTx/>
                <a:latin typeface="Courier New"/>
                <a:ea typeface="Courier New"/>
              </a:rPr>
              <a:t>ai-detectability-research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14 / 16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4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Example: C1 vs C3 Side-by-Side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457200" y="868680"/>
            <a:ext cx="3978000" cy="3978000"/>
          </a:xfrm>
          <a:custGeom>
            <a:avLst/>
            <a:gdLst/>
            <a:ahLst/>
            <a:rect l="0" t="0" r="r" b="b"/>
            <a:pathLst>
              <a:path w="11050" h="11050">
                <a:moveTo>
                  <a:pt x="0" y="0"/>
                </a:moveTo>
                <a:lnTo>
                  <a:pt x="11050" y="0"/>
                </a:lnTo>
                <a:lnTo>
                  <a:pt x="11050" y="11050"/>
                </a:lnTo>
                <a:lnTo>
                  <a:pt x="0" y="11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457200" y="868680"/>
            <a:ext cx="3978000" cy="457560"/>
          </a:xfrm>
          <a:custGeom>
            <a:avLst/>
            <a:gdLst/>
            <a:ahLst/>
            <a:rect l="0" t="0" r="r" b="b"/>
            <a:pathLst>
              <a:path w="11050" h="1271">
                <a:moveTo>
                  <a:pt x="0" y="0"/>
                </a:moveTo>
                <a:lnTo>
                  <a:pt x="11050" y="0"/>
                </a:lnTo>
                <a:lnTo>
                  <a:pt x="11050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640080" y="868680"/>
            <a:ext cx="36118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TrebuchetMS-Bold"/>
                <a:ea typeface="TrebuchetMS-Bold"/>
              </a:rPr>
              <a:t>C1 (Code Only) - human_prob: [X.XX]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640080" y="1417320"/>
            <a:ext cx="361188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40000"/>
              </a:lnSpc>
            </a:pPr>
            <a:r>
              <a:rPr b="0" i="1" lang="en-US" sz="900" strike="noStrike" u="none">
                <a:solidFill>
                  <a:srgbClr val="63738b"/>
                </a:solidFill>
                <a:effectLst/>
                <a:uFillTx/>
                <a:latin typeface="Calibri-Italic"/>
                <a:ea typeface="Calibri-Italic"/>
              </a:rPr>
              <a:t>In the world of modern AI frameworks, CrewAI stands out as a powerful tool for building multi-agent systems. It is important to note that installation requires Python 3.10 or newer. Furthermore, the framework provides a streamlined setup process. To get started, you can install CrewAI using pip install crewai. Moreover, the project initialization command crewai create crew my_project generates a well-structured template...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640080" y="3383280"/>
            <a:ext cx="3611520" cy="0"/>
          </a:xfrm>
          <a:prstGeom prst="line">
            <a:avLst/>
          </a:prstGeom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640080" y="3520440"/>
            <a:ext cx="3611880" cy="109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</a:pPr>
            <a:r>
              <a:rPr b="0" lang="en-US" sz="900" strike="noStrike" u="none">
                <a:solidFill>
                  <a:srgbClr val="ef4343"/>
                </a:solidFill>
                <a:effectLst/>
                <a:uFillTx/>
                <a:latin typeface="Calibri"/>
                <a:ea typeface="Calibri"/>
              </a:rPr>
              <a:t>AI tells: "In the world of", "It is important to note", "Furthermore", "Moreover", uniform sentence length, no contractions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4709160" y="868680"/>
            <a:ext cx="3978000" cy="3978000"/>
          </a:xfrm>
          <a:custGeom>
            <a:avLst/>
            <a:gdLst/>
            <a:ahLst/>
            <a:rect l="0" t="0" r="r" b="b"/>
            <a:pathLst>
              <a:path w="11050" h="11050">
                <a:moveTo>
                  <a:pt x="0" y="0"/>
                </a:moveTo>
                <a:lnTo>
                  <a:pt x="11050" y="0"/>
                </a:lnTo>
                <a:lnTo>
                  <a:pt x="11050" y="11050"/>
                </a:lnTo>
                <a:lnTo>
                  <a:pt x="0" y="11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4709160" y="868680"/>
            <a:ext cx="3978000" cy="457560"/>
          </a:xfrm>
          <a:custGeom>
            <a:avLst/>
            <a:gdLst/>
            <a:ahLst/>
            <a:rect l="0" t="0" r="r" b="b"/>
            <a:pathLst>
              <a:path w="11050" h="1271">
                <a:moveTo>
                  <a:pt x="0" y="0"/>
                </a:moveTo>
                <a:lnTo>
                  <a:pt x="11050" y="0"/>
                </a:lnTo>
                <a:lnTo>
                  <a:pt x="11050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0fb981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4892040" y="868680"/>
            <a:ext cx="36118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TrebuchetMS-Bold"/>
                <a:ea typeface="TrebuchetMS-Bold"/>
              </a:rPr>
              <a:t>C3 (Style Constrained) - human_prob: [X.XX]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4892040" y="1417320"/>
            <a:ext cx="361188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40000"/>
              </a:lnSpc>
            </a:pPr>
            <a:r>
              <a:rPr b="0" i="1" lang="en-US" sz="900" strike="noStrike" u="none">
                <a:solidFill>
                  <a:srgbClr val="63738b"/>
                </a:solidFill>
                <a:effectLst/>
                <a:uFillTx/>
                <a:latin typeface="Calibri-Italic"/>
                <a:ea typeface="Calibri-Italic"/>
              </a:rPr>
              <a:t>CrewAI's setup is dead simple - pip install crewai and you're off. You'll need Python 3.10+, which shouldn't be an issue for most teams at this point. Run crewai create crew my_project and it scaffolds the whole thing: agents.yaml for your agent configs, tasks.yaml for workflows. I've found the YAML-first approach polarizing. It's great for quick iteration, but if you're managing 20+ agents, you'll want to drop into Python classes eventually...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4892040" y="3383280"/>
            <a:ext cx="3611520" cy="0"/>
          </a:xfrm>
          <a:prstGeom prst="line">
            <a:avLst/>
          </a:prstGeom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4892040" y="3520440"/>
            <a:ext cx="3611880" cy="109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</a:pPr>
            <a:r>
              <a:rPr b="0" lang="en-US" sz="900" strike="noStrike" u="none">
                <a:solidFill>
                  <a:srgbClr val="0fb981"/>
                </a:solidFill>
                <a:effectLst/>
                <a:uFillTx/>
                <a:latin typeface="Calibri"/>
                <a:ea typeface="Calibri"/>
              </a:rPr>
              <a:t>Improvements: Contractions, first person, varied sentence length, specific details, opinionated trade-off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15 / 16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 txBox="1"/>
          <p:nvPr/>
        </p:nvSpPr>
        <p:spPr>
          <a:xfrm>
            <a:off x="731520" y="365760"/>
            <a:ext cx="4572000" cy="62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36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Demo &amp; Links</a:t>
            </a:r>
            <a:endParaRPr b="0" lang="en-US" sz="36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457200" y="1188720"/>
            <a:ext cx="3932280" cy="2286360"/>
          </a:xfrm>
          <a:custGeom>
            <a:avLst/>
            <a:gdLst/>
            <a:ahLst/>
            <a:rect l="0" t="0" r="r" b="b"/>
            <a:pathLst>
              <a:path w="10923" h="6351">
                <a:moveTo>
                  <a:pt x="0" y="0"/>
                </a:moveTo>
                <a:lnTo>
                  <a:pt x="10923" y="0"/>
                </a:lnTo>
                <a:lnTo>
                  <a:pt x="10923" y="6351"/>
                </a:lnTo>
                <a:lnTo>
                  <a:pt x="0" y="6351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731520" y="1417320"/>
            <a:ext cx="320040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8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YouTube Demo</a:t>
            </a:r>
            <a:endParaRPr b="0" lang="en-US" sz="1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777240" y="2011680"/>
            <a:ext cx="3291840" cy="12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Pre-recorded walkthrough covering:</a:t>
            </a:r>
            <a:endParaRPr b="0" lang="en-US" sz="10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  <a:p>
            <a:pPr marL="161280" indent="-161280">
              <a:spcAft>
                <a:spcPts val="300"/>
              </a:spcAft>
              <a:buClr>
                <a:srgbClr val="1d283a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Task definition &amp; gold fact setup</a:t>
            </a:r>
            <a:endParaRPr b="0" lang="en-US" sz="10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  <a:p>
            <a:pPr marL="161280" indent="-161280">
              <a:spcAft>
                <a:spcPts val="300"/>
              </a:spcAft>
              <a:buClr>
                <a:srgbClr val="1d283a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Generation across all 5 conditions</a:t>
            </a:r>
            <a:endParaRPr b="0" lang="en-US" sz="10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  <a:p>
            <a:pPr marL="161280" indent="-161280">
              <a:spcAft>
                <a:spcPts val="300"/>
              </a:spcAft>
              <a:buClr>
                <a:srgbClr val="1d283a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Detector API calls &amp; score comparison</a:t>
            </a:r>
            <a:endParaRPr b="0" lang="en-US" sz="10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  <a:p>
            <a:pPr marL="161280" indent="-161280">
              <a:spcAft>
                <a:spcPts val="300"/>
              </a:spcAft>
              <a:buClr>
                <a:srgbClr val="1d283a"/>
              </a:buClr>
              <a:buSzPct val="45000"/>
              <a:buFont typeface=""/>
              <a:buChar char=""/>
            </a:pPr>
            <a:r>
              <a:rPr b="0" lang="en-US" sz="10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Linguistic feature extraction</a:t>
            </a:r>
            <a:endParaRPr b="0" lang="en-US" sz="10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4754880" y="1188720"/>
            <a:ext cx="3932280" cy="914760"/>
          </a:xfrm>
          <a:custGeom>
            <a:avLst/>
            <a:gdLst/>
            <a:ahLst/>
            <a:rect l="0" t="0" r="r" b="b"/>
            <a:pathLst>
              <a:path w="10923" h="2541">
                <a:moveTo>
                  <a:pt x="0" y="0"/>
                </a:moveTo>
                <a:lnTo>
                  <a:pt x="10923" y="0"/>
                </a:lnTo>
                <a:lnTo>
                  <a:pt x="1092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4983480" y="1325880"/>
            <a:ext cx="347472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000" strike="noStrike" u="none">
                <a:solidFill>
                  <a:srgbClr val="3a82f6"/>
                </a:solidFill>
                <a:effectLst/>
                <a:uFillTx/>
                <a:latin typeface="Courier New"/>
                <a:ea typeface="Courier New"/>
              </a:rPr>
              <a:t>github.com/yongkyunlee/ai-detectability-research</a:t>
            </a:r>
            <a:endParaRPr b="0" lang="en-US" sz="10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4754880" y="2286000"/>
            <a:ext cx="3932280" cy="2560680"/>
          </a:xfrm>
          <a:custGeom>
            <a:avLst/>
            <a:gdLst/>
            <a:ahLst/>
            <a:rect l="0" t="0" r="r" b="b"/>
            <a:pathLst>
              <a:path w="10923" h="7113">
                <a:moveTo>
                  <a:pt x="0" y="0"/>
                </a:moveTo>
                <a:lnTo>
                  <a:pt x="10923" y="0"/>
                </a:lnTo>
                <a:lnTo>
                  <a:pt x="10923" y="7113"/>
                </a:lnTo>
                <a:lnTo>
                  <a:pt x="0" y="7113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4983480" y="2423160"/>
            <a:ext cx="347472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4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Key References</a:t>
            </a:r>
            <a:endParaRPr b="0" lang="en-US" sz="14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5029200" y="2788920"/>
            <a:ext cx="3383280" cy="192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5000"/>
              </a:lnSpc>
            </a:pPr>
            <a:r>
              <a:rPr b="0" lang="en-US" sz="8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1. Mitchell et al. (2023) - DetectGPT</a:t>
            </a:r>
            <a:endParaRPr b="0" lang="en-US" sz="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8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2. Kirchenbauer et al. (2023) - Watermarking</a:t>
            </a:r>
            <a:endParaRPr b="0" lang="en-US" sz="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8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3. Sadasivan et al. (2023) - Reliable Detection?</a:t>
            </a:r>
            <a:endParaRPr b="0" lang="en-US" sz="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8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4. Krishna et al. (2023) - Paraphrasing Evades</a:t>
            </a:r>
            <a:endParaRPr b="0" lang="en-US" sz="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8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5. Liang et al. (2023) - Detector Bias</a:t>
            </a:r>
            <a:endParaRPr b="0" lang="en-US" sz="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8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6. Wang et al. (2025) - HUMPA (ICLR)</a:t>
            </a:r>
            <a:endParaRPr b="0" lang="en-US" sz="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8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7. Wu et al. (2024) - DetectRL (NeurIPS)</a:t>
            </a:r>
            <a:endParaRPr b="0" lang="en-US" sz="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8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8. Rivera Soto et al. (2025) - Distinct Style</a:t>
            </a:r>
            <a:endParaRPr b="0" lang="en-US" sz="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57200" y="4114800"/>
            <a:ext cx="393192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1" lang="en-US" sz="28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Thank you!</a:t>
            </a:r>
            <a:endParaRPr b="0" lang="en-US" sz="28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16 / 16</a:t>
            </a:r>
            <a:endParaRPr b="0" lang="en-US" sz="900" strike="noStrike" u="none">
              <a:solidFill>
                <a:srgbClr val="1d283a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DetectGPT</a:t>
            </a: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 xml:space="preserve">  Mitchell et al. (2023)</a:t>
            </a:r>
          </a:p>
        </p:txBody>
      </p:sp>
      <p:sp>
        <p:nvSpPr>
          <p:cNvPr id="11" name="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</a:pPr>
            <a:r>
              <a:rPr b="0" i="1" lang="en-US" sz="8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Eric Mitchell, Yoonho Lee, Alexander Khazatsky, Christopher D. Manning, Chelsea Finn  |  ICML 2023</a:t>
            </a:r>
          </a:p>
        </p:txBody>
      </p:sp>
      <p:sp>
        <p:nvSpPr>
          <p:cNvPr id="20" name=""/>
          <p:cNvSpPr/>
          <p:nvPr/>
        </p:nvSpPr>
        <p:spPr>
          <a:xfrm>
            <a:off x="457200" y="1005840"/>
            <a:ext cx="3932280" cy="3749400"/>
          </a:xfrm>
          <a:custGeom>
            <a:avLst/>
            <a:gdLst/>
            <a:ahLst/>
            <a:rect l="0" t="0" r="r" b="b"/>
            <a:pathLst>
              <a:path w="10923" h="10415">
                <a:moveTo>
                  <a:pt x="0" y="0"/>
                </a:moveTo>
                <a:lnTo>
                  <a:pt x="10923" y="0"/>
                </a:lnTo>
                <a:lnTo>
                  <a:pt x="10923" y="10415"/>
                </a:lnTo>
                <a:lnTo>
                  <a:pt x="0" y="104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21" name=""/>
          <p:cNvSpPr txBox="1"/>
          <p:nvPr/>
        </p:nvSpPr>
        <p:spPr>
          <a:xfrm>
            <a:off x="68580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Core Idea</a:t>
            </a:r>
          </a:p>
        </p:txBody>
      </p:sp>
      <p:sp>
        <p:nvSpPr>
          <p:cNvPr id="22" name=""/>
          <p:cNvSpPr txBox="1"/>
          <p:nvPr/>
        </p:nvSpPr>
        <p:spPr>
          <a:xfrm>
            <a:off x="685800" y="1371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AI-generated text occupies negative curvature regions of the source model's log probability function. By generating ~100 perturbations of a passage and comparing log probabilities, DetectGPT identifies machine text without any training data.</a:t>
            </a:r>
          </a:p>
        </p:txBody>
      </p:sp>
      <p:sp>
        <p:nvSpPr>
          <p:cNvPr id="23" name=""/>
          <p:cNvSpPr txBox="1"/>
          <p:nvPr/>
        </p:nvSpPr>
        <p:spPr>
          <a:xfrm>
            <a:off x="685800" y="237744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Method</a:t>
            </a:r>
          </a:p>
        </p:txBody>
      </p:sp>
      <p:sp>
        <p:nvSpPr>
          <p:cNvPr id="24" name=""/>
          <p:cNvSpPr txBox="1"/>
          <p:nvPr/>
        </p:nvSpPr>
        <p:spPr>
          <a:xfrm>
            <a:off x="685800" y="265176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Generate perturbations via T5, compute log probabilities under the source model, classify based on curvature (original has higher log-prob than perturbations).</a:t>
            </a:r>
          </a:p>
        </p:txBody>
      </p:sp>
      <p:sp>
        <p:nvSpPr>
          <p:cNvPr id="25" name=""/>
          <p:cNvSpPr txBox="1"/>
          <p:nvPr/>
        </p:nvSpPr>
        <p:spPr>
          <a:xfrm>
            <a:off x="68580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Limitations</a:t>
            </a:r>
          </a:p>
        </p:txBody>
      </p:sp>
      <p:sp>
        <p:nvSpPr>
          <p:cNvPr id="26" name=""/>
          <p:cNvSpPr txBox="1"/>
          <p:nvPr/>
        </p:nvSpPr>
        <p:spPr>
          <a:xfrm>
            <a:off x="685800" y="365760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Requires access to source model log probabilities. Computationally expensive (~100 forward passes/doc). Degrades when source model is unknown.</a:t>
            </a:r>
          </a:p>
        </p:txBody>
      </p:sp>
      <p:sp>
        <p:nvSpPr>
          <p:cNvPr id="30" name=""/>
          <p:cNvSpPr/>
          <p:nvPr/>
        </p:nvSpPr>
        <p:spPr>
          <a:xfrm>
            <a:off x="4754880" y="1005840"/>
            <a:ext cx="3932280" cy="2103120"/>
          </a:xfrm>
          <a:custGeom>
            <a:avLst/>
            <a:gdLst/>
            <a:ahLst/>
            <a:rect l="0" t="0" r="r" b="b"/>
            <a:pathLst>
              <a:path w="10923" h="5842">
                <a:moveTo>
                  <a:pt x="0" y="0"/>
                </a:moveTo>
                <a:lnTo>
                  <a:pt x="10923" y="0"/>
                </a:lnTo>
                <a:lnTo>
                  <a:pt x="10923" y="5842"/>
                </a:lnTo>
                <a:lnTo>
                  <a:pt x="0" y="58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31" name=""/>
          <p:cNvSpPr txBox="1"/>
          <p:nvPr/>
        </p:nvSpPr>
        <p:spPr>
          <a:xfrm>
            <a:off x="498348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0fb981"/>
                </a:solidFill>
                <a:effectLst/>
                <a:uFillTx/>
                <a:latin typeface="TrebuchetMS-Bold"/>
                <a:ea typeface="TrebuchetMS-Bold"/>
              </a:rPr>
              <a:t>Key Results</a:t>
            </a:r>
          </a:p>
        </p:txBody>
      </p:sp>
      <p:sp>
        <p:nvSpPr>
          <p:cNvPr id="32" name=""/>
          <p:cNvSpPr txBox="1"/>
          <p:nvPr/>
        </p:nvSpPr>
        <p:spPr>
          <a:xfrm>
            <a:off x="4983480" y="1371600"/>
            <a:ext cx="3474720" cy="155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Improves fake news detection from 0.81 to 0.95 AUROC (GPT-NeoX 20B). Zero-shot: no training data, no classifier, no watermarking required.</a:t>
            </a:r>
          </a:p>
        </p:txBody>
      </p:sp>
      <p:sp>
        <p:nvSpPr>
          <p:cNvPr id="40" name=""/>
          <p:cNvSpPr/>
          <p:nvPr/>
        </p:nvSpPr>
        <p:spPr>
          <a:xfrm>
            <a:off x="4754880" y="3291840"/>
            <a:ext cx="3932280" cy="1463040"/>
          </a:xfrm>
          <a:custGeom>
            <a:avLst/>
            <a:gdLst/>
            <a:ahLst/>
            <a:rect l="0" t="0" r="r" b="b"/>
            <a:pathLst>
              <a:path w="10923" h="4064">
                <a:moveTo>
                  <a:pt x="0" y="0"/>
                </a:moveTo>
                <a:lnTo>
                  <a:pt x="10923" y="0"/>
                </a:lnTo>
                <a:lnTo>
                  <a:pt x="10923" y="4064"/>
                </a:lnTo>
                <a:lnTo>
                  <a:pt x="0" y="406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98348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93c5fd"/>
                </a:solidFill>
                <a:effectLst/>
                <a:uFillTx/>
                <a:latin typeface="TrebuchetMS-Bold"/>
                <a:ea typeface="TrebuchetMS-Bold"/>
              </a:rPr>
              <a:t>Relevance to This Study</a:t>
            </a:r>
          </a:p>
        </p:txBody>
      </p:sp>
      <p:sp>
        <p:nvSpPr>
          <p:cNvPr id="42" name=""/>
          <p:cNvSpPr txBox="1"/>
          <p:nvPr/>
        </p:nvSpPr>
        <p:spPr>
          <a:xfrm>
            <a:off x="4983480" y="3657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Foundational method behind GPTZero and similar tools. Understanding its log-probability basis explains why stylistic interventions can shift detector scores.</a:t>
            </a:r>
          </a:p>
        </p:txBody>
      </p:sp>
      <p:sp>
        <p:nvSpPr>
          <p:cNvPr id="50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Appendix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Watermarking LLMs</a:t>
            </a: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 xml:space="preserve">  Kirchenbauer et al. (2023)</a:t>
            </a:r>
          </a:p>
        </p:txBody>
      </p:sp>
      <p:sp>
        <p:nvSpPr>
          <p:cNvPr id="11" name="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</a:pPr>
            <a:r>
              <a:rPr b="0" i="1" lang="en-US" sz="8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John Kirchenbauer, Jonas Geiping, Yuxin Wen, Jonathan Katz, Ian Miers, Tom Goldstein  |  ICML 2023</a:t>
            </a:r>
          </a:p>
        </p:txBody>
      </p:sp>
      <p:sp>
        <p:nvSpPr>
          <p:cNvPr id="20" name=""/>
          <p:cNvSpPr/>
          <p:nvPr/>
        </p:nvSpPr>
        <p:spPr>
          <a:xfrm>
            <a:off x="457200" y="1005840"/>
            <a:ext cx="3932280" cy="3749400"/>
          </a:xfrm>
          <a:custGeom>
            <a:avLst/>
            <a:gdLst/>
            <a:ahLst/>
            <a:rect l="0" t="0" r="r" b="b"/>
            <a:pathLst>
              <a:path w="10923" h="10415">
                <a:moveTo>
                  <a:pt x="0" y="0"/>
                </a:moveTo>
                <a:lnTo>
                  <a:pt x="10923" y="0"/>
                </a:lnTo>
                <a:lnTo>
                  <a:pt x="10923" y="10415"/>
                </a:lnTo>
                <a:lnTo>
                  <a:pt x="0" y="104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21" name=""/>
          <p:cNvSpPr txBox="1"/>
          <p:nvPr/>
        </p:nvSpPr>
        <p:spPr>
          <a:xfrm>
            <a:off x="68580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Core Idea</a:t>
            </a:r>
          </a:p>
        </p:txBody>
      </p:sp>
      <p:sp>
        <p:nvSpPr>
          <p:cNvPr id="22" name=""/>
          <p:cNvSpPr txBox="1"/>
          <p:nvPr/>
        </p:nvSpPr>
        <p:spPr>
          <a:xfrm>
            <a:off x="685800" y="1371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Embeds an imperceptible statistical signal into LLM output by partitioning vocabulary into green/red token lists at each generation step using a hash of the previous token.</a:t>
            </a:r>
          </a:p>
        </p:txBody>
      </p:sp>
      <p:sp>
        <p:nvSpPr>
          <p:cNvPr id="23" name=""/>
          <p:cNvSpPr txBox="1"/>
          <p:nvPr/>
        </p:nvSpPr>
        <p:spPr>
          <a:xfrm>
            <a:off x="685800" y="237744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Method</a:t>
            </a:r>
          </a:p>
        </p:txBody>
      </p:sp>
      <p:sp>
        <p:nvSpPr>
          <p:cNvPr id="24" name=""/>
          <p:cNvSpPr txBox="1"/>
          <p:nvPr/>
        </p:nvSpPr>
        <p:spPr>
          <a:xfrm>
            <a:off x="685800" y="265176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Hash previous token to seed RNG, partition vocab into green/red lists, bias sampling toward green tokens. Detection via z-test on green token count.</a:t>
            </a:r>
          </a:p>
        </p:txBody>
      </p:sp>
      <p:sp>
        <p:nvSpPr>
          <p:cNvPr id="25" name=""/>
          <p:cNvSpPr txBox="1"/>
          <p:nvPr/>
        </p:nvSpPr>
        <p:spPr>
          <a:xfrm>
            <a:off x="68580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Limitations</a:t>
            </a:r>
          </a:p>
        </p:txBody>
      </p:sp>
      <p:sp>
        <p:nvSpPr>
          <p:cNvPr id="26" name=""/>
          <p:cNvSpPr txBox="1"/>
          <p:nvPr/>
        </p:nvSpPr>
        <p:spPr>
          <a:xfrm>
            <a:off x="685800" y="365760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Low-entropy sequences (code, formulaic text) hard to watermark. Requires provider cooperation. Vulnerable to paraphrasing attacks.</a:t>
            </a:r>
          </a:p>
        </p:txBody>
      </p:sp>
      <p:sp>
        <p:nvSpPr>
          <p:cNvPr id="30" name=""/>
          <p:cNvSpPr/>
          <p:nvPr/>
        </p:nvSpPr>
        <p:spPr>
          <a:xfrm>
            <a:off x="4754880" y="1005840"/>
            <a:ext cx="3932280" cy="2103120"/>
          </a:xfrm>
          <a:custGeom>
            <a:avLst/>
            <a:gdLst/>
            <a:ahLst/>
            <a:rect l="0" t="0" r="r" b="b"/>
            <a:pathLst>
              <a:path w="10923" h="5842">
                <a:moveTo>
                  <a:pt x="0" y="0"/>
                </a:moveTo>
                <a:lnTo>
                  <a:pt x="10923" y="0"/>
                </a:lnTo>
                <a:lnTo>
                  <a:pt x="10923" y="5842"/>
                </a:lnTo>
                <a:lnTo>
                  <a:pt x="0" y="58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31" name=""/>
          <p:cNvSpPr txBox="1"/>
          <p:nvPr/>
        </p:nvSpPr>
        <p:spPr>
          <a:xfrm>
            <a:off x="498348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0fb981"/>
                </a:solidFill>
                <a:effectLst/>
                <a:uFillTx/>
                <a:latin typeface="TrebuchetMS-Bold"/>
                <a:ea typeface="TrebuchetMS-Bold"/>
              </a:rPr>
              <a:t>Key Results</a:t>
            </a:r>
          </a:p>
        </p:txBody>
      </p:sp>
      <p:sp>
        <p:nvSpPr>
          <p:cNvPr id="32" name=""/>
          <p:cNvSpPr txBox="1"/>
          <p:nvPr/>
        </p:nvSpPr>
        <p:spPr>
          <a:xfrm>
            <a:off x="4983480" y="1371600"/>
            <a:ext cx="3474720" cy="155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Detectable from as few as 25 tokens with negligible quality impact. p-values as low as ~6e-14 for watermarked text. Robust to moderate edits.</a:t>
            </a:r>
          </a:p>
        </p:txBody>
      </p:sp>
      <p:sp>
        <p:nvSpPr>
          <p:cNvPr id="40" name=""/>
          <p:cNvSpPr/>
          <p:nvPr/>
        </p:nvSpPr>
        <p:spPr>
          <a:xfrm>
            <a:off x="4754880" y="3291840"/>
            <a:ext cx="3932280" cy="1463040"/>
          </a:xfrm>
          <a:custGeom>
            <a:avLst/>
            <a:gdLst/>
            <a:ahLst/>
            <a:rect l="0" t="0" r="r" b="b"/>
            <a:pathLst>
              <a:path w="10923" h="4064">
                <a:moveTo>
                  <a:pt x="0" y="0"/>
                </a:moveTo>
                <a:lnTo>
                  <a:pt x="10923" y="0"/>
                </a:lnTo>
                <a:lnTo>
                  <a:pt x="10923" y="4064"/>
                </a:lnTo>
                <a:lnTo>
                  <a:pt x="0" y="406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98348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93c5fd"/>
                </a:solidFill>
                <a:effectLst/>
                <a:uFillTx/>
                <a:latin typeface="TrebuchetMS-Bold"/>
                <a:ea typeface="TrebuchetMS-Bold"/>
              </a:rPr>
              <a:t>Relevance to This Study</a:t>
            </a:r>
          </a:p>
        </p:txBody>
      </p:sp>
      <p:sp>
        <p:nvSpPr>
          <p:cNvPr id="42" name=""/>
          <p:cNvSpPr txBox="1"/>
          <p:nvPr/>
        </p:nvSpPr>
        <p:spPr>
          <a:xfrm>
            <a:off x="4983480" y="3657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Demonstrates token distribution patterns as a primary detection axis. Our C3 style constraints work in a complementary space - modifying stylistic patterns rather than token-level statistics.</a:t>
            </a:r>
          </a:p>
        </p:txBody>
      </p:sp>
      <p:sp>
        <p:nvSpPr>
          <p:cNvPr id="50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Appendix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Can AI Text Be Reliably Detected?</a:t>
            </a: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 xml:space="preserve">  Sadasivan et al. (2023)</a:t>
            </a:r>
          </a:p>
        </p:txBody>
      </p:sp>
      <p:sp>
        <p:nvSpPr>
          <p:cNvPr id="11" name="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</a:pPr>
            <a:r>
              <a:rPr b="0" i="1" lang="en-US" sz="8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Vinu Sankar Sadasivan, Aounon Kumar, Sriram Balasubramanian, Wenxiao Wang, Soheil Feizi  |  arXiv preprint (2023)</a:t>
            </a:r>
          </a:p>
        </p:txBody>
      </p:sp>
      <p:sp>
        <p:nvSpPr>
          <p:cNvPr id="20" name=""/>
          <p:cNvSpPr/>
          <p:nvPr/>
        </p:nvSpPr>
        <p:spPr>
          <a:xfrm>
            <a:off x="457200" y="1005840"/>
            <a:ext cx="3932280" cy="3749400"/>
          </a:xfrm>
          <a:custGeom>
            <a:avLst/>
            <a:gdLst/>
            <a:ahLst/>
            <a:rect l="0" t="0" r="r" b="b"/>
            <a:pathLst>
              <a:path w="10923" h="10415">
                <a:moveTo>
                  <a:pt x="0" y="0"/>
                </a:moveTo>
                <a:lnTo>
                  <a:pt x="10923" y="0"/>
                </a:lnTo>
                <a:lnTo>
                  <a:pt x="10923" y="10415"/>
                </a:lnTo>
                <a:lnTo>
                  <a:pt x="0" y="104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21" name=""/>
          <p:cNvSpPr txBox="1"/>
          <p:nvPr/>
        </p:nvSpPr>
        <p:spPr>
          <a:xfrm>
            <a:off x="68580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Core Idea</a:t>
            </a:r>
          </a:p>
        </p:txBody>
      </p:sp>
      <p:sp>
        <p:nvSpPr>
          <p:cNvPr id="22" name=""/>
          <p:cNvSpPr txBox="1"/>
          <p:nvPr/>
        </p:nvSpPr>
        <p:spPr>
          <a:xfrm>
            <a:off x="685800" y="1371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Stress-tests AI text detectors with recursive paraphrasing attacks and spoofing attacks, revealing fundamental vulnerabilities in both watermark-based and statistical detectors.</a:t>
            </a:r>
          </a:p>
        </p:txBody>
      </p:sp>
      <p:sp>
        <p:nvSpPr>
          <p:cNvPr id="23" name=""/>
          <p:cNvSpPr txBox="1"/>
          <p:nvPr/>
        </p:nvSpPr>
        <p:spPr>
          <a:xfrm>
            <a:off x="685800" y="237744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Method</a:t>
            </a:r>
          </a:p>
        </p:txBody>
      </p:sp>
      <p:sp>
        <p:nvSpPr>
          <p:cNvPr id="24" name=""/>
          <p:cNvSpPr txBox="1"/>
          <p:nvPr/>
        </p:nvSpPr>
        <p:spPr>
          <a:xfrm>
            <a:off x="685800" y="265176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Repeatedly paraphrase AI text to remove statistical signatures. Also demonstrates spoofing: inferring watermark schemes to create false positives on human text.</a:t>
            </a:r>
          </a:p>
        </p:txBody>
      </p:sp>
      <p:sp>
        <p:nvSpPr>
          <p:cNvPr id="25" name=""/>
          <p:cNvSpPr txBox="1"/>
          <p:nvPr/>
        </p:nvSpPr>
        <p:spPr>
          <a:xfrm>
            <a:off x="68580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Limitations</a:t>
            </a:r>
          </a:p>
        </p:txBody>
      </p:sp>
      <p:sp>
        <p:nvSpPr>
          <p:cNvPr id="26" name=""/>
          <p:cNvSpPr txBox="1"/>
          <p:nvPr/>
        </p:nvSpPr>
        <p:spPr>
          <a:xfrm>
            <a:off x="685800" y="365760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Assumes access to a capable paraphrasing model. Spoofing requires multiple queries to the watermarked LLM.</a:t>
            </a:r>
          </a:p>
        </p:txBody>
      </p:sp>
      <p:sp>
        <p:nvSpPr>
          <p:cNvPr id="30" name=""/>
          <p:cNvSpPr/>
          <p:nvPr/>
        </p:nvSpPr>
        <p:spPr>
          <a:xfrm>
            <a:off x="4754880" y="1005840"/>
            <a:ext cx="3932280" cy="2103120"/>
          </a:xfrm>
          <a:custGeom>
            <a:avLst/>
            <a:gdLst/>
            <a:ahLst/>
            <a:rect l="0" t="0" r="r" b="b"/>
            <a:pathLst>
              <a:path w="10923" h="5842">
                <a:moveTo>
                  <a:pt x="0" y="0"/>
                </a:moveTo>
                <a:lnTo>
                  <a:pt x="10923" y="0"/>
                </a:lnTo>
                <a:lnTo>
                  <a:pt x="10923" y="5842"/>
                </a:lnTo>
                <a:lnTo>
                  <a:pt x="0" y="58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31" name=""/>
          <p:cNvSpPr txBox="1"/>
          <p:nvPr/>
        </p:nvSpPr>
        <p:spPr>
          <a:xfrm>
            <a:off x="498348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0fb981"/>
                </a:solidFill>
                <a:effectLst/>
                <a:uFillTx/>
                <a:latin typeface="TrebuchetMS-Bold"/>
                <a:ea typeface="TrebuchetMS-Bold"/>
              </a:rPr>
              <a:t>Key Results</a:t>
            </a:r>
          </a:p>
        </p:txBody>
      </p:sp>
      <p:sp>
        <p:nvSpPr>
          <p:cNvPr id="32" name=""/>
          <p:cNvSpPr txBox="1"/>
          <p:nvPr/>
        </p:nvSpPr>
        <p:spPr>
          <a:xfrm>
            <a:off x="4983480" y="1371600"/>
            <a:ext cx="3474720" cy="155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Watermark detection TPR drops from 99.3% to 9.7%. DetectGPT AUROC drops from 96.5% to 25.2%. 77% of paraphrased passages rated high quality.</a:t>
            </a:r>
          </a:p>
        </p:txBody>
      </p:sp>
      <p:sp>
        <p:nvSpPr>
          <p:cNvPr id="40" name=""/>
          <p:cNvSpPr/>
          <p:nvPr/>
        </p:nvSpPr>
        <p:spPr>
          <a:xfrm>
            <a:off x="4754880" y="3291840"/>
            <a:ext cx="3932280" cy="1463040"/>
          </a:xfrm>
          <a:custGeom>
            <a:avLst/>
            <a:gdLst/>
            <a:ahLst/>
            <a:rect l="0" t="0" r="r" b="b"/>
            <a:pathLst>
              <a:path w="10923" h="4064">
                <a:moveTo>
                  <a:pt x="0" y="0"/>
                </a:moveTo>
                <a:lnTo>
                  <a:pt x="10923" y="0"/>
                </a:lnTo>
                <a:lnTo>
                  <a:pt x="10923" y="4064"/>
                </a:lnTo>
                <a:lnTo>
                  <a:pt x="0" y="406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98348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93c5fd"/>
                </a:solidFill>
                <a:effectLst/>
                <a:uFillTx/>
                <a:latin typeface="TrebuchetMS-Bold"/>
                <a:ea typeface="TrebuchetMS-Bold"/>
              </a:rPr>
              <a:t>Relevance to This Study</a:t>
            </a:r>
          </a:p>
        </p:txBody>
      </p:sp>
      <p:sp>
        <p:nvSpPr>
          <p:cNvPr id="42" name=""/>
          <p:cNvSpPr txBox="1"/>
          <p:nvPr/>
        </p:nvSpPr>
        <p:spPr>
          <a:xfrm>
            <a:off x="4983480" y="3657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Directly motivates C4 (humanization) - paraphrasing is a powerful evasion tool but introduces quality trade-offs. Theoretical bounds contextualize why evasion is possible.</a:t>
            </a:r>
          </a:p>
        </p:txBody>
      </p:sp>
      <p:sp>
        <p:nvSpPr>
          <p:cNvPr id="50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Appendix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Paraphrasing Evades Detectors</a:t>
            </a: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 xml:space="preserve">  Krishna et al. (2023)</a:t>
            </a:r>
          </a:p>
        </p:txBody>
      </p:sp>
      <p:sp>
        <p:nvSpPr>
          <p:cNvPr id="11" name="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</a:pPr>
            <a:r>
              <a:rPr b="0" i="1" lang="en-US" sz="8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Kalpesh Krishna, Yixiao Song, Marzena Karpinska, John Wieting, Mohit Iyyer  |  NeurIPS 2023</a:t>
            </a:r>
          </a:p>
        </p:txBody>
      </p:sp>
      <p:sp>
        <p:nvSpPr>
          <p:cNvPr id="20" name=""/>
          <p:cNvSpPr/>
          <p:nvPr/>
        </p:nvSpPr>
        <p:spPr>
          <a:xfrm>
            <a:off x="457200" y="1005840"/>
            <a:ext cx="3932280" cy="3749400"/>
          </a:xfrm>
          <a:custGeom>
            <a:avLst/>
            <a:gdLst/>
            <a:ahLst/>
            <a:rect l="0" t="0" r="r" b="b"/>
            <a:pathLst>
              <a:path w="10923" h="10415">
                <a:moveTo>
                  <a:pt x="0" y="0"/>
                </a:moveTo>
                <a:lnTo>
                  <a:pt x="10923" y="0"/>
                </a:lnTo>
                <a:lnTo>
                  <a:pt x="10923" y="10415"/>
                </a:lnTo>
                <a:lnTo>
                  <a:pt x="0" y="104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21" name=""/>
          <p:cNvSpPr txBox="1"/>
          <p:nvPr/>
        </p:nvSpPr>
        <p:spPr>
          <a:xfrm>
            <a:off x="68580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Core Idea</a:t>
            </a:r>
          </a:p>
        </p:txBody>
      </p:sp>
      <p:sp>
        <p:nvSpPr>
          <p:cNvPr id="22" name=""/>
          <p:cNvSpPr txBox="1"/>
          <p:nvPr/>
        </p:nvSpPr>
        <p:spPr>
          <a:xfrm>
            <a:off x="685800" y="1371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Builds DIPPER, an 11B-parameter discourse-level paraphraser with controllable diversity, to attack AI text detectors. Also proposes a retrieval-based defense.</a:t>
            </a:r>
          </a:p>
        </p:txBody>
      </p:sp>
      <p:sp>
        <p:nvSpPr>
          <p:cNvPr id="23" name=""/>
          <p:cNvSpPr txBox="1"/>
          <p:nvPr/>
        </p:nvSpPr>
        <p:spPr>
          <a:xfrm>
            <a:off x="685800" y="237744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Method</a:t>
            </a:r>
          </a:p>
        </p:txBody>
      </p:sp>
      <p:sp>
        <p:nvSpPr>
          <p:cNvPr id="24" name=""/>
          <p:cNvSpPr txBox="1"/>
          <p:nvPr/>
        </p:nvSpPr>
        <p:spPr>
          <a:xfrm>
            <a:off x="685800" y="265176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DIPPER paraphrases paragraph-length text with two control knobs: lexical diversity and content reordering. Retrieval defense stores all LLM outputs and uses BM-25 + embeddings.</a:t>
            </a:r>
          </a:p>
        </p:txBody>
      </p:sp>
      <p:sp>
        <p:nvSpPr>
          <p:cNvPr id="25" name=""/>
          <p:cNvSpPr txBox="1"/>
          <p:nvPr/>
        </p:nvSpPr>
        <p:spPr>
          <a:xfrm>
            <a:off x="68580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Limitations</a:t>
            </a:r>
          </a:p>
        </p:txBody>
      </p:sp>
      <p:sp>
        <p:nvSpPr>
          <p:cNvPr id="26" name=""/>
          <p:cNvSpPr txBox="1"/>
          <p:nvPr/>
        </p:nvSpPr>
        <p:spPr>
          <a:xfrm>
            <a:off x="685800" y="365760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Retrieval defense requires API provider cooperation and storage of all generated outputs.</a:t>
            </a:r>
          </a:p>
        </p:txBody>
      </p:sp>
      <p:sp>
        <p:nvSpPr>
          <p:cNvPr id="30" name=""/>
          <p:cNvSpPr/>
          <p:nvPr/>
        </p:nvSpPr>
        <p:spPr>
          <a:xfrm>
            <a:off x="4754880" y="1005840"/>
            <a:ext cx="3932280" cy="2103120"/>
          </a:xfrm>
          <a:custGeom>
            <a:avLst/>
            <a:gdLst/>
            <a:ahLst/>
            <a:rect l="0" t="0" r="r" b="b"/>
            <a:pathLst>
              <a:path w="10923" h="5842">
                <a:moveTo>
                  <a:pt x="0" y="0"/>
                </a:moveTo>
                <a:lnTo>
                  <a:pt x="10923" y="0"/>
                </a:lnTo>
                <a:lnTo>
                  <a:pt x="10923" y="5842"/>
                </a:lnTo>
                <a:lnTo>
                  <a:pt x="0" y="58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31" name=""/>
          <p:cNvSpPr txBox="1"/>
          <p:nvPr/>
        </p:nvSpPr>
        <p:spPr>
          <a:xfrm>
            <a:off x="498348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0fb981"/>
                </a:solidFill>
                <a:effectLst/>
                <a:uFillTx/>
                <a:latin typeface="TrebuchetMS-Bold"/>
                <a:ea typeface="TrebuchetMS-Bold"/>
              </a:rPr>
              <a:t>Key Results</a:t>
            </a:r>
          </a:p>
        </p:txBody>
      </p:sp>
      <p:sp>
        <p:nvSpPr>
          <p:cNvPr id="32" name=""/>
          <p:cNvSpPr txBox="1"/>
          <p:nvPr/>
        </p:nvSpPr>
        <p:spPr>
          <a:xfrm>
            <a:off x="4983480" y="1371600"/>
            <a:ext cx="3474720" cy="155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DetectGPT drops from 70.3% to 4.6% after DIPPER. Retrieval defense detects 80-97% of paraphrased text at 1% FPR (tested on 15M generation database).</a:t>
            </a:r>
          </a:p>
        </p:txBody>
      </p:sp>
      <p:sp>
        <p:nvSpPr>
          <p:cNvPr id="40" name=""/>
          <p:cNvSpPr/>
          <p:nvPr/>
        </p:nvSpPr>
        <p:spPr>
          <a:xfrm>
            <a:off x="4754880" y="3291840"/>
            <a:ext cx="3932280" cy="1463040"/>
          </a:xfrm>
          <a:custGeom>
            <a:avLst/>
            <a:gdLst/>
            <a:ahLst/>
            <a:rect l="0" t="0" r="r" b="b"/>
            <a:pathLst>
              <a:path w="10923" h="4064">
                <a:moveTo>
                  <a:pt x="0" y="0"/>
                </a:moveTo>
                <a:lnTo>
                  <a:pt x="10923" y="0"/>
                </a:lnTo>
                <a:lnTo>
                  <a:pt x="10923" y="4064"/>
                </a:lnTo>
                <a:lnTo>
                  <a:pt x="0" y="406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98348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93c5fd"/>
                </a:solidFill>
                <a:effectLst/>
                <a:uFillTx/>
                <a:latin typeface="TrebuchetMS-Bold"/>
                <a:ea typeface="TrebuchetMS-Bold"/>
              </a:rPr>
              <a:t>Relevance to This Study</a:t>
            </a:r>
          </a:p>
        </p:txBody>
      </p:sp>
      <p:sp>
        <p:nvSpPr>
          <p:cNvPr id="42" name=""/>
          <p:cNvSpPr txBox="1"/>
          <p:nvPr/>
        </p:nvSpPr>
        <p:spPr>
          <a:xfrm>
            <a:off x="4983480" y="3657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DIPPER's controllable paraphrasing directly informs our C4 humanization strategy. The retrieval defense shows evasion has limits when API providers participate.</a:t>
            </a:r>
          </a:p>
        </p:txBody>
      </p:sp>
      <p:sp>
        <p:nvSpPr>
          <p:cNvPr id="50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Appendix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GPT Detectors Are Biased</a:t>
            </a: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 xml:space="preserve">  Liang et al. (2023)</a:t>
            </a:r>
          </a:p>
        </p:txBody>
      </p:sp>
      <p:sp>
        <p:nvSpPr>
          <p:cNvPr id="11" name="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</a:pPr>
            <a:r>
              <a:rPr b="0" i="1" lang="en-US" sz="8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Weixin Liang, Mert Yuksekgonul, Yining Mao, Eric Wu, James Zou  |  Patterns (Cell Press), 2023</a:t>
            </a:r>
          </a:p>
        </p:txBody>
      </p:sp>
      <p:sp>
        <p:nvSpPr>
          <p:cNvPr id="20" name=""/>
          <p:cNvSpPr/>
          <p:nvPr/>
        </p:nvSpPr>
        <p:spPr>
          <a:xfrm>
            <a:off x="457200" y="1005840"/>
            <a:ext cx="3932280" cy="3749400"/>
          </a:xfrm>
          <a:custGeom>
            <a:avLst/>
            <a:gdLst/>
            <a:ahLst/>
            <a:rect l="0" t="0" r="r" b="b"/>
            <a:pathLst>
              <a:path w="10923" h="10415">
                <a:moveTo>
                  <a:pt x="0" y="0"/>
                </a:moveTo>
                <a:lnTo>
                  <a:pt x="10923" y="0"/>
                </a:lnTo>
                <a:lnTo>
                  <a:pt x="10923" y="10415"/>
                </a:lnTo>
                <a:lnTo>
                  <a:pt x="0" y="104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21" name=""/>
          <p:cNvSpPr txBox="1"/>
          <p:nvPr/>
        </p:nvSpPr>
        <p:spPr>
          <a:xfrm>
            <a:off x="68580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Core Idea</a:t>
            </a:r>
          </a:p>
        </p:txBody>
      </p:sp>
      <p:sp>
        <p:nvSpPr>
          <p:cNvPr id="22" name=""/>
          <p:cNvSpPr txBox="1"/>
          <p:nvPr/>
        </p:nvSpPr>
        <p:spPr>
          <a:xfrm>
            <a:off x="685800" y="1371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GPT detectors systematically misclassify non-native English writing as AI-generated due to lower linguistic variability, with a 61% average false positive rate on TOEFL essays.</a:t>
            </a:r>
          </a:p>
        </p:txBody>
      </p:sp>
      <p:sp>
        <p:nvSpPr>
          <p:cNvPr id="23" name=""/>
          <p:cNvSpPr txBox="1"/>
          <p:nvPr/>
        </p:nvSpPr>
        <p:spPr>
          <a:xfrm>
            <a:off x="685800" y="237744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Method</a:t>
            </a:r>
          </a:p>
        </p:txBody>
      </p:sp>
      <p:sp>
        <p:nvSpPr>
          <p:cNvPr id="24" name=""/>
          <p:cNvSpPr txBox="1"/>
          <p:nvPr/>
        </p:nvSpPr>
        <p:spPr>
          <a:xfrm>
            <a:off x="685800" y="265176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Tested 7 detectors on 91 TOEFL essays + 88 US 8th-grade essays. Also tested mitigation via ChatGPT rewriting prompts.</a:t>
            </a:r>
          </a:p>
        </p:txBody>
      </p:sp>
      <p:sp>
        <p:nvSpPr>
          <p:cNvPr id="25" name=""/>
          <p:cNvSpPr txBox="1"/>
          <p:nvPr/>
        </p:nvSpPr>
        <p:spPr>
          <a:xfrm>
            <a:off x="68580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Limitations</a:t>
            </a:r>
          </a:p>
        </p:txBody>
      </p:sp>
      <p:sp>
        <p:nvSpPr>
          <p:cNvPr id="26" name=""/>
          <p:cNvSpPr txBox="1"/>
          <p:nvPr/>
        </p:nvSpPr>
        <p:spPr>
          <a:xfrm>
            <a:off x="685800" y="365760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Study focused on English-language detectors. Bias patterns may differ for other languages.</a:t>
            </a:r>
          </a:p>
        </p:txBody>
      </p:sp>
      <p:sp>
        <p:nvSpPr>
          <p:cNvPr id="30" name=""/>
          <p:cNvSpPr/>
          <p:nvPr/>
        </p:nvSpPr>
        <p:spPr>
          <a:xfrm>
            <a:off x="4754880" y="1005840"/>
            <a:ext cx="3932280" cy="2103120"/>
          </a:xfrm>
          <a:custGeom>
            <a:avLst/>
            <a:gdLst/>
            <a:ahLst/>
            <a:rect l="0" t="0" r="r" b="b"/>
            <a:pathLst>
              <a:path w="10923" h="5842">
                <a:moveTo>
                  <a:pt x="0" y="0"/>
                </a:moveTo>
                <a:lnTo>
                  <a:pt x="10923" y="0"/>
                </a:lnTo>
                <a:lnTo>
                  <a:pt x="10923" y="5842"/>
                </a:lnTo>
                <a:lnTo>
                  <a:pt x="0" y="58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31" name=""/>
          <p:cNvSpPr txBox="1"/>
          <p:nvPr/>
        </p:nvSpPr>
        <p:spPr>
          <a:xfrm>
            <a:off x="498348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0fb981"/>
                </a:solidFill>
                <a:effectLst/>
                <a:uFillTx/>
                <a:latin typeface="TrebuchetMS-Bold"/>
                <a:ea typeface="TrebuchetMS-Bold"/>
              </a:rPr>
              <a:t>Key Results</a:t>
            </a:r>
          </a:p>
        </p:txBody>
      </p:sp>
      <p:sp>
        <p:nvSpPr>
          <p:cNvPr id="32" name=""/>
          <p:cNvSpPr txBox="1"/>
          <p:nvPr/>
        </p:nvSpPr>
        <p:spPr>
          <a:xfrm>
            <a:off x="4983480" y="1371600"/>
            <a:ext cx="3474720" cy="155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61% FP rate on non-native essays vs. near-zero on native essays. Simple rewriting prompt reduced FP from 61% to 12%. Simplifying native text raised FP from 5% to 57%.</a:t>
            </a:r>
          </a:p>
        </p:txBody>
      </p:sp>
      <p:sp>
        <p:nvSpPr>
          <p:cNvPr id="40" name=""/>
          <p:cNvSpPr/>
          <p:nvPr/>
        </p:nvSpPr>
        <p:spPr>
          <a:xfrm>
            <a:off x="4754880" y="3291840"/>
            <a:ext cx="3932280" cy="1463040"/>
          </a:xfrm>
          <a:custGeom>
            <a:avLst/>
            <a:gdLst/>
            <a:ahLst/>
            <a:rect l="0" t="0" r="r" b="b"/>
            <a:pathLst>
              <a:path w="10923" h="4064">
                <a:moveTo>
                  <a:pt x="0" y="0"/>
                </a:moveTo>
                <a:lnTo>
                  <a:pt x="10923" y="0"/>
                </a:lnTo>
                <a:lnTo>
                  <a:pt x="10923" y="4064"/>
                </a:lnTo>
                <a:lnTo>
                  <a:pt x="0" y="406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98348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93c5fd"/>
                </a:solidFill>
                <a:effectLst/>
                <a:uFillTx/>
                <a:latin typeface="TrebuchetMS-Bold"/>
                <a:ea typeface="TrebuchetMS-Bold"/>
              </a:rPr>
              <a:t>Relevance to This Study</a:t>
            </a:r>
          </a:p>
        </p:txBody>
      </p:sp>
      <p:sp>
        <p:nvSpPr>
          <p:cNvPr id="42" name=""/>
          <p:cNvSpPr txBox="1"/>
          <p:nvPr/>
        </p:nvSpPr>
        <p:spPr>
          <a:xfrm>
            <a:off x="4983480" y="3657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Motivates awareness of fairness when interpreting detector scores. Demonstrates that simple rewriting prompts can dramatically shift detection - validates our C4 approach.</a:t>
            </a:r>
          </a:p>
        </p:txBody>
      </p:sp>
      <p:sp>
        <p:nvSpPr>
          <p:cNvPr id="50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Appendix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ALCE - Citation Quality Metrics</a:t>
            </a: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 xml:space="preserve">  Gao et al. (2023)</a:t>
            </a:r>
          </a:p>
        </p:txBody>
      </p:sp>
      <p:sp>
        <p:nvSpPr>
          <p:cNvPr id="11" name="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</a:pPr>
            <a:r>
              <a:rPr b="0" i="1" lang="en-US" sz="8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Tianyu Gao, Howard Yen, Jiatong Yu, Danqi Chen  |  EMNLP 2023</a:t>
            </a:r>
          </a:p>
        </p:txBody>
      </p:sp>
      <p:sp>
        <p:nvSpPr>
          <p:cNvPr id="20" name=""/>
          <p:cNvSpPr/>
          <p:nvPr/>
        </p:nvSpPr>
        <p:spPr>
          <a:xfrm>
            <a:off x="457200" y="1005840"/>
            <a:ext cx="3932280" cy="3749400"/>
          </a:xfrm>
          <a:custGeom>
            <a:avLst/>
            <a:gdLst/>
            <a:ahLst/>
            <a:rect l="0" t="0" r="r" b="b"/>
            <a:pathLst>
              <a:path w="10923" h="10415">
                <a:moveTo>
                  <a:pt x="0" y="0"/>
                </a:moveTo>
                <a:lnTo>
                  <a:pt x="10923" y="0"/>
                </a:lnTo>
                <a:lnTo>
                  <a:pt x="10923" y="10415"/>
                </a:lnTo>
                <a:lnTo>
                  <a:pt x="0" y="104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21" name=""/>
          <p:cNvSpPr txBox="1"/>
          <p:nvPr/>
        </p:nvSpPr>
        <p:spPr>
          <a:xfrm>
            <a:off x="68580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Core Idea</a:t>
            </a:r>
          </a:p>
        </p:txBody>
      </p:sp>
      <p:sp>
        <p:nvSpPr>
          <p:cNvPr id="22" name=""/>
          <p:cNvSpPr txBox="1"/>
          <p:nvPr/>
        </p:nvSpPr>
        <p:spPr>
          <a:xfrm>
            <a:off x="685800" y="1371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First reproducible benchmark for evaluating LLM-generated text with citations, measuring fluency, correctness, and citation quality using NLI-based metrics.</a:t>
            </a:r>
          </a:p>
        </p:txBody>
      </p:sp>
      <p:sp>
        <p:nvSpPr>
          <p:cNvPr id="23" name=""/>
          <p:cNvSpPr txBox="1"/>
          <p:nvPr/>
        </p:nvSpPr>
        <p:spPr>
          <a:xfrm>
            <a:off x="685800" y="237744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Method</a:t>
            </a:r>
          </a:p>
        </p:txBody>
      </p:sp>
      <p:sp>
        <p:nvSpPr>
          <p:cNvPr id="24" name=""/>
          <p:cNvSpPr txBox="1"/>
          <p:nvPr/>
        </p:nvSpPr>
        <p:spPr>
          <a:xfrm>
            <a:off x="685800" y="265176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Three datasets: ASQA, QAMPARI, ELI5. Evaluation via MAUVE (fluency), exact match/F1 (correctness), NLI-based citation precision and recall.</a:t>
            </a:r>
          </a:p>
        </p:txBody>
      </p:sp>
      <p:sp>
        <p:nvSpPr>
          <p:cNvPr id="25" name=""/>
          <p:cNvSpPr txBox="1"/>
          <p:nvPr/>
        </p:nvSpPr>
        <p:spPr>
          <a:xfrm>
            <a:off x="68580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Limitations</a:t>
            </a:r>
          </a:p>
        </p:txBody>
      </p:sp>
      <p:sp>
        <p:nvSpPr>
          <p:cNvPr id="26" name=""/>
          <p:cNvSpPr txBox="1"/>
          <p:nvPr/>
        </p:nvSpPr>
        <p:spPr>
          <a:xfrm>
            <a:off x="685800" y="365760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NLI models may have their own biases. Benchmark focused on English factoid and explanation tasks.</a:t>
            </a:r>
          </a:p>
        </p:txBody>
      </p:sp>
      <p:sp>
        <p:nvSpPr>
          <p:cNvPr id="30" name=""/>
          <p:cNvSpPr/>
          <p:nvPr/>
        </p:nvSpPr>
        <p:spPr>
          <a:xfrm>
            <a:off x="4754880" y="1005840"/>
            <a:ext cx="3932280" cy="2103120"/>
          </a:xfrm>
          <a:custGeom>
            <a:avLst/>
            <a:gdLst/>
            <a:ahLst/>
            <a:rect l="0" t="0" r="r" b="b"/>
            <a:pathLst>
              <a:path w="10923" h="5842">
                <a:moveTo>
                  <a:pt x="0" y="0"/>
                </a:moveTo>
                <a:lnTo>
                  <a:pt x="10923" y="0"/>
                </a:lnTo>
                <a:lnTo>
                  <a:pt x="10923" y="5842"/>
                </a:lnTo>
                <a:lnTo>
                  <a:pt x="0" y="58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31" name=""/>
          <p:cNvSpPr txBox="1"/>
          <p:nvPr/>
        </p:nvSpPr>
        <p:spPr>
          <a:xfrm>
            <a:off x="498348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0fb981"/>
                </a:solidFill>
                <a:effectLst/>
                <a:uFillTx/>
                <a:latin typeface="TrebuchetMS-Bold"/>
                <a:ea typeface="TrebuchetMS-Bold"/>
              </a:rPr>
              <a:t>Key Results</a:t>
            </a:r>
          </a:p>
        </p:txBody>
      </p:sp>
      <p:sp>
        <p:nvSpPr>
          <p:cNvPr id="32" name=""/>
          <p:cNvSpPr txBox="1"/>
          <p:nvPr/>
        </p:nvSpPr>
        <p:spPr>
          <a:xfrm>
            <a:off x="4983480" y="1371600"/>
            <a:ext cx="3474720" cy="155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Even GPT-4 lacks complete citation support ~50% of the time on ELI5. Closed-book models achieve good correctness but poor citation quality.</a:t>
            </a:r>
          </a:p>
        </p:txBody>
      </p:sp>
      <p:sp>
        <p:nvSpPr>
          <p:cNvPr id="40" name=""/>
          <p:cNvSpPr/>
          <p:nvPr/>
        </p:nvSpPr>
        <p:spPr>
          <a:xfrm>
            <a:off x="4754880" y="3291840"/>
            <a:ext cx="3932280" cy="1463040"/>
          </a:xfrm>
          <a:custGeom>
            <a:avLst/>
            <a:gdLst/>
            <a:ahLst/>
            <a:rect l="0" t="0" r="r" b="b"/>
            <a:pathLst>
              <a:path w="10923" h="4064">
                <a:moveTo>
                  <a:pt x="0" y="0"/>
                </a:moveTo>
                <a:lnTo>
                  <a:pt x="10923" y="0"/>
                </a:lnTo>
                <a:lnTo>
                  <a:pt x="10923" y="4064"/>
                </a:lnTo>
                <a:lnTo>
                  <a:pt x="0" y="406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98348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93c5fd"/>
                </a:solidFill>
                <a:effectLst/>
                <a:uFillTx/>
                <a:latin typeface="TrebuchetMS-Bold"/>
                <a:ea typeface="TrebuchetMS-Bold"/>
              </a:rPr>
              <a:t>Relevance to This Study</a:t>
            </a:r>
          </a:p>
        </p:txBody>
      </p:sp>
      <p:sp>
        <p:nvSpPr>
          <p:cNvPr id="42" name=""/>
          <p:cNvSpPr txBox="1"/>
          <p:nvPr/>
        </p:nvSpPr>
        <p:spPr>
          <a:xfrm>
            <a:off x="4983480" y="3657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ALCE's citation quality metrics (NLI-based verification) inform our factual accuracy evaluation - we adapt the principle of checking whether claims are supported by source material.</a:t>
            </a:r>
          </a:p>
        </p:txBody>
      </p:sp>
      <p:sp>
        <p:nvSpPr>
          <p:cNvPr id="50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Appendix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Verifiability in Generative Search</a:t>
            </a: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 xml:space="preserve">  Liu et al. (2023)</a:t>
            </a:r>
          </a:p>
        </p:txBody>
      </p:sp>
      <p:sp>
        <p:nvSpPr>
          <p:cNvPr id="11" name="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</a:pPr>
            <a:r>
              <a:rPr b="0" i="1" lang="en-US" sz="8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Nelson F. Liu, Tianyi Zhang, Percy Liang  |  EMNLP 2023 (Findings)</a:t>
            </a:r>
          </a:p>
        </p:txBody>
      </p:sp>
      <p:sp>
        <p:nvSpPr>
          <p:cNvPr id="20" name=""/>
          <p:cNvSpPr/>
          <p:nvPr/>
        </p:nvSpPr>
        <p:spPr>
          <a:xfrm>
            <a:off x="457200" y="1005840"/>
            <a:ext cx="3932280" cy="3749400"/>
          </a:xfrm>
          <a:custGeom>
            <a:avLst/>
            <a:gdLst/>
            <a:ahLst/>
            <a:rect l="0" t="0" r="r" b="b"/>
            <a:pathLst>
              <a:path w="10923" h="10415">
                <a:moveTo>
                  <a:pt x="0" y="0"/>
                </a:moveTo>
                <a:lnTo>
                  <a:pt x="10923" y="0"/>
                </a:lnTo>
                <a:lnTo>
                  <a:pt x="10923" y="10415"/>
                </a:lnTo>
                <a:lnTo>
                  <a:pt x="0" y="104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21" name=""/>
          <p:cNvSpPr txBox="1"/>
          <p:nvPr/>
        </p:nvSpPr>
        <p:spPr>
          <a:xfrm>
            <a:off x="68580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Core Idea</a:t>
            </a:r>
          </a:p>
        </p:txBody>
      </p:sp>
      <p:sp>
        <p:nvSpPr>
          <p:cNvPr id="22" name=""/>
          <p:cNvSpPr txBox="1"/>
          <p:nvPr/>
        </p:nvSpPr>
        <p:spPr>
          <a:xfrm>
            <a:off x="685800" y="1371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Audits four generative search engines for verifiability - whether cited sources actually support generated claims. Finds a significant gap between surface quality and factual support.</a:t>
            </a:r>
          </a:p>
        </p:txBody>
      </p:sp>
      <p:sp>
        <p:nvSpPr>
          <p:cNvPr id="23" name=""/>
          <p:cNvSpPr txBox="1"/>
          <p:nvPr/>
        </p:nvSpPr>
        <p:spPr>
          <a:xfrm>
            <a:off x="685800" y="237744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Method</a:t>
            </a:r>
          </a:p>
        </p:txBody>
      </p:sp>
      <p:sp>
        <p:nvSpPr>
          <p:cNvPr id="24" name=""/>
          <p:cNvSpPr txBox="1"/>
          <p:nvPr/>
        </p:nvSpPr>
        <p:spPr>
          <a:xfrm>
            <a:off x="685800" y="265176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Evaluated Bing Chat, NeevaAI, perplexity.ai, YouChat using citation recall (% statements supported) and citation precision (% citations that support their claim).</a:t>
            </a:r>
          </a:p>
        </p:txBody>
      </p:sp>
      <p:sp>
        <p:nvSpPr>
          <p:cNvPr id="25" name=""/>
          <p:cNvSpPr txBox="1"/>
          <p:nvPr/>
        </p:nvSpPr>
        <p:spPr>
          <a:xfrm>
            <a:off x="68580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Limitations</a:t>
            </a:r>
          </a:p>
        </p:txBody>
      </p:sp>
      <p:sp>
        <p:nvSpPr>
          <p:cNvPr id="26" name=""/>
          <p:cNvSpPr txBox="1"/>
          <p:nvPr/>
        </p:nvSpPr>
        <p:spPr>
          <a:xfrm>
            <a:off x="685800" y="365760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Evaluated only four systems at a single point in time. Systems have evolved since the study.</a:t>
            </a:r>
          </a:p>
        </p:txBody>
      </p:sp>
      <p:sp>
        <p:nvSpPr>
          <p:cNvPr id="30" name=""/>
          <p:cNvSpPr/>
          <p:nvPr/>
        </p:nvSpPr>
        <p:spPr>
          <a:xfrm>
            <a:off x="4754880" y="1005840"/>
            <a:ext cx="3932280" cy="2103120"/>
          </a:xfrm>
          <a:custGeom>
            <a:avLst/>
            <a:gdLst/>
            <a:ahLst/>
            <a:rect l="0" t="0" r="r" b="b"/>
            <a:pathLst>
              <a:path w="10923" h="5842">
                <a:moveTo>
                  <a:pt x="0" y="0"/>
                </a:moveTo>
                <a:lnTo>
                  <a:pt x="10923" y="0"/>
                </a:lnTo>
                <a:lnTo>
                  <a:pt x="10923" y="5842"/>
                </a:lnTo>
                <a:lnTo>
                  <a:pt x="0" y="58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31" name=""/>
          <p:cNvSpPr txBox="1"/>
          <p:nvPr/>
        </p:nvSpPr>
        <p:spPr>
          <a:xfrm>
            <a:off x="498348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0fb981"/>
                </a:solidFill>
                <a:effectLst/>
                <a:uFillTx/>
                <a:latin typeface="TrebuchetMS-Bold"/>
                <a:ea typeface="TrebuchetMS-Bold"/>
              </a:rPr>
              <a:t>Key Results</a:t>
            </a:r>
          </a:p>
        </p:txBody>
      </p:sp>
      <p:sp>
        <p:nvSpPr>
          <p:cNvPr id="32" name=""/>
          <p:cNvSpPr txBox="1"/>
          <p:nvPr/>
        </p:nvSpPr>
        <p:spPr>
          <a:xfrm>
            <a:off x="4983480" y="1371600"/>
            <a:ext cx="3474720" cy="155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Only 51.5% of generated sentences are fully supported by citations. Only 74.5% of citations actually support their associated statement.</a:t>
            </a:r>
          </a:p>
        </p:txBody>
      </p:sp>
      <p:sp>
        <p:nvSpPr>
          <p:cNvPr id="40" name=""/>
          <p:cNvSpPr/>
          <p:nvPr/>
        </p:nvSpPr>
        <p:spPr>
          <a:xfrm>
            <a:off x="4754880" y="3291840"/>
            <a:ext cx="3932280" cy="1463040"/>
          </a:xfrm>
          <a:custGeom>
            <a:avLst/>
            <a:gdLst/>
            <a:ahLst/>
            <a:rect l="0" t="0" r="r" b="b"/>
            <a:pathLst>
              <a:path w="10923" h="4064">
                <a:moveTo>
                  <a:pt x="0" y="0"/>
                </a:moveTo>
                <a:lnTo>
                  <a:pt x="10923" y="0"/>
                </a:lnTo>
                <a:lnTo>
                  <a:pt x="10923" y="4064"/>
                </a:lnTo>
                <a:lnTo>
                  <a:pt x="0" y="406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98348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93c5fd"/>
                </a:solidFill>
                <a:effectLst/>
                <a:uFillTx/>
                <a:latin typeface="TrebuchetMS-Bold"/>
                <a:ea typeface="TrebuchetMS-Bold"/>
              </a:rPr>
              <a:t>Relevance to This Study</a:t>
            </a:r>
          </a:p>
        </p:txBody>
      </p:sp>
      <p:sp>
        <p:nvSpPr>
          <p:cNvPr id="42" name=""/>
          <p:cNvSpPr txBox="1"/>
          <p:nvPr/>
        </p:nvSpPr>
        <p:spPr>
          <a:xfrm>
            <a:off x="4983480" y="3657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Directly motivates our dual-metric approach: measuring both detectability (surface quality) and factual accuracy. Evading detectors but introducing errors is not useful.</a:t>
            </a:r>
          </a:p>
        </p:txBody>
      </p:sp>
      <p:sp>
        <p:nvSpPr>
          <p:cNvPr id="50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Appendix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HUMPA - Proxy Attack</a:t>
            </a: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 xml:space="preserve">  Wang et al. (2025)</a:t>
            </a:r>
          </a:p>
        </p:txBody>
      </p:sp>
      <p:sp>
        <p:nvSpPr>
          <p:cNvPr id="11" name="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</a:pPr>
            <a:r>
              <a:rPr b="0" i="1" lang="en-US" sz="8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Tianchun Wang, Yuanzhou Chen, Zichuan Liu, Zhanwen Chen, Haifeng Chen, Xiang Zhang, Wei Cheng  |  ICLR 2025</a:t>
            </a:r>
          </a:p>
        </p:txBody>
      </p:sp>
      <p:sp>
        <p:nvSpPr>
          <p:cNvPr id="20" name=""/>
          <p:cNvSpPr/>
          <p:nvPr/>
        </p:nvSpPr>
        <p:spPr>
          <a:xfrm>
            <a:off x="457200" y="1005840"/>
            <a:ext cx="3932280" cy="3749400"/>
          </a:xfrm>
          <a:custGeom>
            <a:avLst/>
            <a:gdLst/>
            <a:ahLst/>
            <a:rect l="0" t="0" r="r" b="b"/>
            <a:pathLst>
              <a:path w="10923" h="10415">
                <a:moveTo>
                  <a:pt x="0" y="0"/>
                </a:moveTo>
                <a:lnTo>
                  <a:pt x="10923" y="0"/>
                </a:lnTo>
                <a:lnTo>
                  <a:pt x="10923" y="10415"/>
                </a:lnTo>
                <a:lnTo>
                  <a:pt x="0" y="104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21" name=""/>
          <p:cNvSpPr txBox="1"/>
          <p:nvPr/>
        </p:nvSpPr>
        <p:spPr>
          <a:xfrm>
            <a:off x="68580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Core Idea</a:t>
            </a:r>
          </a:p>
        </p:txBody>
      </p:sp>
      <p:sp>
        <p:nvSpPr>
          <p:cNvPr id="22" name=""/>
          <p:cNvSpPr txBox="1"/>
          <p:nvPr/>
        </p:nvSpPr>
        <p:spPr>
          <a:xfrm>
            <a:off x="685800" y="1371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A proxy attack (HUMPA) that uses a small, RL-fine-tuned "humanized" language model to shift a large source model's output distribution toward human-like text during decoding.</a:t>
            </a:r>
          </a:p>
        </p:txBody>
      </p:sp>
      <p:sp>
        <p:nvSpPr>
          <p:cNvPr id="23" name=""/>
          <p:cNvSpPr txBox="1"/>
          <p:nvPr/>
        </p:nvSpPr>
        <p:spPr>
          <a:xfrm>
            <a:off x="685800" y="237744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Method</a:t>
            </a:r>
          </a:p>
        </p:txBody>
      </p:sp>
      <p:sp>
        <p:nvSpPr>
          <p:cNvPr id="24" name=""/>
          <p:cNvSpPr txBox="1"/>
          <p:nvPr/>
        </p:nvSpPr>
        <p:spPr>
          <a:xfrm>
            <a:off x="685800" y="265176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Fine-tune a small LM (e.g., Llama3-8B) via DPO with detector-derived preferences. At inference, the humanized SLM modifies the source model's token probabilities. No source model fine-tuning needed.</a:t>
            </a:r>
          </a:p>
        </p:txBody>
      </p:sp>
      <p:sp>
        <p:nvSpPr>
          <p:cNvPr id="25" name=""/>
          <p:cNvSpPr txBox="1"/>
          <p:nvPr/>
        </p:nvSpPr>
        <p:spPr>
          <a:xfrm>
            <a:off x="68580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Limitations</a:t>
            </a:r>
          </a:p>
        </p:txBody>
      </p:sp>
      <p:sp>
        <p:nvSpPr>
          <p:cNvPr id="26" name=""/>
          <p:cNvSpPr txBox="1"/>
          <p:nvPr/>
        </p:nvSpPr>
        <p:spPr>
          <a:xfrm>
            <a:off x="685800" y="365760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Requires training a proxy model. Utility-detectability tradeoff still exists at extreme settings.</a:t>
            </a:r>
          </a:p>
        </p:txBody>
      </p:sp>
      <p:sp>
        <p:nvSpPr>
          <p:cNvPr id="30" name=""/>
          <p:cNvSpPr/>
          <p:nvPr/>
        </p:nvSpPr>
        <p:spPr>
          <a:xfrm>
            <a:off x="4754880" y="1005840"/>
            <a:ext cx="3932280" cy="2103120"/>
          </a:xfrm>
          <a:custGeom>
            <a:avLst/>
            <a:gdLst/>
            <a:ahLst/>
            <a:rect l="0" t="0" r="r" b="b"/>
            <a:pathLst>
              <a:path w="10923" h="5842">
                <a:moveTo>
                  <a:pt x="0" y="0"/>
                </a:moveTo>
                <a:lnTo>
                  <a:pt x="10923" y="0"/>
                </a:lnTo>
                <a:lnTo>
                  <a:pt x="10923" y="5842"/>
                </a:lnTo>
                <a:lnTo>
                  <a:pt x="0" y="58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31" name=""/>
          <p:cNvSpPr txBox="1"/>
          <p:nvPr/>
        </p:nvSpPr>
        <p:spPr>
          <a:xfrm>
            <a:off x="498348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0fb981"/>
                </a:solidFill>
                <a:effectLst/>
                <a:uFillTx/>
                <a:latin typeface="TrebuchetMS-Bold"/>
                <a:ea typeface="TrebuchetMS-Bold"/>
              </a:rPr>
              <a:t>Key Results</a:t>
            </a:r>
          </a:p>
        </p:txBody>
      </p:sp>
      <p:sp>
        <p:nvSpPr>
          <p:cNvPr id="32" name=""/>
          <p:cNvSpPr txBox="1"/>
          <p:nvPr/>
        </p:nvSpPr>
        <p:spPr>
          <a:xfrm>
            <a:off x="4983480" y="1371600"/>
            <a:ext cx="3474720" cy="155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Average AUROC drop of 70.4% across datasets. Maximum drop of 95.0% on single dataset. Cross-language scenarios: up to 91.3% relative decrease in detection.</a:t>
            </a:r>
          </a:p>
        </p:txBody>
      </p:sp>
      <p:sp>
        <p:nvSpPr>
          <p:cNvPr id="40" name=""/>
          <p:cNvSpPr/>
          <p:nvPr/>
        </p:nvSpPr>
        <p:spPr>
          <a:xfrm>
            <a:off x="4754880" y="3291840"/>
            <a:ext cx="3932280" cy="1463040"/>
          </a:xfrm>
          <a:custGeom>
            <a:avLst/>
            <a:gdLst/>
            <a:ahLst/>
            <a:rect l="0" t="0" r="r" b="b"/>
            <a:pathLst>
              <a:path w="10923" h="4064">
                <a:moveTo>
                  <a:pt x="0" y="0"/>
                </a:moveTo>
                <a:lnTo>
                  <a:pt x="10923" y="0"/>
                </a:lnTo>
                <a:lnTo>
                  <a:pt x="10923" y="4064"/>
                </a:lnTo>
                <a:lnTo>
                  <a:pt x="0" y="406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98348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93c5fd"/>
                </a:solidFill>
                <a:effectLst/>
                <a:uFillTx/>
                <a:latin typeface="TrebuchetMS-Bold"/>
                <a:ea typeface="TrebuchetMS-Bold"/>
              </a:rPr>
              <a:t>Relevance to This Study</a:t>
            </a:r>
          </a:p>
        </p:txBody>
      </p:sp>
      <p:sp>
        <p:nvSpPr>
          <p:cNvPr id="42" name=""/>
          <p:cNvSpPr txBox="1"/>
          <p:nvPr/>
        </p:nvSpPr>
        <p:spPr>
          <a:xfrm>
            <a:off x="4983480" y="3657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Extends evasion beyond post-hoc paraphrasing to generation-time intervention. Our C4 tests a simpler version; HUMPA shows stronger results at the model level.</a:t>
            </a:r>
          </a:p>
        </p:txBody>
      </p:sp>
      <p:sp>
        <p:nvSpPr>
          <p:cNvPr id="50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Appendix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DetectRL - Real-World Benchmark</a:t>
            </a: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 xml:space="preserve">  Wu et al. (2024)</a:t>
            </a:r>
          </a:p>
        </p:txBody>
      </p:sp>
      <p:sp>
        <p:nvSpPr>
          <p:cNvPr id="11" name="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</a:pPr>
            <a:r>
              <a:rPr b="0" i="1" lang="en-US" sz="8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Junchao Wu, Runzhe Zhan, Derek F. Wong, Shu Yang, Xinyi Yang, Yulin Yuan, Lidia S. Chao  |  NeurIPS 2024 (Datasets and Benchmarks Track)</a:t>
            </a:r>
          </a:p>
        </p:txBody>
      </p:sp>
      <p:sp>
        <p:nvSpPr>
          <p:cNvPr id="20" name=""/>
          <p:cNvSpPr/>
          <p:nvPr/>
        </p:nvSpPr>
        <p:spPr>
          <a:xfrm>
            <a:off x="457200" y="1005840"/>
            <a:ext cx="3932280" cy="3749400"/>
          </a:xfrm>
          <a:custGeom>
            <a:avLst/>
            <a:gdLst/>
            <a:ahLst/>
            <a:rect l="0" t="0" r="r" b="b"/>
            <a:pathLst>
              <a:path w="10923" h="10415">
                <a:moveTo>
                  <a:pt x="0" y="0"/>
                </a:moveTo>
                <a:lnTo>
                  <a:pt x="10923" y="0"/>
                </a:lnTo>
                <a:lnTo>
                  <a:pt x="10923" y="10415"/>
                </a:lnTo>
                <a:lnTo>
                  <a:pt x="0" y="104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21" name=""/>
          <p:cNvSpPr txBox="1"/>
          <p:nvPr/>
        </p:nvSpPr>
        <p:spPr>
          <a:xfrm>
            <a:off x="68580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Core Idea</a:t>
            </a:r>
          </a:p>
        </p:txBody>
      </p:sp>
      <p:sp>
        <p:nvSpPr>
          <p:cNvPr id="22" name=""/>
          <p:cNvSpPr txBox="1"/>
          <p:nvPr/>
        </p:nvSpPr>
        <p:spPr>
          <a:xfrm>
            <a:off x="685800" y="1371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A benchmark showing that SOTA detectors underperform significantly in real-world conditions vs. idealized lab settings, with adversarial perturbations reducing all zero-shot detectors by 39% AUROC.</a:t>
            </a:r>
          </a:p>
        </p:txBody>
      </p:sp>
      <p:sp>
        <p:nvSpPr>
          <p:cNvPr id="23" name=""/>
          <p:cNvSpPr txBox="1"/>
          <p:nvPr/>
        </p:nvSpPr>
        <p:spPr>
          <a:xfrm>
            <a:off x="685800" y="237744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Method</a:t>
            </a:r>
          </a:p>
        </p:txBody>
      </p:sp>
      <p:sp>
        <p:nvSpPr>
          <p:cNvPr id="24" name=""/>
          <p:cNvSpPr txBox="1"/>
          <p:nvPr/>
        </p:nvSpPr>
        <p:spPr>
          <a:xfrm>
            <a:off x="685800" y="265176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Tests various prompt styles, human revisions, spelling noise, adversarial perturbations, and domain diversity across GPT-3.5, PaLM-2, Claude-instant, Llama-2-70b.</a:t>
            </a:r>
          </a:p>
        </p:txBody>
      </p:sp>
      <p:sp>
        <p:nvSpPr>
          <p:cNvPr id="25" name=""/>
          <p:cNvSpPr txBox="1"/>
          <p:nvPr/>
        </p:nvSpPr>
        <p:spPr>
          <a:xfrm>
            <a:off x="68580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Limitations</a:t>
            </a:r>
          </a:p>
        </p:txBody>
      </p:sp>
      <p:sp>
        <p:nvSpPr>
          <p:cNvPr id="26" name=""/>
          <p:cNvSpPr txBox="1"/>
          <p:nvPr/>
        </p:nvSpPr>
        <p:spPr>
          <a:xfrm>
            <a:off x="685800" y="365760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Benchmark uses specific LLMs; newer models may produce different results.</a:t>
            </a:r>
          </a:p>
        </p:txBody>
      </p:sp>
      <p:sp>
        <p:nvSpPr>
          <p:cNvPr id="30" name=""/>
          <p:cNvSpPr/>
          <p:nvPr/>
        </p:nvSpPr>
        <p:spPr>
          <a:xfrm>
            <a:off x="4754880" y="1005840"/>
            <a:ext cx="3932280" cy="2103120"/>
          </a:xfrm>
          <a:custGeom>
            <a:avLst/>
            <a:gdLst/>
            <a:ahLst/>
            <a:rect l="0" t="0" r="r" b="b"/>
            <a:pathLst>
              <a:path w="10923" h="5842">
                <a:moveTo>
                  <a:pt x="0" y="0"/>
                </a:moveTo>
                <a:lnTo>
                  <a:pt x="10923" y="0"/>
                </a:lnTo>
                <a:lnTo>
                  <a:pt x="10923" y="5842"/>
                </a:lnTo>
                <a:lnTo>
                  <a:pt x="0" y="58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31" name=""/>
          <p:cNvSpPr txBox="1"/>
          <p:nvPr/>
        </p:nvSpPr>
        <p:spPr>
          <a:xfrm>
            <a:off x="498348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0fb981"/>
                </a:solidFill>
                <a:effectLst/>
                <a:uFillTx/>
                <a:latin typeface="TrebuchetMS-Bold"/>
                <a:ea typeface="TrebuchetMS-Bold"/>
              </a:rPr>
              <a:t>Key Results</a:t>
            </a:r>
          </a:p>
        </p:txBody>
      </p:sp>
      <p:sp>
        <p:nvSpPr>
          <p:cNvPr id="32" name=""/>
          <p:cNvSpPr txBox="1"/>
          <p:nvPr/>
        </p:nvSpPr>
        <p:spPr>
          <a:xfrm>
            <a:off x="4983480" y="1371600"/>
            <a:ext cx="3474720" cy="155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Adversarial attacks reduce zero-shot detectors by 39.28% AUROC on average. Informal domain data degrades detection most. Supervised detectors more robust than zero-shot.</a:t>
            </a:r>
          </a:p>
        </p:txBody>
      </p:sp>
      <p:sp>
        <p:nvSpPr>
          <p:cNvPr id="40" name=""/>
          <p:cNvSpPr/>
          <p:nvPr/>
        </p:nvSpPr>
        <p:spPr>
          <a:xfrm>
            <a:off x="4754880" y="3291840"/>
            <a:ext cx="3932280" cy="1463040"/>
          </a:xfrm>
          <a:custGeom>
            <a:avLst/>
            <a:gdLst/>
            <a:ahLst/>
            <a:rect l="0" t="0" r="r" b="b"/>
            <a:pathLst>
              <a:path w="10923" h="4064">
                <a:moveTo>
                  <a:pt x="0" y="0"/>
                </a:moveTo>
                <a:lnTo>
                  <a:pt x="10923" y="0"/>
                </a:lnTo>
                <a:lnTo>
                  <a:pt x="10923" y="4064"/>
                </a:lnTo>
                <a:lnTo>
                  <a:pt x="0" y="406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98348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93c5fd"/>
                </a:solidFill>
                <a:effectLst/>
                <a:uFillTx/>
                <a:latin typeface="TrebuchetMS-Bold"/>
                <a:ea typeface="TrebuchetMS-Bold"/>
              </a:rPr>
              <a:t>Relevance to This Study</a:t>
            </a:r>
          </a:p>
        </p:txBody>
      </p:sp>
      <p:sp>
        <p:nvSpPr>
          <p:cNvPr id="42" name=""/>
          <p:cNvSpPr txBox="1"/>
          <p:nvPr/>
        </p:nvSpPr>
        <p:spPr>
          <a:xfrm>
            <a:off x="4983480" y="3657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Validates our multi-detector evaluation approach and the importance of testing under realistic conditions (not just clean AI output vs. clean human text).</a:t>
            </a:r>
          </a:p>
        </p:txBody>
      </p:sp>
      <p:sp>
        <p:nvSpPr>
          <p:cNvPr id="50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Appendix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000" strike="noStrike" u="none">
                <a:solidFill>
                  <a:srgbClr val="1d283a"/>
                </a:solidFill>
                <a:effectLst/>
                <a:uFillTx/>
                <a:latin typeface="TrebuchetMS-Bold"/>
                <a:ea typeface="TrebuchetMS-Bold"/>
              </a:rPr>
              <a:t>Distinct Style Persists</a:t>
            </a:r>
            <a:r>
              <a:rPr b="0" lang="en-US" sz="14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 xml:space="preserve">  Rivera Soto et al. (2025)</a:t>
            </a:r>
          </a:p>
        </p:txBody>
      </p:sp>
      <p:sp>
        <p:nvSpPr>
          <p:cNvPr id="11" name="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</a:pPr>
            <a:r>
              <a:rPr b="0" i="1" lang="en-US" sz="800" strike="noStrike" u="none">
                <a:solidFill>
                  <a:srgbClr val="94a3b8"/>
                </a:solidFill>
                <a:effectLst/>
                <a:uFillTx/>
                <a:latin typeface="Calibri-Italic"/>
                <a:ea typeface="Calibri-Italic"/>
              </a:rPr>
              <a:t>Rafael Rivera Soto, Barry Chen, Nicholas Andrews  |  arXiv preprint (2025)</a:t>
            </a:r>
          </a:p>
        </p:txBody>
      </p:sp>
      <p:sp>
        <p:nvSpPr>
          <p:cNvPr id="20" name=""/>
          <p:cNvSpPr/>
          <p:nvPr/>
        </p:nvSpPr>
        <p:spPr>
          <a:xfrm>
            <a:off x="457200" y="1005840"/>
            <a:ext cx="3932280" cy="3749400"/>
          </a:xfrm>
          <a:custGeom>
            <a:avLst/>
            <a:gdLst/>
            <a:ahLst/>
            <a:rect l="0" t="0" r="r" b="b"/>
            <a:pathLst>
              <a:path w="10923" h="10415">
                <a:moveTo>
                  <a:pt x="0" y="0"/>
                </a:moveTo>
                <a:lnTo>
                  <a:pt x="10923" y="0"/>
                </a:lnTo>
                <a:lnTo>
                  <a:pt x="10923" y="10415"/>
                </a:lnTo>
                <a:lnTo>
                  <a:pt x="0" y="104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21" name=""/>
          <p:cNvSpPr txBox="1"/>
          <p:nvPr/>
        </p:nvSpPr>
        <p:spPr>
          <a:xfrm>
            <a:off x="68580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Core Idea</a:t>
            </a:r>
          </a:p>
        </p:txBody>
      </p:sp>
      <p:sp>
        <p:nvSpPr>
          <p:cNvPr id="22" name=""/>
          <p:cNvSpPr txBox="1"/>
          <p:nvPr/>
        </p:nvSpPr>
        <p:spPr>
          <a:xfrm>
            <a:off x="685800" y="1371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Even when LLMs are explicitly optimized via RL to evade detectors, they retain identifiable stylistic signatures in a stylistic feature space. Style-aware paraphrasing is needed to truly close the gap.</a:t>
            </a:r>
          </a:p>
        </p:txBody>
      </p:sp>
      <p:sp>
        <p:nvSpPr>
          <p:cNvPr id="23" name=""/>
          <p:cNvSpPr txBox="1"/>
          <p:nvPr/>
        </p:nvSpPr>
        <p:spPr>
          <a:xfrm>
            <a:off x="685800" y="237744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Method</a:t>
            </a:r>
          </a:p>
        </p:txBody>
      </p:sp>
      <p:sp>
        <p:nvSpPr>
          <p:cNvPr id="24" name=""/>
          <p:cNvSpPr txBox="1"/>
          <p:nvPr/>
        </p:nvSpPr>
        <p:spPr>
          <a:xfrm>
            <a:off x="685800" y="265176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Analyzes stylistic features of RL-optimized models. Proposes style-aware paraphrasing that targets both statistical and stylistic detection axes.</a:t>
            </a:r>
          </a:p>
        </p:txBody>
      </p:sp>
      <p:sp>
        <p:nvSpPr>
          <p:cNvPr id="25" name=""/>
          <p:cNvSpPr txBox="1"/>
          <p:nvPr/>
        </p:nvSpPr>
        <p:spPr>
          <a:xfrm>
            <a:off x="68580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3a82f6"/>
                </a:solidFill>
                <a:effectLst/>
                <a:uFillTx/>
                <a:latin typeface="TrebuchetMS-Bold"/>
                <a:ea typeface="TrebuchetMS-Bold"/>
              </a:rPr>
              <a:t>Limitations</a:t>
            </a:r>
          </a:p>
        </p:txBody>
      </p:sp>
      <p:sp>
        <p:nvSpPr>
          <p:cNvPr id="26" name=""/>
          <p:cNvSpPr txBox="1"/>
          <p:nvPr/>
        </p:nvSpPr>
        <p:spPr>
          <a:xfrm>
            <a:off x="685800" y="365760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Multi-sample detection requires multiple documents from the same source, which may not always be available.</a:t>
            </a:r>
          </a:p>
        </p:txBody>
      </p:sp>
      <p:sp>
        <p:nvSpPr>
          <p:cNvPr id="30" name=""/>
          <p:cNvSpPr/>
          <p:nvPr/>
        </p:nvSpPr>
        <p:spPr>
          <a:xfrm>
            <a:off x="4754880" y="1005840"/>
            <a:ext cx="3932280" cy="2103120"/>
          </a:xfrm>
          <a:custGeom>
            <a:avLst/>
            <a:gdLst/>
            <a:ahLst/>
            <a:rect l="0" t="0" r="r" b="b"/>
            <a:pathLst>
              <a:path w="10923" h="5842">
                <a:moveTo>
                  <a:pt x="0" y="0"/>
                </a:moveTo>
                <a:lnTo>
                  <a:pt x="10923" y="0"/>
                </a:lnTo>
                <a:lnTo>
                  <a:pt x="10923" y="5842"/>
                </a:lnTo>
                <a:lnTo>
                  <a:pt x="0" y="58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/>
          </a:p>
        </p:txBody>
      </p:sp>
      <p:sp>
        <p:nvSpPr>
          <p:cNvPr id="31" name=""/>
          <p:cNvSpPr txBox="1"/>
          <p:nvPr/>
        </p:nvSpPr>
        <p:spPr>
          <a:xfrm>
            <a:off x="4983480" y="1097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0fb981"/>
                </a:solidFill>
                <a:effectLst/>
                <a:uFillTx/>
                <a:latin typeface="TrebuchetMS-Bold"/>
                <a:ea typeface="TrebuchetMS-Bold"/>
              </a:rPr>
              <a:t>Key Results</a:t>
            </a:r>
          </a:p>
        </p:txBody>
      </p:sp>
      <p:sp>
        <p:nvSpPr>
          <p:cNvPr id="32" name=""/>
          <p:cNvSpPr txBox="1"/>
          <p:nvPr/>
        </p:nvSpPr>
        <p:spPr>
          <a:xfrm>
            <a:off x="4983480" y="1371600"/>
            <a:ext cx="3474720" cy="155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</a:pPr>
            <a:r>
              <a:rPr b="0" lang="en-US" sz="900" strike="noStrike" u="none">
                <a:solidFill>
                  <a:srgbClr val="63738b"/>
                </a:solidFill>
                <a:effectLst/>
                <a:uFillTx/>
                <a:latin typeface="Calibri"/>
                <a:ea typeface="Calibri"/>
              </a:rPr>
              <a:t>Models fine-tuned to fool detectors still have a distinct writing style. Style-aware paraphrasing evades single-sample detection but multi-sample analysis remains robust.</a:t>
            </a:r>
          </a:p>
        </p:txBody>
      </p:sp>
      <p:sp>
        <p:nvSpPr>
          <p:cNvPr id="40" name=""/>
          <p:cNvSpPr/>
          <p:nvPr/>
        </p:nvSpPr>
        <p:spPr>
          <a:xfrm>
            <a:off x="4754880" y="3291840"/>
            <a:ext cx="3932280" cy="1463040"/>
          </a:xfrm>
          <a:custGeom>
            <a:avLst/>
            <a:gdLst/>
            <a:ahLst/>
            <a:rect l="0" t="0" r="r" b="b"/>
            <a:pathLst>
              <a:path w="10923" h="4064">
                <a:moveTo>
                  <a:pt x="0" y="0"/>
                </a:moveTo>
                <a:lnTo>
                  <a:pt x="10923" y="0"/>
                </a:lnTo>
                <a:lnTo>
                  <a:pt x="10923" y="4064"/>
                </a:lnTo>
                <a:lnTo>
                  <a:pt x="0" y="406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983480" y="3383280"/>
            <a:ext cx="347472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100" strike="noStrike" u="none">
                <a:solidFill>
                  <a:srgbClr val="93c5fd"/>
                </a:solidFill>
                <a:effectLst/>
                <a:uFillTx/>
                <a:latin typeface="TrebuchetMS-Bold"/>
                <a:ea typeface="TrebuchetMS-Bold"/>
              </a:rPr>
              <a:t>Relevance to This Study</a:t>
            </a:r>
          </a:p>
        </p:txBody>
      </p:sp>
      <p:sp>
        <p:nvSpPr>
          <p:cNvPr id="42" name=""/>
          <p:cNvSpPr txBox="1"/>
          <p:nvPr/>
        </p:nvSpPr>
        <p:spPr>
          <a:xfrm>
            <a:off x="4983480" y="3657600"/>
            <a:ext cx="34747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Directly supports our H5 hypothesis - measurable linguistic features (sentence variance, contractions, discourse markers) form a robust detection axis. Aligns with our 10-feature analysis.</a:t>
            </a:r>
          </a:p>
        </p:txBody>
      </p:sp>
      <p:sp>
        <p:nvSpPr>
          <p:cNvPr id="50" name="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Appendix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LibreOffice/25.2.6.2$Linux_AARCH64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