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package/2006/relationships/metadata/core-properties" Target="docProps/core.xml"/>
  <Relationship Id="rId2" Type="http://schemas.openxmlformats.org/officeDocument/2006/relationships/extended-properties" Target="docProps/app.xml"/>
  <Relationship Id="rId3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82" r:id="rId34"/>
    <p:sldId id="283" r:id="rId35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0CA"/>
          </a:solidFill>
        </a:fill>
      </a:tcStyle>
    </a:wholeTbl>
    <a:band2H>
      <a:tcTxStyle b="def" i="def"/>
      <a:tcStyle>
        <a:tcBdr/>
        <a:fill>
          <a:solidFill>
            <a:srgbClr val="E7F0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CDCA"/>
          </a:solidFill>
        </a:fill>
      </a:tcStyle>
    </a:wholeTbl>
    <a:band2H>
      <a:tcTxStyle b="def" i="def"/>
      <a:tcStyle>
        <a:tcBdr/>
        <a:fill>
          <a:solidFill>
            <a:srgbClr val="F0E8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CBCB"/>
          </a:solidFill>
        </a:fill>
      </a:tcStyle>
    </a:wholeTbl>
    <a:band2H>
      <a:tcTxStyle b="def" i="def"/>
      <a:tcStyle>
        <a:tcBdr/>
        <a:fill>
          <a:solidFill>
            <a:srgbClr val="F5E7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
  <Relationship Id="rId1" Type="http://schemas.openxmlformats.org/officeDocument/2006/relationships/presProps" Target="presProps.xml"/>
  <Relationship Id="rId2" Type="http://schemas.openxmlformats.org/officeDocument/2006/relationships/viewProps" Target="viewProps.xml"/>
  <Relationship Id="rId3" Type="http://schemas.openxmlformats.org/officeDocument/2006/relationships/commentAuthors" Target="commentAuthors.xml"/>
  <Relationship Id="rId4" Type="http://schemas.openxmlformats.org/officeDocument/2006/relationships/tableStyles" Target="tableStyles.xml"/>
  <Relationship Id="rId5" Type="http://schemas.openxmlformats.org/officeDocument/2006/relationships/slideMaster" Target="slideMasters/slideMaster1.xml"/>
  <Relationship Id="rId6" Type="http://schemas.openxmlformats.org/officeDocument/2006/relationships/theme" Target="theme/theme1.xml"/>
  <Relationship Id="rId7" Type="http://schemas.openxmlformats.org/officeDocument/2006/relationships/notesMaster" Target="notesMasters/notesMaster1.xml"/>
  <Relationship Id="rId8" Type="http://schemas.openxmlformats.org/officeDocument/2006/relationships/slide" Target="slides/slide1.xml"/>
  <Relationship Id="rId9" Type="http://schemas.openxmlformats.org/officeDocument/2006/relationships/slide" Target="slides/slide2.xml"/>
  <Relationship Id="rId10" Type="http://schemas.openxmlformats.org/officeDocument/2006/relationships/slide" Target="slides/slide3.xml"/>
  <Relationship Id="rId11" Type="http://schemas.openxmlformats.org/officeDocument/2006/relationships/slide" Target="slides/slide4.xml"/>
  <Relationship Id="rId12" Type="http://schemas.openxmlformats.org/officeDocument/2006/relationships/slide" Target="slides/slide5.xml"/>
  <Relationship Id="rId13" Type="http://schemas.openxmlformats.org/officeDocument/2006/relationships/slide" Target="slides/slide6.xml"/>
  <Relationship Id="rId14" Type="http://schemas.openxmlformats.org/officeDocument/2006/relationships/slide" Target="slides/slide7.xml"/>
  <Relationship Id="rId15" Type="http://schemas.openxmlformats.org/officeDocument/2006/relationships/slide" Target="slides/slide8.xml"/>
  <Relationship Id="rId16" Type="http://schemas.openxmlformats.org/officeDocument/2006/relationships/slide" Target="slides/slide9.xml"/>
  <Relationship Id="rId17" Type="http://schemas.openxmlformats.org/officeDocument/2006/relationships/slide" Target="slides/slide10.xml"/>
  <Relationship Id="rId18" Type="http://schemas.openxmlformats.org/officeDocument/2006/relationships/slide" Target="slides/slide11.xml"/>
  <Relationship Id="rId19" Type="http://schemas.openxmlformats.org/officeDocument/2006/relationships/slide" Target="slides/slide12.xml"/>
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  <Relationship Id="rId26" Type="http://schemas.openxmlformats.org/officeDocument/2006/relationships/slide" Target="slides/slide19.xml"/>
  <Relationship Id="rId27" Type="http://schemas.openxmlformats.org/officeDocument/2006/relationships/slide" Target="slides/slide20.xml"/>
  <Relationship Id="rId28" Type="http://schemas.openxmlformats.org/officeDocument/2006/relationships/slide" Target="slides/slide21.xml"/>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  <Relationship Id="rId35" Type="http://schemas.openxmlformats.org/officeDocument/2006/relationships/slide" Target="slides/slide28.xml"/>
</Relationships>
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xfrm>
            <a:off x="457200" y="205199"/>
            <a:ext cx="8229241" cy="85824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idx="1"/>
          </p:nvPr>
        </p:nvSpPr>
        <p:spPr>
          <a:xfrm>
            <a:off x="457200" y="1203480"/>
            <a:ext cx="8229241" cy="2982600"/>
          </a:xfrm>
          <a:prstGeom prst="rect">
            <a:avLst/>
          </a:prstGeom>
        </p:spPr>
        <p:txBody>
          <a:bodyPr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  <Relationship Id="rId3" Type="http://schemas.openxmlformats.org/officeDocument/2006/relationships/slideLayout" Target="../slideLayouts/slideLayout2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431999" marR="0" indent="-323999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910285" marR="0" indent="-370285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75000"/>
        <a:buFont typeface="Wingdings"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392000" marR="0" indent="-38400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 typeface="Wingdings"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857599" marR="0" indent="-34560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75000"/>
        <a:buFont typeface="Wingdings"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289599" marR="0" indent="-34560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 typeface="Wingdings"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721599" marR="0" indent="-34560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 typeface="Wingdings"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153599" marR="0" indent="-34560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 typeface="Wingdings"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 typeface="Wingdings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 typeface="Wingdings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xt Enrichment and…"/>
          <p:cNvSpPr txBox="1"/>
          <p:nvPr/>
        </p:nvSpPr>
        <p:spPr>
          <a:xfrm>
            <a:off x="776520" y="1097280"/>
            <a:ext cx="7590960" cy="1431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15000"/>
              </a:lnSpc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Context Enrichment and</a:t>
            </a:r>
          </a:p>
          <a:p>
            <a:pPr>
              <a:lnSpc>
                <a:spcPct val="115000"/>
              </a:lnSpc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Style Intervention for Reducing</a:t>
            </a:r>
          </a:p>
          <a:p>
            <a:pPr>
              <a:lnSpc>
                <a:spcPct val="115000"/>
              </a:lnSpc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AI Detectability in Technical Content</a:t>
            </a:r>
          </a:p>
        </p:txBody>
      </p:sp>
      <p:sp>
        <p:nvSpPr>
          <p:cNvPr id="30" name="Yongkyun Lee"/>
          <p:cNvSpPr txBox="1"/>
          <p:nvPr/>
        </p:nvSpPr>
        <p:spPr>
          <a:xfrm>
            <a:off x="776519" y="3200399"/>
            <a:ext cx="4482001" cy="33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Yongkyun Lee</a:t>
            </a:r>
          </a:p>
        </p:txBody>
      </p:sp>
      <p:sp>
        <p:nvSpPr>
          <p:cNvPr id="31" name="Mini Research Project  -  March 2025"/>
          <p:cNvSpPr txBox="1"/>
          <p:nvPr/>
        </p:nvSpPr>
        <p:spPr>
          <a:xfrm>
            <a:off x="776519" y="3611879"/>
            <a:ext cx="4482001" cy="25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Mini Research Project  -  March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bout Me"/>
          <p:cNvSpPr txBox="1"/>
          <p:nvPr/>
        </p:nvSpPr>
        <p:spPr>
          <a:xfrm>
            <a:off x="593640" y="274320"/>
            <a:ext cx="4482001" cy="49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About Me</a:t>
            </a:r>
          </a:p>
        </p:txBody>
      </p:sp>
      <p:sp>
        <p:nvSpPr>
          <p:cNvPr id="34" name="yongkyun.daniel.lee@gmail.com  |  linkedin.com/in/yongkyunlee  |  noninertialframe.com"/>
          <p:cNvSpPr txBox="1"/>
          <p:nvPr/>
        </p:nvSpPr>
        <p:spPr>
          <a:xfrm>
            <a:off x="4434119" y="274320"/>
            <a:ext cx="4482002" cy="38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1100"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yongkyun.daniel.lee@gmail.com  |  linkedin.com/in/yongkyunlee  |  noninertialframe.com</a:t>
            </a:r>
          </a:p>
        </p:txBody>
      </p:sp>
      <p:sp>
        <p:nvSpPr>
          <p:cNvPr id="35" name="Rectangle"/>
          <p:cNvSpPr/>
          <p:nvPr/>
        </p:nvSpPr>
        <p:spPr>
          <a:xfrm>
            <a:off x="1188720" y="1005839"/>
            <a:ext cx="27432" cy="3688919"/>
          </a:xfrm>
          <a:prstGeom prst="rect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" name="Circle"/>
          <p:cNvSpPr/>
          <p:nvPr/>
        </p:nvSpPr>
        <p:spPr>
          <a:xfrm>
            <a:off x="1142999" y="1142999"/>
            <a:ext cx="118874" cy="118874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" name="Sergeant, Republic of Korea Army"/>
          <p:cNvSpPr txBox="1"/>
          <p:nvPr/>
        </p:nvSpPr>
        <p:spPr>
          <a:xfrm>
            <a:off x="1477560" y="1055835"/>
            <a:ext cx="6996601" cy="29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Sergeant, Republic of Korea Army</a:t>
            </a:r>
          </a:p>
        </p:txBody>
      </p:sp>
      <p:sp>
        <p:nvSpPr>
          <p:cNvPr id="38" name="Circle"/>
          <p:cNvSpPr/>
          <p:nvPr/>
        </p:nvSpPr>
        <p:spPr>
          <a:xfrm>
            <a:off x="1142999" y="1873000"/>
            <a:ext cx="118874" cy="118873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9" name="Software Engineer, Onehouse"/>
          <p:cNvSpPr txBox="1"/>
          <p:nvPr/>
        </p:nvSpPr>
        <p:spPr>
          <a:xfrm>
            <a:off x="1477560" y="3245836"/>
            <a:ext cx="6996601" cy="29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Software Engineer, Onehouse</a:t>
            </a:r>
          </a:p>
        </p:txBody>
      </p:sp>
      <p:sp>
        <p:nvSpPr>
          <p:cNvPr id="40" name="Circle"/>
          <p:cNvSpPr/>
          <p:nvPr/>
        </p:nvSpPr>
        <p:spPr>
          <a:xfrm>
            <a:off x="1142999" y="2603000"/>
            <a:ext cx="118874" cy="118873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" name="Analyst, Goldman Sachs"/>
          <p:cNvSpPr txBox="1"/>
          <p:nvPr/>
        </p:nvSpPr>
        <p:spPr>
          <a:xfrm>
            <a:off x="1477560" y="2515836"/>
            <a:ext cx="6996601" cy="29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Analyst, Goldman Sachs</a:t>
            </a:r>
          </a:p>
        </p:txBody>
      </p:sp>
      <p:sp>
        <p:nvSpPr>
          <p:cNvPr id="42" name="Circle"/>
          <p:cNvSpPr/>
          <p:nvPr/>
        </p:nvSpPr>
        <p:spPr>
          <a:xfrm>
            <a:off x="1142999" y="3333000"/>
            <a:ext cx="118874" cy="118873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3" name="2021"/>
          <p:cNvSpPr txBox="1"/>
          <p:nvPr/>
        </p:nvSpPr>
        <p:spPr>
          <a:xfrm>
            <a:off x="558579" y="186530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2021</a:t>
            </a:r>
          </a:p>
        </p:txBody>
      </p:sp>
      <p:sp>
        <p:nvSpPr>
          <p:cNvPr id="44" name="2022-2026"/>
          <p:cNvSpPr txBox="1"/>
          <p:nvPr/>
        </p:nvSpPr>
        <p:spPr>
          <a:xfrm>
            <a:off x="272233" y="3325302"/>
            <a:ext cx="8250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2022-2026</a:t>
            </a:r>
          </a:p>
        </p:txBody>
      </p:sp>
      <p:sp>
        <p:nvSpPr>
          <p:cNvPr id="45" name="2021-2022"/>
          <p:cNvSpPr txBox="1"/>
          <p:nvPr/>
        </p:nvSpPr>
        <p:spPr>
          <a:xfrm>
            <a:off x="272233" y="2595302"/>
            <a:ext cx="8250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2021-2022</a:t>
            </a:r>
          </a:p>
        </p:txBody>
      </p:sp>
      <p:sp>
        <p:nvSpPr>
          <p:cNvPr id="46" name="2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 / 18</a:t>
            </a:r>
          </a:p>
        </p:txBody>
      </p:sp>
      <p:sp>
        <p:nvSpPr>
          <p:cNvPr id="47" name="Circle"/>
          <p:cNvSpPr/>
          <p:nvPr/>
        </p:nvSpPr>
        <p:spPr>
          <a:xfrm>
            <a:off x="1143000" y="4156791"/>
            <a:ext cx="118873" cy="118873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8" name="2016-2018"/>
          <p:cNvSpPr txBox="1"/>
          <p:nvPr/>
        </p:nvSpPr>
        <p:spPr>
          <a:xfrm>
            <a:off x="372142" y="1135302"/>
            <a:ext cx="73507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2016-2018</a:t>
            </a:r>
          </a:p>
        </p:txBody>
      </p:sp>
      <p:sp>
        <p:nvSpPr>
          <p:cNvPr id="49" name="B.S. Computer Science, Caltech"/>
          <p:cNvSpPr txBox="1"/>
          <p:nvPr/>
        </p:nvSpPr>
        <p:spPr>
          <a:xfrm>
            <a:off x="1477560" y="1785836"/>
            <a:ext cx="6996601" cy="29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B.S. Computer Science, Caltech</a:t>
            </a:r>
          </a:p>
        </p:txBody>
      </p:sp>
      <p:sp>
        <p:nvSpPr>
          <p:cNvPr id="50" name="Portfolio management tool in Private Wealth Management Team"/>
          <p:cNvSpPr txBox="1"/>
          <p:nvPr/>
        </p:nvSpPr>
        <p:spPr>
          <a:xfrm>
            <a:off x="1515637" y="2839599"/>
            <a:ext cx="40406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 xml:space="preserve">Portfolio management tool in Private Wealth Management Team </a:t>
            </a:r>
          </a:p>
        </p:txBody>
      </p:sp>
      <p:sp>
        <p:nvSpPr>
          <p:cNvPr id="51" name="Spark Jobs/SQL platform. Quanton Engine optimization. Lakebase."/>
          <p:cNvSpPr txBox="1"/>
          <p:nvPr/>
        </p:nvSpPr>
        <p:spPr>
          <a:xfrm>
            <a:off x="1524104" y="3547360"/>
            <a:ext cx="4085308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Spark Jobs/SQL platform. Quanton Engine optimization. Lakebase.</a:t>
            </a:r>
          </a:p>
        </p:txBody>
      </p:sp>
      <p:sp>
        <p:nvSpPr>
          <p:cNvPr id="52" name="2026-Present"/>
          <p:cNvSpPr txBox="1"/>
          <p:nvPr/>
        </p:nvSpPr>
        <p:spPr>
          <a:xfrm>
            <a:off x="272233" y="4149093"/>
            <a:ext cx="82504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2026-Present</a:t>
            </a:r>
          </a:p>
        </p:txBody>
      </p:sp>
      <p:sp>
        <p:nvSpPr>
          <p:cNvPr id="53" name="Founder, Galley"/>
          <p:cNvSpPr txBox="1"/>
          <p:nvPr/>
        </p:nvSpPr>
        <p:spPr>
          <a:xfrm>
            <a:off x="1477560" y="4069627"/>
            <a:ext cx="6996601" cy="29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Founder, Galley</a:t>
            </a:r>
          </a:p>
        </p:txBody>
      </p:sp>
      <p:sp>
        <p:nvSpPr>
          <p:cNvPr id="54" name="AI team for technical content marketing"/>
          <p:cNvSpPr txBox="1"/>
          <p:nvPr/>
        </p:nvSpPr>
        <p:spPr>
          <a:xfrm>
            <a:off x="1515637" y="4356721"/>
            <a:ext cx="246650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 team for technical content marketing</a:t>
            </a:r>
          </a:p>
        </p:txBody>
      </p:sp>
      <p:sp>
        <p:nvSpPr>
          <p:cNvPr id="55" name="SIGINT research"/>
          <p:cNvSpPr txBox="1"/>
          <p:nvPr/>
        </p:nvSpPr>
        <p:spPr>
          <a:xfrm>
            <a:off x="1515637" y="1347877"/>
            <a:ext cx="99355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SIGINT research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l;dr"/>
          <p:cNvSpPr txBox="1"/>
          <p:nvPr/>
        </p:nvSpPr>
        <p:spPr>
          <a:xfrm>
            <a:off x="776519" y="365759"/>
            <a:ext cx="3567601" cy="62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6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tl;dr</a:t>
            </a:r>
          </a:p>
        </p:txBody>
      </p:sp>
      <p:sp>
        <p:nvSpPr>
          <p:cNvPr id="70" name="Problem Label"/>
          <p:cNvSpPr txBox="1"/>
          <p:nvPr/>
        </p:nvSpPr>
        <p:spPr>
          <a:xfrm>
            <a:off x="776519" y="1188719"/>
            <a:ext cx="7591081" cy="369332"/>
          </a:xfrm>
          <a:prstGeom prst="rect">
            <a:avLst/>
          </a:prstGeom>
          <a:ln w="12700">
            <a:miter lim="400000"/>
          </a:ln>
        </p:spPr>
        <p:txBody>
          <a:bodyPr lIns="44999" tIns="44999" rIns="44999" bIns="44999">
            <a:spAutoFit/>
          </a:bodyPr>
          <a:lstStyle/>
          <a:p>
            <a:pPr algn="l"/>
            <a:r>
              <a:rPr lang="en-US" sz="1800" b="1">
                <a:solidFill>
                  <a:srgbClr val="3A82F6"/>
                </a:solidFill>
                <a:latin typeface="Trebuchet MS"/>
                <a:ea typeface="Trebuchet MS"/>
                <a:cs typeface="Trebuchet MS"/>
              </a:rPr>
              <a:t>Problem</a:t>
            </a:r>
          </a:p>
        </p:txBody>
      </p:sp>
      <p:sp>
        <p:nvSpPr>
          <p:cNvPr id="71" name="Problem Text"/>
          <p:cNvSpPr txBox="1"/>
          <p:nvPr/>
        </p:nvSpPr>
        <p:spPr>
          <a:xfrm>
            <a:off x="776519" y="1554719"/>
            <a:ext cx="7591081" cy="461665"/>
          </a:xfrm>
          <a:prstGeom prst="rect">
            <a:avLst/>
          </a:prstGeom>
          <a:ln w="12700">
            <a:miter lim="400000"/>
          </a:ln>
        </p:spPr>
        <p:txBody>
          <a:bodyPr lIns="44999" tIns="44999" rIns="44999" bIns="44999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400">
                <a:solidFill>
                  <a:srgbClr val="63738B"/>
                </a:solidFill>
                <a:latin typeface="Calibri"/>
                <a:ea typeface="Calibri"/>
                <a:cs typeface="Calibri"/>
              </a:rPr>
              <a:t>AI-generated technical content is easily detected - 73% of readers say they can spot it, and detectors report &gt;99% accuracy on raw output.</a:t>
            </a:r>
          </a:p>
        </p:txBody>
      </p:sp>
      <p:sp>
        <p:nvSpPr>
          <p:cNvPr id="72" name="Method Label"/>
          <p:cNvSpPr txBox="1"/>
          <p:nvPr/>
        </p:nvSpPr>
        <p:spPr>
          <a:xfrm>
            <a:off x="776519" y="2200000"/>
            <a:ext cx="7591081" cy="369332"/>
          </a:xfrm>
          <a:prstGeom prst="rect">
            <a:avLst/>
          </a:prstGeom>
          <a:ln w="12700">
            <a:miter lim="400000"/>
          </a:ln>
        </p:spPr>
        <p:txBody>
          <a:bodyPr lIns="44999" tIns="44999" rIns="44999" bIns="44999">
            <a:spAutoFit/>
          </a:bodyPr>
          <a:lstStyle/>
          <a:p>
            <a:pPr algn="l"/>
            <a:r>
              <a:rPr lang="en-US" sz="1800" b="1">
                <a:solidFill>
                  <a:srgbClr val="F97215"/>
                </a:solidFill>
                <a:latin typeface="Trebuchet MS"/>
                <a:ea typeface="Trebuchet MS"/>
                <a:cs typeface="Trebuchet MS"/>
              </a:rPr>
              <a:t>Method</a:t>
            </a:r>
          </a:p>
        </p:txBody>
      </p:sp>
      <p:sp>
        <p:nvSpPr>
          <p:cNvPr id="73" name="Method Text"/>
          <p:cNvSpPr txBox="1"/>
          <p:nvPr/>
        </p:nvSpPr>
        <p:spPr>
          <a:xfrm>
            <a:off x="776519" y="2566000"/>
            <a:ext cx="7591081" cy="461665"/>
          </a:xfrm>
          <a:prstGeom prst="rect">
            <a:avLst/>
          </a:prstGeom>
          <a:ln w="12700">
            <a:miter lim="400000"/>
          </a:ln>
        </p:spPr>
        <p:txBody>
          <a:bodyPr lIns="44999" tIns="44999" rIns="44999" bIns="44999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400">
                <a:solidFill>
                  <a:srgbClr val="63738B"/>
                </a:solidFill>
                <a:latin typeface="Calibri"/>
                <a:ea typeface="Calibri"/>
                <a:cs typeface="Calibri"/>
              </a:rPr>
              <a:t>5-condition ablation study isolating the effects of context enrichment, style constraints, and post-hoc humanization on detectability and factual accuracy across 15 tasks.</a:t>
            </a:r>
          </a:p>
        </p:txBody>
      </p:sp>
      <p:sp>
        <p:nvSpPr>
          <p:cNvPr id="74" name="Key Results Label"/>
          <p:cNvSpPr txBox="1"/>
          <p:nvPr/>
        </p:nvSpPr>
        <p:spPr>
          <a:xfrm>
            <a:off x="776519" y="3200000"/>
            <a:ext cx="7591081" cy="369332"/>
          </a:xfrm>
          <a:prstGeom prst="rect">
            <a:avLst/>
          </a:prstGeom>
          <a:ln w="12700">
            <a:miter lim="400000"/>
          </a:ln>
        </p:spPr>
        <p:txBody>
          <a:bodyPr lIns="44999" tIns="44999" rIns="44999" bIns="44999">
            <a:spAutoFit/>
          </a:bodyPr>
          <a:lstStyle/>
          <a:p>
            <a:pPr algn="l"/>
            <a:r>
              <a:rPr lang="en-US" sz="1800" b="1">
                <a:solidFill>
                  <a:srgbClr val="0FB981"/>
                </a:solidFill>
                <a:latin typeface="Trebuchet MS"/>
                <a:ea typeface="Trebuchet MS"/>
                <a:cs typeface="Trebuchet MS"/>
              </a:rPr>
              <a:t>Key Results</a:t>
            </a:r>
          </a:p>
        </p:txBody>
      </p:sp>
      <p:sp>
        <p:nvSpPr>
          <p:cNvPr id="75" name="Key Results Text"/>
          <p:cNvSpPr txBox="1"/>
          <p:nvPr/>
        </p:nvSpPr>
        <p:spPr>
          <a:xfrm>
            <a:off x="776519" y="3566000"/>
            <a:ext cx="7591081" cy="461665"/>
          </a:xfrm>
          <a:prstGeom prst="rect">
            <a:avLst/>
          </a:prstGeom>
          <a:ln w="12700">
            <a:miter lim="400000"/>
          </a:ln>
        </p:spPr>
        <p:txBody>
          <a:bodyPr lIns="44999" tIns="44999" rIns="44999" bIns="44999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400">
                <a:solidFill>
                  <a:srgbClr val="63738B"/>
                </a:solidFill>
                <a:latin typeface="Calibri"/>
                <a:ea typeface="Calibri"/>
                <a:cs typeface="Calibri"/>
              </a:rPr>
              <a:t>Style constraints (C3) reduced AI detection by [X]% while preserving [Y]% accuracy. Post-hoc humanization (C4) achieved lowest scores but introduced factual errors in [Z]% of cases.</a:t>
            </a:r>
          </a:p>
        </p:txBody>
      </p:sp>
      <p:sp>
        <p:nvSpPr>
          <p:cNvPr id="67" name="3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Motivation"/>
          <p:cNvSpPr txBox="1"/>
          <p:nvPr/>
        </p:nvSpPr>
        <p:spPr>
          <a:xfrm>
            <a:off x="776519" y="320039"/>
            <a:ext cx="4482001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Motivation</a:t>
            </a:r>
          </a:p>
        </p:txBody>
      </p:sp>
      <p:sp>
        <p:nvSpPr>
          <p:cNvPr id="70" name="The &quot;AI Slop&quot; Problem in Technical Content"/>
          <p:cNvSpPr txBox="1"/>
          <p:nvPr/>
        </p:nvSpPr>
        <p:spPr>
          <a:xfrm>
            <a:off x="776519" y="822960"/>
            <a:ext cx="7225201" cy="27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"AI Slop" Problem in Technical Content</a:t>
            </a:r>
          </a:p>
        </p:txBody>
      </p:sp>
      <p:sp>
        <p:nvSpPr>
          <p:cNvPr id="71" name="Rectangle"/>
          <p:cNvSpPr/>
          <p:nvPr/>
        </p:nvSpPr>
        <p:spPr>
          <a:xfrm>
            <a:off x="457199" y="1417319"/>
            <a:ext cx="3932282" cy="137196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2" name="9x"/>
          <p:cNvSpPr txBox="1"/>
          <p:nvPr/>
        </p:nvSpPr>
        <p:spPr>
          <a:xfrm>
            <a:off x="776519" y="1554479"/>
            <a:ext cx="1281601" cy="69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42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9x</a:t>
            </a:r>
          </a:p>
        </p:txBody>
      </p:sp>
      <p:sp>
        <p:nvSpPr>
          <p:cNvPr id="73" name="Growth in AI-generated…"/>
          <p:cNvSpPr txBox="1"/>
          <p:nvPr/>
        </p:nvSpPr>
        <p:spPr>
          <a:xfrm>
            <a:off x="2239560" y="1645920"/>
            <a:ext cx="1921680" cy="484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Growth in AI-generated</a:t>
            </a:r>
          </a:p>
          <a:p>
            <a:pPr>
              <a:lnSpc>
                <a:spcPct val="130000"/>
              </a:lnSpc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content production</a:t>
            </a:r>
          </a:p>
        </p:txBody>
      </p:sp>
      <p:sp>
        <p:nvSpPr>
          <p:cNvPr id="74" name="Rectangle"/>
          <p:cNvSpPr/>
          <p:nvPr/>
        </p:nvSpPr>
        <p:spPr>
          <a:xfrm>
            <a:off x="4571999" y="1417319"/>
            <a:ext cx="3932282" cy="137196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5" name="73%"/>
          <p:cNvSpPr txBox="1"/>
          <p:nvPr/>
        </p:nvSpPr>
        <p:spPr>
          <a:xfrm>
            <a:off x="4891320" y="1554480"/>
            <a:ext cx="1281601" cy="69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4200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73%</a:t>
            </a:r>
          </a:p>
        </p:txBody>
      </p:sp>
      <p:sp>
        <p:nvSpPr>
          <p:cNvPr id="76" name="Of practitioners say they…"/>
          <p:cNvSpPr txBox="1"/>
          <p:nvPr/>
        </p:nvSpPr>
        <p:spPr>
          <a:xfrm>
            <a:off x="6354359" y="1645920"/>
            <a:ext cx="1921680" cy="484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Of practitioners say they</a:t>
            </a:r>
          </a:p>
          <a:p>
            <a:pPr>
              <a:lnSpc>
                <a:spcPct val="130000"/>
              </a:lnSpc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can identify AI text</a:t>
            </a:r>
          </a:p>
        </p:txBody>
      </p:sp>
      <p:sp>
        <p:nvSpPr>
          <p:cNvPr id="77" name="Rectangle"/>
          <p:cNvSpPr/>
          <p:nvPr/>
        </p:nvSpPr>
        <p:spPr>
          <a:xfrm>
            <a:off x="457199" y="3017520"/>
            <a:ext cx="3932282" cy="13719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8" name="&gt;99%"/>
          <p:cNvSpPr txBox="1"/>
          <p:nvPr/>
        </p:nvSpPr>
        <p:spPr>
          <a:xfrm>
            <a:off x="776519" y="3154679"/>
            <a:ext cx="1281601" cy="130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4200">
                <a:solidFill>
                  <a:srgbClr val="EF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&gt;99%</a:t>
            </a:r>
          </a:p>
        </p:txBody>
      </p:sp>
      <p:sp>
        <p:nvSpPr>
          <p:cNvPr id="79" name="Detector accuracy on…"/>
          <p:cNvSpPr txBox="1"/>
          <p:nvPr/>
        </p:nvSpPr>
        <p:spPr>
          <a:xfrm>
            <a:off x="2239560" y="3246120"/>
            <a:ext cx="1921680" cy="484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Detector accuracy on</a:t>
            </a:r>
          </a:p>
          <a:p>
            <a:pPr>
              <a:lnSpc>
                <a:spcPct val="130000"/>
              </a:lnSpc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unmodified AI output</a:t>
            </a:r>
          </a:p>
        </p:txBody>
      </p:sp>
      <p:sp>
        <p:nvSpPr>
          <p:cNvPr id="80" name="Rectangle"/>
          <p:cNvSpPr/>
          <p:nvPr/>
        </p:nvSpPr>
        <p:spPr>
          <a:xfrm>
            <a:off x="4571999" y="3017520"/>
            <a:ext cx="3932282" cy="13719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1" name="?"/>
          <p:cNvSpPr txBox="1"/>
          <p:nvPr/>
        </p:nvSpPr>
        <p:spPr>
          <a:xfrm>
            <a:off x="4891320" y="3154679"/>
            <a:ext cx="1281601" cy="69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42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?</a:t>
            </a:r>
          </a:p>
        </p:txBody>
      </p:sp>
      <p:sp>
        <p:nvSpPr>
          <p:cNvPr id="82" name="Which interventions…"/>
          <p:cNvSpPr txBox="1"/>
          <p:nvPr/>
        </p:nvSpPr>
        <p:spPr>
          <a:xfrm>
            <a:off x="6354359" y="3246120"/>
            <a:ext cx="1921680" cy="484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Which interventions</a:t>
            </a:r>
          </a:p>
          <a:p>
            <a:pPr>
              <a:lnSpc>
                <a:spcPct val="130000"/>
              </a:lnSpc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actually reduce detectability?</a:t>
            </a:r>
          </a:p>
        </p:txBody>
      </p:sp>
      <p:sp>
        <p:nvSpPr>
          <p:cNvPr id="83" name="4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he Open Question"/>
          <p:cNvSpPr txBox="1"/>
          <p:nvPr/>
        </p:nvSpPr>
        <p:spPr>
          <a:xfrm>
            <a:off x="776519" y="320040"/>
            <a:ext cx="7225201" cy="49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The Open Question</a:t>
            </a:r>
          </a:p>
        </p:txBody>
      </p:sp>
      <p:sp>
        <p:nvSpPr>
          <p:cNvPr id="86" name="Rectangle"/>
          <p:cNvSpPr/>
          <p:nvPr/>
        </p:nvSpPr>
        <p:spPr>
          <a:xfrm>
            <a:off x="457199" y="2606039"/>
            <a:ext cx="8229962" cy="22406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7" name="Course Connection"/>
          <p:cNvSpPr txBox="1"/>
          <p:nvPr/>
        </p:nvSpPr>
        <p:spPr>
          <a:xfrm>
            <a:off x="776519" y="2788920"/>
            <a:ext cx="3567601" cy="30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5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Course Connection</a:t>
            </a:r>
          </a:p>
        </p:txBody>
      </p:sp>
      <p:sp>
        <p:nvSpPr>
          <p:cNvPr id="88" name="Lecture 03 (Transformers &amp; LLMs): Interventions that reduce detectability may introduce hallucinations…"/>
          <p:cNvSpPr txBox="1"/>
          <p:nvPr/>
        </p:nvSpPr>
        <p:spPr>
          <a:xfrm>
            <a:off x="776520" y="3246120"/>
            <a:ext cx="7590960" cy="816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60000"/>
              </a:lnSpc>
              <a:defRPr b="1" sz="12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 xml:space="preserve">Lecture 03 (Transformers &amp; LLMs): </a:t>
            </a:r>
            <a:r>
              <a:rPr b="0">
                <a:solidFill>
                  <a:srgbClr val="63738B"/>
                </a:solidFill>
              </a:rPr>
              <a:t>Interventions that reduce detectability may introduce hallucinations</a:t>
            </a:r>
          </a:p>
          <a:p>
            <a:pPr>
              <a:lnSpc>
                <a:spcPct val="160000"/>
              </a:lnSpc>
              <a:defRPr b="1" sz="12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 xml:space="preserve">Lecture 09 (Evaluation &amp; Trustworthy AI): </a:t>
            </a:r>
            <a:r>
              <a:rPr b="0">
                <a:solidFill>
                  <a:srgbClr val="63738B"/>
                </a:solidFill>
              </a:rPr>
              <a:t>Building automated evaluation for naturalness, a quality dimension that relies on subjective judgment</a:t>
            </a:r>
          </a:p>
        </p:txBody>
      </p:sp>
      <p:sp>
        <p:nvSpPr>
          <p:cNvPr id="89" name="5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5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00" name="Literature Review"/>
          <p:cNvSpPr txBox="1"/>
          <p:nvPr/>
        </p:nvSpPr>
        <p:spPr>
          <a:xfrm>
            <a:off x="776519" y="320039"/>
            <a:ext cx="4482001" cy="559901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3200" lang="en-US">
                <a:solidFill>
                  <a:srgbClr val="1D283A"/>
                </a:solidFill>
                <a:latin typeface="Trebuchet MS"/>
              </a:rPr>
              <a:t>Literature Review</a:t>
            </a:r>
          </a:p>
        </p:txBody>
      </p:sp>
      <!-- CATEGORY SUBTITLE -->
      <p:sp>
        <p:nvSpPr>
          <p:cNvPr id="201" name="Category: AI Text Detection"/>
          <p:cNvSpPr txBox="1"/>
          <p:nvPr/>
        </p:nvSpPr>
        <p:spPr>
          <a:xfrm>
            <a:off x="776519" y="900000"/>
            <a:ext cx="7591081" cy="3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800" lang="en-US">
                <a:solidFill>
                  <a:srgbClr val="3A82F6"/>
                </a:solidFill>
                <a:latin typeface="Trebuchet MS"/>
              </a:rPr>
              <a:t>AI Text Detection</a:t>
            </a:r>
          </a:p>
        </p:txBody>
      </p:sp>
      <!-- PAPER 1: Mitchell et al. -->
      <p:sp>
        <p:nvSpPr>
          <p:cNvPr id="202" name="Paper 1"/>
          <p:cNvSpPr txBox="1"/>
          <p:nvPr/>
        </p:nvSpPr>
        <p:spPr>
          <a:xfrm>
            <a:off x="776519" y="1250000"/>
            <a:ext cx="7591081" cy="9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300" lang="en-US">
                <a:solidFill>
                  <a:srgbClr val="3A82F6"/>
                </a:solidFill>
                <a:latin typeface="Calibri"/>
              </a:rPr>
              <a:t>Mitchell et al. (2023)</a:t>
            </a:r>
          </a:p>
          <a:p>
            <a:pPr/>
            <a:r>
              <a:rPr b="1" i="1" sz="1300" lang="en-US">
                <a:solidFill>
                  <a:srgbClr val="1D283A"/>
                </a:solidFill>
                <a:latin typeface="Calibri"/>
              </a:rPr>
              <a:t>DetectGPT: Zero-Shot Machine-Generated Text Detection using Probability Curvature</a:t>
            </a:r>
          </a:p>
          <a:p>
            <a:pPr>
              <a:lnSpc>
                <a:spcPct val="130000"/>
              </a:lnSpc>
            </a:pPr>
            <a:r>
              <a:rPr sz="1300" lang="en-US">
                <a:solidFill>
                  <a:srgbClr val="63738B"/>
                </a:solidFill>
                <a:latin typeface="Calibri"/>
              </a:rPr>
              <a:t>Detects AI text zero-shot by measuring log-probability curvature under perturbations. Foundational baseline method used in this study.</a:t>
            </a:r>
          </a:p>
        </p:txBody>
      </p:sp>
      <!-- PAPER 2: Kirchenbauer et al. -->
      <p:sp>
        <p:nvSpPr>
          <p:cNvPr id="203" name="Paper 2"/>
          <p:cNvSpPr txBox="1"/>
          <p:nvPr/>
        </p:nvSpPr>
        <p:spPr>
          <a:xfrm>
            <a:off x="776519" y="2250000"/>
            <a:ext cx="7591081" cy="85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300" lang="en-US">
                <a:solidFill>
                  <a:srgbClr val="3A82F6"/>
                </a:solidFill>
                <a:latin typeface="Calibri"/>
              </a:rPr>
              <a:t>Kirchenbauer et al. (2023)</a:t>
            </a:r>
          </a:p>
          <a:p>
            <a:pPr/>
            <a:r>
              <a:rPr b="1" i="1" sz="1300" lang="en-US">
                <a:solidFill>
                  <a:srgbClr val="1D283A"/>
                </a:solidFill>
                <a:latin typeface="Calibri"/>
              </a:rPr>
              <a:t>A Watermark for Large Language Models</a:t>
            </a:r>
          </a:p>
          <a:p>
            <a:pPr>
              <a:lnSpc>
                <a:spcPct val="130000"/>
              </a:lnSpc>
            </a:pPr>
            <a:r>
              <a:rPr sz="1300" lang="en-US">
                <a:solidFill>
                  <a:srgbClr val="63738B"/>
                </a:solidFill>
                <a:latin typeface="Calibri"/>
              </a:rPr>
              <a:t>Partitions vocabulary into green/red token lists during generation, enabling statistical detection. Establishes proactive watermarking approach.</a:t>
            </a:r>
          </a:p>
        </p:txBody>
      </p:sp>
      <!-- PAGE NUMBER -->
      <p:sp>
        <p:nvSpPr>
          <p:cNvPr id="204" name="Page Number"/>
          <p:cNvSpPr txBox="1"/>
          <p:nvPr/>
        </p:nvSpPr>
        <p:spPr>
          <a:xfrm>
            <a:off x="8091719" y="4754879"/>
            <a:ext cx="952381" cy="3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 algn="r"/>
            <a:r>
              <a:rPr sz="1300" lang="en-US">
                <a:solidFill>
                  <a:srgbClr val="63738B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00" name="Literature Review"/>
          <p:cNvSpPr txBox="1"/>
          <p:nvPr/>
        </p:nvSpPr>
        <p:spPr>
          <a:xfrm>
            <a:off x="776519" y="320039"/>
            <a:ext cx="4482001" cy="559901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3200" lang="en-US">
                <a:solidFill>
                  <a:srgbClr val="1D283A"/>
                </a:solidFill>
                <a:latin typeface="Trebuchet MS"/>
              </a:rPr>
              <a:t>Literature Review</a:t>
            </a:r>
          </a:p>
        </p:txBody>
      </p:sp>
      <!-- CATEGORY SUBTITLE -->
      <p:sp>
        <p:nvSpPr>
          <p:cNvPr id="201" name="Category: Evasion &amp; Robustness"/>
          <p:cNvSpPr txBox="1"/>
          <p:nvPr/>
        </p:nvSpPr>
        <p:spPr>
          <a:xfrm>
            <a:off x="776519" y="900000"/>
            <a:ext cx="7591081" cy="3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800" lang="en-US">
                <a:solidFill>
                  <a:srgbClr val="F97215"/>
                </a:solidFill>
                <a:latin typeface="Trebuchet MS"/>
              </a:rPr>
              <a:t>Evasion &amp; Robustness</a:t>
            </a:r>
          </a:p>
        </p:txBody>
      </p:sp>
      <!-- PAPER 1: Sadasivan et al. -->
      <p:sp>
        <p:nvSpPr>
          <p:cNvPr id="202" name="Paper 1"/>
          <p:cNvSpPr txBox="1"/>
          <p:nvPr/>
        </p:nvSpPr>
        <p:spPr>
          <a:xfrm>
            <a:off x="776519" y="1250000"/>
            <a:ext cx="7591081" cy="9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300" lang="en-US">
                <a:solidFill>
                  <a:srgbClr val="F97215"/>
                </a:solidFill>
                <a:latin typeface="Calibri"/>
              </a:rPr>
              <a:t>Sadasivan et al. (2023)</a:t>
            </a:r>
          </a:p>
          <a:p>
            <a:pPr/>
            <a:r>
              <a:rPr b="1" i="1" sz="1300" lang="en-US">
                <a:solidFill>
                  <a:srgbClr val="1D283A"/>
                </a:solidFill>
                <a:latin typeface="Calibri"/>
              </a:rPr>
              <a:t>Can AI-Generated Text be Reliably Detected?</a:t>
            </a:r>
          </a:p>
          <a:p>
            <a:pPr>
              <a:lnSpc>
                <a:spcPct val="130000"/>
              </a:lnSpc>
            </a:pPr>
            <a:r>
              <a:rPr sz="1300" lang="en-US">
                <a:solidFill>
                  <a:srgbClr val="63738B"/>
                </a:solidFill>
                <a:latin typeface="Calibri"/>
              </a:rPr>
              <a:t>Recursive paraphrasing degrades detector accuracy. Proves theoretical impossibility bounds as LLMs improve.</a:t>
            </a:r>
          </a:p>
        </p:txBody>
      </p:sp>
      <!-- PAPER 2: Krishna et al. -->
      <p:sp>
        <p:nvSpPr>
          <p:cNvPr id="203" name="Paper 2"/>
          <p:cNvSpPr txBox="1"/>
          <p:nvPr/>
        </p:nvSpPr>
        <p:spPr>
          <a:xfrm>
            <a:off x="776519" y="2150000"/>
            <a:ext cx="7591081" cy="95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300" lang="en-US">
                <a:solidFill>
                  <a:srgbClr val="F97215"/>
                </a:solidFill>
                <a:latin typeface="Calibri"/>
              </a:rPr>
              <a:t>Krishna et al. (2023)</a:t>
            </a:r>
          </a:p>
          <a:p>
            <a:pPr/>
            <a:r>
              <a:rPr b="1" i="1" sz="1300" lang="en-US">
                <a:solidFill>
                  <a:srgbClr val="1D283A"/>
                </a:solidFill>
                <a:latin typeface="Calibri"/>
              </a:rPr>
              <a:t>Paraphrasing Evades AI-Generated Text Detectors, but Retrieval is an Effective Defense</a:t>
            </a:r>
          </a:p>
          <a:p>
            <a:pPr>
              <a:lnSpc>
                <a:spcPct val="130000"/>
              </a:lnSpc>
            </a:pPr>
            <a:r>
              <a:rPr sz="1300" lang="en-US">
                <a:solidFill>
                  <a:srgbClr val="63738B"/>
                </a:solidFill>
                <a:latin typeface="Calibri"/>
              </a:rPr>
              <a:t>11B-param DIPPER paraphraser defeats watermarking, GPTZero, and DetectGPT. Demonstrates fragility of current detection.</a:t>
            </a:r>
          </a:p>
        </p:txBody>
      </p:sp>
      <!-- PAPER 3: Wang et al. -->
      <p:sp>
        <p:nvSpPr>
          <p:cNvPr id="204" name="Paper 3"/>
          <p:cNvSpPr txBox="1"/>
          <p:nvPr/>
        </p:nvSpPr>
        <p:spPr>
          <a:xfrm>
            <a:off x="776519" y="3200000"/>
            <a:ext cx="7591081" cy="95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300" lang="en-US">
                <a:solidFill>
                  <a:srgbClr val="F97215"/>
                </a:solidFill>
                <a:latin typeface="Calibri"/>
              </a:rPr>
              <a:t>Wang et al. (2025)</a:t>
            </a:r>
          </a:p>
          <a:p>
            <a:pPr/>
            <a:r>
              <a:rPr b="1" i="1" sz="1300" lang="en-US">
                <a:solidFill>
                  <a:srgbClr val="1D283A"/>
                </a:solidFill>
                <a:latin typeface="Calibri"/>
              </a:rPr>
              <a:t>HUMPA: Humanized LLM-Paraphraser for Evading AI-Generated Text Detection (ICLR 2025)</a:t>
            </a:r>
          </a:p>
          <a:p>
            <a:pPr>
              <a:lnSpc>
                <a:spcPct val="130000"/>
              </a:lnSpc>
            </a:pPr>
            <a:r>
              <a:rPr sz="1300" lang="en-US">
                <a:solidFill>
                  <a:srgbClr val="63738B"/>
                </a:solidFill>
                <a:latin typeface="Calibri"/>
              </a:rPr>
              <a:t>Trains a proxy LLM via DPO to produce human-like text that evades detectors. Most closely related evasion approach to this study.</a:t>
            </a:r>
          </a:p>
        </p:txBody>
      </p:sp>
      <!-- PAGE NUMBER -->
      <p:sp>
        <p:nvSpPr>
          <p:cNvPr id="205" name="Page Number"/>
          <p:cNvSpPr txBox="1"/>
          <p:nvPr/>
        </p:nvSpPr>
        <p:spPr>
          <a:xfrm>
            <a:off x="8091719" y="4754879"/>
            <a:ext cx="952381" cy="3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 algn="r"/>
            <a:r>
              <a:rPr sz="1300" lang="en-US">
                <a:solidFill>
                  <a:srgbClr val="63738B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Experimental Design"/>
          <p:cNvSpPr txBox="1"/>
          <p:nvPr/>
        </p:nvSpPr>
        <p:spPr>
          <a:xfrm>
            <a:off x="776519" y="320039"/>
            <a:ext cx="7225201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Experimental Design</a:t>
            </a:r>
          </a:p>
        </p:txBody>
      </p:sp>
      <p:sp>
        <p:nvSpPr>
          <p:cNvPr id="130" name="5-Condition Ablation Ladder"/>
          <p:cNvSpPr txBox="1"/>
          <p:nvPr/>
        </p:nvSpPr>
        <p:spPr>
          <a:xfrm>
            <a:off x="776519" y="822960"/>
            <a:ext cx="7225201" cy="27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5-Condition Ablation Ladder</a:t>
            </a:r>
          </a:p>
        </p:txBody>
      </p:sp>
      <p:sp>
        <p:nvSpPr>
          <p:cNvPr id="131" name="Rectangle"/>
          <p:cNvSpPr/>
          <p:nvPr/>
        </p:nvSpPr>
        <p:spPr>
          <a:xfrm>
            <a:off x="457199" y="1234439"/>
            <a:ext cx="8229962" cy="567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2" name="Rectangle"/>
          <p:cNvSpPr/>
          <p:nvPr/>
        </p:nvSpPr>
        <p:spPr>
          <a:xfrm>
            <a:off x="457200" y="1234439"/>
            <a:ext cx="731880" cy="567361"/>
          </a:xfrm>
          <a:prstGeom prst="rect">
            <a:avLst/>
          </a:prstGeom>
          <a:solidFill>
            <a:srgbClr val="94A3B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3" name="C1"/>
          <p:cNvSpPr txBox="1"/>
          <p:nvPr/>
        </p:nvSpPr>
        <p:spPr>
          <a:xfrm>
            <a:off x="502199" y="1234439"/>
            <a:ext cx="641522" cy="30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C1</a:t>
            </a:r>
          </a:p>
        </p:txBody>
      </p:sp>
      <p:sp>
        <p:nvSpPr>
          <p:cNvPr id="134" name="code_only"/>
          <p:cNvSpPr txBox="1"/>
          <p:nvPr/>
        </p:nvSpPr>
        <p:spPr>
          <a:xfrm>
            <a:off x="1416599" y="1289159"/>
            <a:ext cx="1738802" cy="25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1D283A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code_only</a:t>
            </a:r>
          </a:p>
        </p:txBody>
      </p:sp>
      <p:sp>
        <p:nvSpPr>
          <p:cNvPr id="135" name="Baseline - README + source files only"/>
          <p:cNvSpPr txBox="1"/>
          <p:nvPr/>
        </p:nvSpPr>
        <p:spPr>
          <a:xfrm>
            <a:off x="1416599" y="1527119"/>
            <a:ext cx="6768002" cy="22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Baseline - README + source files only</a:t>
            </a:r>
          </a:p>
        </p:txBody>
      </p:sp>
      <p:sp>
        <p:nvSpPr>
          <p:cNvPr id="136" name="Rectangle"/>
          <p:cNvSpPr/>
          <p:nvPr/>
        </p:nvSpPr>
        <p:spPr>
          <a:xfrm>
            <a:off x="457199" y="1901880"/>
            <a:ext cx="8229962" cy="567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7" name="Rectangle"/>
          <p:cNvSpPr/>
          <p:nvPr/>
        </p:nvSpPr>
        <p:spPr>
          <a:xfrm>
            <a:off x="457200" y="1901880"/>
            <a:ext cx="731880" cy="567361"/>
          </a:xfrm>
          <a:prstGeom prst="rect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C2"/>
          <p:cNvSpPr txBox="1"/>
          <p:nvPr/>
        </p:nvSpPr>
        <p:spPr>
          <a:xfrm>
            <a:off x="502199" y="1901880"/>
            <a:ext cx="641522" cy="30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C2</a:t>
            </a:r>
          </a:p>
        </p:txBody>
      </p:sp>
      <p:sp>
        <p:nvSpPr>
          <p:cNvPr id="139" name="context_rich"/>
          <p:cNvSpPr txBox="1"/>
          <p:nvPr/>
        </p:nvSpPr>
        <p:spPr>
          <a:xfrm>
            <a:off x="1416599" y="1956960"/>
            <a:ext cx="1738802" cy="25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1D283A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context_rich</a:t>
            </a:r>
          </a:p>
        </p:txBody>
      </p:sp>
      <p:sp>
        <p:nvSpPr>
          <p:cNvPr id="140" name="+ GitHub issues, community threads, competitor docs"/>
          <p:cNvSpPr txBox="1"/>
          <p:nvPr/>
        </p:nvSpPr>
        <p:spPr>
          <a:xfrm>
            <a:off x="1416599" y="2194560"/>
            <a:ext cx="6768002" cy="22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+ GitHub issues, community threads, competitor docs</a:t>
            </a:r>
          </a:p>
        </p:txBody>
      </p:sp>
      <p:sp>
        <p:nvSpPr>
          <p:cNvPr id="141" name="Rectangle"/>
          <p:cNvSpPr/>
          <p:nvPr/>
        </p:nvSpPr>
        <p:spPr>
          <a:xfrm>
            <a:off x="457199" y="2569319"/>
            <a:ext cx="8229962" cy="567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2" name="Rectangle"/>
          <p:cNvSpPr/>
          <p:nvPr/>
        </p:nvSpPr>
        <p:spPr>
          <a:xfrm>
            <a:off x="457200" y="2569319"/>
            <a:ext cx="731880" cy="567361"/>
          </a:xfrm>
          <a:prstGeom prst="rect">
            <a:avLst/>
          </a:prstGeom>
          <a:solidFill>
            <a:srgbClr val="0FB981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3" name="C3"/>
          <p:cNvSpPr txBox="1"/>
          <p:nvPr/>
        </p:nvSpPr>
        <p:spPr>
          <a:xfrm>
            <a:off x="502199" y="2569319"/>
            <a:ext cx="641522" cy="30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C3</a:t>
            </a:r>
          </a:p>
        </p:txBody>
      </p:sp>
      <p:sp>
        <p:nvSpPr>
          <p:cNvPr id="144" name="style_constrained"/>
          <p:cNvSpPr txBox="1"/>
          <p:nvPr/>
        </p:nvSpPr>
        <p:spPr>
          <a:xfrm>
            <a:off x="1416599" y="2624400"/>
            <a:ext cx="1738802" cy="25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1D283A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style_constrained</a:t>
            </a:r>
          </a:p>
        </p:txBody>
      </p:sp>
      <p:sp>
        <p:nvSpPr>
          <p:cNvPr id="145" name="+ Persona prompt, anti-pattern rules, style targets"/>
          <p:cNvSpPr txBox="1"/>
          <p:nvPr/>
        </p:nvSpPr>
        <p:spPr>
          <a:xfrm>
            <a:off x="1416599" y="2861999"/>
            <a:ext cx="6768002" cy="22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+ Persona prompt, anti-pattern rules, style targets</a:t>
            </a:r>
          </a:p>
        </p:txBody>
      </p:sp>
      <p:sp>
        <p:nvSpPr>
          <p:cNvPr id="146" name="Rectangle"/>
          <p:cNvSpPr/>
          <p:nvPr/>
        </p:nvSpPr>
        <p:spPr>
          <a:xfrm>
            <a:off x="457199" y="3237120"/>
            <a:ext cx="8229962" cy="567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7" name="Rectangle"/>
          <p:cNvSpPr/>
          <p:nvPr/>
        </p:nvSpPr>
        <p:spPr>
          <a:xfrm>
            <a:off x="457200" y="3237120"/>
            <a:ext cx="731880" cy="567361"/>
          </a:xfrm>
          <a:prstGeom prst="rect">
            <a:avLst/>
          </a:prstGeom>
          <a:solidFill>
            <a:srgbClr val="F9721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C4"/>
          <p:cNvSpPr txBox="1"/>
          <p:nvPr/>
        </p:nvSpPr>
        <p:spPr>
          <a:xfrm>
            <a:off x="502199" y="3237120"/>
            <a:ext cx="641522" cy="30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C4</a:t>
            </a:r>
          </a:p>
        </p:txBody>
      </p:sp>
      <p:sp>
        <p:nvSpPr>
          <p:cNvPr id="149" name="humanized"/>
          <p:cNvSpPr txBox="1"/>
          <p:nvPr/>
        </p:nvSpPr>
        <p:spPr>
          <a:xfrm>
            <a:off x="1416599" y="3291840"/>
            <a:ext cx="1738802" cy="25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1D283A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humanized</a:t>
            </a:r>
          </a:p>
        </p:txBody>
      </p:sp>
      <p:sp>
        <p:nvSpPr>
          <p:cNvPr id="150" name="+ C2 output rewritten with &quot;sound human&quot; prompt"/>
          <p:cNvSpPr txBox="1"/>
          <p:nvPr/>
        </p:nvSpPr>
        <p:spPr>
          <a:xfrm>
            <a:off x="1416599" y="3529439"/>
            <a:ext cx="6768002" cy="22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+ C2 output rewritten with "sound human" prompt</a:t>
            </a:r>
          </a:p>
        </p:txBody>
      </p:sp>
      <p:sp>
        <p:nvSpPr>
          <p:cNvPr id="151" name="Rectangle"/>
          <p:cNvSpPr/>
          <p:nvPr/>
        </p:nvSpPr>
        <p:spPr>
          <a:xfrm>
            <a:off x="457199" y="3904560"/>
            <a:ext cx="8229962" cy="567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2" name="Rectangle"/>
          <p:cNvSpPr/>
          <p:nvPr/>
        </p:nvSpPr>
        <p:spPr>
          <a:xfrm>
            <a:off x="457200" y="3904560"/>
            <a:ext cx="731880" cy="567361"/>
          </a:xfrm>
          <a:prstGeom prst="rect">
            <a:avLst/>
          </a:prstGeom>
          <a:solidFill>
            <a:srgbClr val="F59E0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3" name="C5"/>
          <p:cNvSpPr txBox="1"/>
          <p:nvPr/>
        </p:nvSpPr>
        <p:spPr>
          <a:xfrm>
            <a:off x="502199" y="3904560"/>
            <a:ext cx="641522" cy="30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C5</a:t>
            </a:r>
          </a:p>
        </p:txBody>
      </p:sp>
      <p:sp>
        <p:nvSpPr>
          <p:cNvPr id="154" name="human_baseline"/>
          <p:cNvSpPr txBox="1"/>
          <p:nvPr/>
        </p:nvSpPr>
        <p:spPr>
          <a:xfrm>
            <a:off x="1416599" y="3959280"/>
            <a:ext cx="1738802" cy="25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1D283A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human_baseline</a:t>
            </a:r>
          </a:p>
        </p:txBody>
      </p:sp>
      <p:sp>
        <p:nvSpPr>
          <p:cNvPr id="155" name="Ground truth - real engineer-written blog posts"/>
          <p:cNvSpPr txBox="1"/>
          <p:nvPr/>
        </p:nvSpPr>
        <p:spPr>
          <a:xfrm>
            <a:off x="1416599" y="4197239"/>
            <a:ext cx="6768002" cy="22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Ground truth - real engineer-written blog posts</a:t>
            </a:r>
          </a:p>
        </p:txBody>
      </p:sp>
      <p:sp>
        <p:nvSpPr>
          <p:cNvPr id="156" name="Rectangle"/>
          <p:cNvSpPr/>
          <p:nvPr/>
        </p:nvSpPr>
        <p:spPr>
          <a:xfrm>
            <a:off x="457199" y="4663440"/>
            <a:ext cx="8229962" cy="4118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15 tasks  ×  2 projects (CrewAI, DuckDB)  ×  3 runs/condition  =  195 total documents"/>
          <p:cNvSpPr txBox="1"/>
          <p:nvPr/>
        </p:nvSpPr>
        <p:spPr>
          <a:xfrm>
            <a:off x="776520" y="4663440"/>
            <a:ext cx="7590960" cy="24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15 tasks  ×  2 projects (CrewAI, DuckDB)  ×  3 runs/condition  =  195 total documents</a:t>
            </a:r>
          </a:p>
        </p:txBody>
      </p:sp>
      <p:sp>
        <p:nvSpPr>
          <p:cNvPr id="158" name="10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10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tyle Constraint Design (C3)"/>
          <p:cNvSpPr txBox="1"/>
          <p:nvPr/>
        </p:nvSpPr>
        <p:spPr>
          <a:xfrm>
            <a:off x="776519" y="320040"/>
            <a:ext cx="7225201" cy="49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Style Constraint Design (C3)</a:t>
            </a:r>
          </a:p>
        </p:txBody>
      </p:sp>
      <p:sp>
        <p:nvSpPr>
          <p:cNvPr id="161" name="Rectangle"/>
          <p:cNvSpPr/>
          <p:nvPr/>
        </p:nvSpPr>
        <p:spPr>
          <a:xfrm>
            <a:off x="457199" y="1005839"/>
            <a:ext cx="8229962" cy="594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Persona: &quot;You are a senior backend engineer writing for other engineers. Sound experienced and opinionated.&quot;"/>
          <p:cNvSpPr txBox="1"/>
          <p:nvPr/>
        </p:nvSpPr>
        <p:spPr>
          <a:xfrm>
            <a:off x="776520" y="1005839"/>
            <a:ext cx="7590960" cy="22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1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Persona: "You are a senior backend engineer writing for other engineers. Sound experienced and opinionated."</a:t>
            </a:r>
          </a:p>
        </p:txBody>
      </p:sp>
      <p:sp>
        <p:nvSpPr>
          <p:cNvPr id="163" name="Rectangle"/>
          <p:cNvSpPr/>
          <p:nvPr/>
        </p:nvSpPr>
        <p:spPr>
          <a:xfrm>
            <a:off x="457199" y="1828800"/>
            <a:ext cx="2560682" cy="2926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4" name="Sentence Structure"/>
          <p:cNvSpPr txBox="1"/>
          <p:nvPr/>
        </p:nvSpPr>
        <p:spPr>
          <a:xfrm>
            <a:off x="685079" y="1965960"/>
            <a:ext cx="2104562" cy="28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Sentence Structure</a:t>
            </a:r>
          </a:p>
        </p:txBody>
      </p:sp>
      <p:sp>
        <p:nvSpPr>
          <p:cNvPr id="165" name="Vary sentence length: mix short (5-8 words) with longer (20-30)…"/>
          <p:cNvSpPr txBox="1"/>
          <p:nvPr/>
        </p:nvSpPr>
        <p:spPr>
          <a:xfrm>
            <a:off x="685079" y="2331720"/>
            <a:ext cx="2104562" cy="1367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Vary sentence length: mix short (5-8 words) with longer (20-30)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Use contractions naturally: don't, it's, we've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Start some sentences with I, We, So, But, or And</a:t>
            </a:r>
          </a:p>
        </p:txBody>
      </p:sp>
      <p:sp>
        <p:nvSpPr>
          <p:cNvPr id="166" name="Rectangle"/>
          <p:cNvSpPr/>
          <p:nvPr/>
        </p:nvSpPr>
        <p:spPr>
          <a:xfrm>
            <a:off x="3291840" y="1828800"/>
            <a:ext cx="2560681" cy="2926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7" name="Anti-Pattern Rules"/>
          <p:cNvSpPr txBox="1"/>
          <p:nvPr/>
        </p:nvSpPr>
        <p:spPr>
          <a:xfrm>
            <a:off x="3519720" y="1965960"/>
            <a:ext cx="2104561" cy="28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EF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Anti-Pattern Rules</a:t>
            </a:r>
          </a:p>
        </p:txBody>
      </p:sp>
      <p:sp>
        <p:nvSpPr>
          <p:cNvPr id="168" name="Never start with: &quot;In the world of&quot;, &quot;In today's&quot;, &quot;Let's dive in&quot;…"/>
          <p:cNvSpPr txBox="1"/>
          <p:nvPr/>
        </p:nvSpPr>
        <p:spPr>
          <a:xfrm>
            <a:off x="3519720" y="2331720"/>
            <a:ext cx="2104561" cy="1841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Never start with: "In the world of", "In today's", "Let's dive in"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Never use: "Furthermore", "Moreover", "It's important to note"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 excessive bullet lists - prefer prose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 hedging: "arguably", "one might argue"</a:t>
            </a:r>
          </a:p>
        </p:txBody>
      </p:sp>
      <p:sp>
        <p:nvSpPr>
          <p:cNvPr id="169" name="Rectangle"/>
          <p:cNvSpPr/>
          <p:nvPr/>
        </p:nvSpPr>
        <p:spPr>
          <a:xfrm>
            <a:off x="6126479" y="1828800"/>
            <a:ext cx="2560681" cy="2926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0" name="Content Rules"/>
          <p:cNvSpPr txBox="1"/>
          <p:nvPr/>
        </p:nvSpPr>
        <p:spPr>
          <a:xfrm>
            <a:off x="6354359" y="1965960"/>
            <a:ext cx="2104561" cy="28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Content Rules</a:t>
            </a:r>
          </a:p>
        </p:txBody>
      </p:sp>
      <p:sp>
        <p:nvSpPr>
          <p:cNvPr id="171" name="Include at least one specific version number, date, or command from sources…"/>
          <p:cNvSpPr txBox="1"/>
          <p:nvPr/>
        </p:nvSpPr>
        <p:spPr>
          <a:xfrm>
            <a:off x="6354359" y="2331720"/>
            <a:ext cx="2104561" cy="1559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Include at least one specific version number, date, or command from sources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Only mention errors/configs that appear in provided sources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Include one grounded trade-off judgment</a:t>
            </a:r>
          </a:p>
        </p:txBody>
      </p:sp>
      <p:sp>
        <p:nvSpPr>
          <p:cNvPr id="172" name="11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11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Methodology: Three Evaluation Axes"/>
          <p:cNvSpPr txBox="1"/>
          <p:nvPr/>
        </p:nvSpPr>
        <p:spPr>
          <a:xfrm>
            <a:off x="776519" y="320040"/>
            <a:ext cx="7225201" cy="49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Methodology: Three Evaluation Axes</a:t>
            </a:r>
          </a:p>
        </p:txBody>
      </p:sp>
      <p:sp>
        <p:nvSpPr>
          <p:cNvPr id="175" name="Rectangle"/>
          <p:cNvSpPr/>
          <p:nvPr/>
        </p:nvSpPr>
        <p:spPr>
          <a:xfrm>
            <a:off x="457199" y="1097279"/>
            <a:ext cx="2606402" cy="365796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6" name="AI Detectability"/>
          <p:cNvSpPr txBox="1"/>
          <p:nvPr/>
        </p:nvSpPr>
        <p:spPr>
          <a:xfrm>
            <a:off x="685080" y="1371599"/>
            <a:ext cx="2150280" cy="29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AI Detectability</a:t>
            </a:r>
          </a:p>
        </p:txBody>
      </p:sp>
      <p:sp>
        <p:nvSpPr>
          <p:cNvPr id="177" name="GPTZero (primary): human_prob per document…"/>
          <p:cNvSpPr txBox="1"/>
          <p:nvPr/>
        </p:nvSpPr>
        <p:spPr>
          <a:xfrm>
            <a:off x="730799" y="2423159"/>
            <a:ext cx="2104562" cy="1512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GPTZero (primary): human_prob per document</a:t>
            </a:r>
          </a:p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Originality.ai (secondary): 100 - ai_score</a:t>
            </a:r>
          </a:p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Cross-check: Cohen's kappa between detectors</a:t>
            </a:r>
          </a:p>
        </p:txBody>
      </p:sp>
      <p:sp>
        <p:nvSpPr>
          <p:cNvPr id="178" name="Rectangle"/>
          <p:cNvSpPr/>
          <p:nvPr/>
        </p:nvSpPr>
        <p:spPr>
          <a:xfrm>
            <a:off x="3291840" y="1097279"/>
            <a:ext cx="2606401" cy="365796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9" name="Factual Accuracy"/>
          <p:cNvSpPr txBox="1"/>
          <p:nvPr/>
        </p:nvSpPr>
        <p:spPr>
          <a:xfrm>
            <a:off x="3519720" y="1371599"/>
            <a:ext cx="2150281" cy="29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4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Factual Accuracy</a:t>
            </a:r>
          </a:p>
        </p:txBody>
      </p:sp>
      <p:sp>
        <p:nvSpPr>
          <p:cNvPr id="180" name="Hybrid slot accuracy: literal/regex + LLM judge…"/>
          <p:cNvSpPr txBox="1"/>
          <p:nvPr/>
        </p:nvSpPr>
        <p:spPr>
          <a:xfrm>
            <a:off x="3565440" y="2423159"/>
            <a:ext cx="2104561" cy="1099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Hybrid slot accuracy: literal/regex + LLM judge</a:t>
            </a:r>
          </a:p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Strict slot accuracy: literal/regex only</a:t>
            </a:r>
          </a:p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Full rubric-based LLM audit per slot</a:t>
            </a:r>
          </a:p>
        </p:txBody>
      </p:sp>
      <p:sp>
        <p:nvSpPr>
          <p:cNvPr id="181" name="Rectangle"/>
          <p:cNvSpPr/>
          <p:nvPr/>
        </p:nvSpPr>
        <p:spPr>
          <a:xfrm>
            <a:off x="6126479" y="1097279"/>
            <a:ext cx="2606401" cy="365796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2" name="Linguistic Features"/>
          <p:cNvSpPr txBox="1"/>
          <p:nvPr/>
        </p:nvSpPr>
        <p:spPr>
          <a:xfrm>
            <a:off x="6354359" y="1371599"/>
            <a:ext cx="2150281" cy="29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400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Linguistic Features</a:t>
            </a:r>
          </a:p>
        </p:txBody>
      </p:sp>
      <p:sp>
        <p:nvSpPr>
          <p:cNvPr id="183" name="10 features per document (spaCy)…"/>
          <p:cNvSpPr txBox="1"/>
          <p:nvPr/>
        </p:nvSpPr>
        <p:spPr>
          <a:xfrm>
            <a:off x="6400079" y="2423159"/>
            <a:ext cx="2104561" cy="1305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10 features per document (spaCy)</a:t>
            </a:r>
          </a:p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sent_len_std, vocab_diversity, contraction_rate, etc.</a:t>
            </a:r>
          </a:p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Cosine distance from human (C5) vector</a:t>
            </a:r>
          </a:p>
        </p:txBody>
      </p:sp>
      <p:sp>
        <p:nvSpPr>
          <p:cNvPr id="184" name="12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12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sults: AI Detectability"/>
          <p:cNvSpPr txBox="1"/>
          <p:nvPr/>
        </p:nvSpPr>
        <p:spPr>
          <a:xfrm>
            <a:off x="776519" y="320040"/>
            <a:ext cx="7225201" cy="49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Results: AI Detectability</a:t>
            </a:r>
          </a:p>
        </p:txBody>
      </p:sp>
      <p:sp>
        <p:nvSpPr>
          <p:cNvPr id="187" name="Rectangle"/>
          <p:cNvSpPr/>
          <p:nvPr/>
        </p:nvSpPr>
        <p:spPr>
          <a:xfrm>
            <a:off x="457199" y="1005839"/>
            <a:ext cx="8229962" cy="32007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8" name="GPTZero &amp; Originality.ai results charts…"/>
          <p:cNvSpPr txBox="1"/>
          <p:nvPr/>
        </p:nvSpPr>
        <p:spPr>
          <a:xfrm>
            <a:off x="1416599" y="1828800"/>
            <a:ext cx="6310802" cy="623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defRPr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GPTZero &amp; Originality.ai results charts</a:t>
            </a:r>
          </a:p>
          <a:p>
            <a:pPr algn="ctr">
              <a:defRPr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will be inserted here after experimentation</a:t>
            </a:r>
          </a:p>
        </p:txBody>
      </p:sp>
      <p:sp>
        <p:nvSpPr>
          <p:cNvPr id="189" name="Rectangle"/>
          <p:cNvSpPr/>
          <p:nvPr/>
        </p:nvSpPr>
        <p:spPr>
          <a:xfrm>
            <a:off x="457199" y="4343400"/>
            <a:ext cx="8229962" cy="5032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Statistical tests (Paired Wilcoxon, n=15) - results pending experimentation"/>
          <p:cNvSpPr txBox="1"/>
          <p:nvPr/>
        </p:nvSpPr>
        <p:spPr>
          <a:xfrm>
            <a:off x="776520" y="4343399"/>
            <a:ext cx="7590960" cy="22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Statistical tests (Paired Wilcoxon, n=15) - results pending experimentation</a:t>
            </a:r>
          </a:p>
        </p:txBody>
      </p:sp>
      <p:sp>
        <p:nvSpPr>
          <p:cNvPr id="191" name="13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13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sults: Detectability vs. Accuracy"/>
          <p:cNvSpPr txBox="1"/>
          <p:nvPr/>
        </p:nvSpPr>
        <p:spPr>
          <a:xfrm>
            <a:off x="776519" y="320040"/>
            <a:ext cx="7225201" cy="49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Results: Detectability vs. Accuracy</a:t>
            </a:r>
          </a:p>
        </p:txBody>
      </p:sp>
      <p:sp>
        <p:nvSpPr>
          <p:cNvPr id="194" name="The Pareto Frontier"/>
          <p:cNvSpPr txBox="1"/>
          <p:nvPr/>
        </p:nvSpPr>
        <p:spPr>
          <a:xfrm>
            <a:off x="776519" y="822960"/>
            <a:ext cx="7225201" cy="27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Pareto Frontier</a:t>
            </a:r>
          </a:p>
        </p:txBody>
      </p:sp>
      <p:sp>
        <p:nvSpPr>
          <p:cNvPr id="195" name="Rectangle"/>
          <p:cNvSpPr/>
          <p:nvPr/>
        </p:nvSpPr>
        <p:spPr>
          <a:xfrm>
            <a:off x="457199" y="1280160"/>
            <a:ext cx="5029562" cy="34750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6" name="Pareto frontier scatter plot…"/>
          <p:cNvSpPr txBox="1"/>
          <p:nvPr/>
        </p:nvSpPr>
        <p:spPr>
          <a:xfrm>
            <a:off x="959399" y="2011679"/>
            <a:ext cx="4024802" cy="80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defRPr i="1" sz="16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Pareto frontier scatter plot</a:t>
            </a:r>
          </a:p>
          <a:p>
            <a:pPr algn="ctr">
              <a:defRPr i="1" sz="16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(accuracy vs. detectability)</a:t>
            </a:r>
          </a:p>
          <a:p>
            <a:pPr algn="ctr">
              <a:defRPr i="1" sz="16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will be inserted here</a:t>
            </a:r>
          </a:p>
        </p:txBody>
      </p:sp>
      <p:sp>
        <p:nvSpPr>
          <p:cNvPr id="197" name="Rectangle"/>
          <p:cNvSpPr/>
          <p:nvPr/>
        </p:nvSpPr>
        <p:spPr>
          <a:xfrm>
            <a:off x="5760720" y="1280160"/>
            <a:ext cx="2926441" cy="34750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8" name="Key Findings"/>
          <p:cNvSpPr txBox="1"/>
          <p:nvPr/>
        </p:nvSpPr>
        <p:spPr>
          <a:xfrm>
            <a:off x="5988599" y="1463039"/>
            <a:ext cx="2470322" cy="29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Findings</a:t>
            </a:r>
          </a:p>
        </p:txBody>
      </p:sp>
      <p:sp>
        <p:nvSpPr>
          <p:cNvPr id="199" name="Takeaway: Context + style rules offer the best accuracy-preserving path to reduced detectability."/>
          <p:cNvSpPr txBox="1"/>
          <p:nvPr/>
        </p:nvSpPr>
        <p:spPr>
          <a:xfrm>
            <a:off x="5988599" y="1920239"/>
            <a:ext cx="2470322" cy="63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Takeaway: Context + style rules offer the best accuracy-preserving path to reduced detectability.</a:t>
            </a:r>
          </a:p>
        </p:txBody>
      </p:sp>
      <p:sp>
        <p:nvSpPr>
          <p:cNvPr id="200" name="Detailed metrics table pending experimentation results."/>
          <p:cNvSpPr txBox="1"/>
          <p:nvPr/>
        </p:nvSpPr>
        <p:spPr>
          <a:xfrm>
            <a:off x="5988599" y="3017520"/>
            <a:ext cx="2470322" cy="39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Detailed metrics table pending experimentation results.</a:t>
            </a:r>
          </a:p>
        </p:txBody>
      </p:sp>
      <p:sp>
        <p:nvSpPr>
          <p:cNvPr id="201" name="14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14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sults: Linguistic Feature Analysis"/>
          <p:cNvSpPr txBox="1"/>
          <p:nvPr/>
        </p:nvSpPr>
        <p:spPr>
          <a:xfrm>
            <a:off x="776519" y="320040"/>
            <a:ext cx="7225201" cy="49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Results: Linguistic Feature Analysis</a:t>
            </a:r>
          </a:p>
        </p:txBody>
      </p:sp>
      <p:sp>
        <p:nvSpPr>
          <p:cNvPr id="204" name="Rectangle"/>
          <p:cNvSpPr/>
          <p:nvPr/>
        </p:nvSpPr>
        <p:spPr>
          <a:xfrm>
            <a:off x="457199" y="1005839"/>
            <a:ext cx="5029562" cy="2377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5" name="Feature profile heatmap…"/>
          <p:cNvSpPr txBox="1"/>
          <p:nvPr/>
        </p:nvSpPr>
        <p:spPr>
          <a:xfrm>
            <a:off x="959399" y="1463039"/>
            <a:ext cx="4024802" cy="736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defRPr i="1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Feature profile heatmap</a:t>
            </a:r>
          </a:p>
          <a:p>
            <a:pPr algn="ctr">
              <a:defRPr i="1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(normalized to human baseline)</a:t>
            </a:r>
          </a:p>
          <a:p>
            <a:pPr algn="ctr">
              <a:defRPr i="1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will be inserted here</a:t>
            </a:r>
          </a:p>
        </p:txBody>
      </p:sp>
      <p:sp>
        <p:nvSpPr>
          <p:cNvPr id="206" name="Rectangle"/>
          <p:cNvSpPr/>
          <p:nvPr/>
        </p:nvSpPr>
        <p:spPr>
          <a:xfrm>
            <a:off x="5760720" y="1005839"/>
            <a:ext cx="2926441" cy="2377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7" name="Regression Results (H5)"/>
          <p:cNvSpPr txBox="1"/>
          <p:nvPr/>
        </p:nvSpPr>
        <p:spPr>
          <a:xfrm>
            <a:off x="5988599" y="1188719"/>
            <a:ext cx="2470322" cy="28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Regression Results (H5)</a:t>
            </a:r>
          </a:p>
        </p:txBody>
      </p:sp>
      <p:sp>
        <p:nvSpPr>
          <p:cNvPr id="208" name="Which features predict detectability?…"/>
          <p:cNvSpPr txBox="1"/>
          <p:nvPr/>
        </p:nvSpPr>
        <p:spPr>
          <a:xfrm>
            <a:off x="5988599" y="1554480"/>
            <a:ext cx="2470322" cy="666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Which features predict detectability?</a:t>
            </a:r>
          </a:p>
          <a:p>
            <a:pPr>
              <a:lnSpc>
                <a:spcPct val="140000"/>
              </a:lnSpc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Top predictors and Model R² pending experimentation.</a:t>
            </a:r>
          </a:p>
        </p:txBody>
      </p:sp>
      <p:sp>
        <p:nvSpPr>
          <p:cNvPr id="209" name="Rectangle"/>
          <p:cNvSpPr/>
          <p:nvPr/>
        </p:nvSpPr>
        <p:spPr>
          <a:xfrm>
            <a:off x="457199" y="3657599"/>
            <a:ext cx="8229962" cy="118908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Interpretation"/>
          <p:cNvSpPr txBox="1"/>
          <p:nvPr/>
        </p:nvSpPr>
        <p:spPr>
          <a:xfrm>
            <a:off x="776519" y="3749040"/>
            <a:ext cx="1738801" cy="28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Interpretation</a:t>
            </a:r>
          </a:p>
        </p:txBody>
      </p:sp>
      <p:sp>
        <p:nvSpPr>
          <p:cNvPr id="211" name="C3 style rules directly target the top predictive features (discourse markers, contractions, sentence variance)…"/>
          <p:cNvSpPr txBox="1"/>
          <p:nvPr/>
        </p:nvSpPr>
        <p:spPr>
          <a:xfrm>
            <a:off x="822240" y="4069079"/>
            <a:ext cx="7499519" cy="658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C3 style rules directly target the top predictive features (discourse markers, contractions, sentence variance)</a:t>
            </a:r>
          </a:p>
          <a:p>
            <a:pPr marL="161280" indent="-161280"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Detector scores track measurable stylistic patterns - not a black box</a:t>
            </a:r>
          </a:p>
          <a:p>
            <a:pPr marL="161280" indent="-161280"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Targeted style interventions can be principled, not just heuristic</a:t>
            </a:r>
          </a:p>
        </p:txBody>
      </p:sp>
      <p:sp>
        <p:nvSpPr>
          <p:cNvPr id="212" name="15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15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ode &amp; Implementation"/>
          <p:cNvSpPr txBox="1"/>
          <p:nvPr/>
        </p:nvSpPr>
        <p:spPr>
          <a:xfrm>
            <a:off x="776519" y="320040"/>
            <a:ext cx="7225201" cy="49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Code &amp; Implementation</a:t>
            </a:r>
          </a:p>
        </p:txBody>
      </p:sp>
      <p:sp>
        <p:nvSpPr>
          <p:cNvPr id="215" name="Rectangle"/>
          <p:cNvSpPr/>
          <p:nvPr/>
        </p:nvSpPr>
        <p:spPr>
          <a:xfrm>
            <a:off x="457200" y="1005839"/>
            <a:ext cx="4755240" cy="38408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Repository Structure"/>
          <p:cNvSpPr txBox="1"/>
          <p:nvPr/>
        </p:nvSpPr>
        <p:spPr>
          <a:xfrm>
            <a:off x="685079" y="1097280"/>
            <a:ext cx="4299122" cy="28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Repository Structure</a:t>
            </a:r>
          </a:p>
        </p:txBody>
      </p:sp>
      <p:sp>
        <p:nvSpPr>
          <p:cNvPr id="217" name="ai-detectability-research/…"/>
          <p:cNvSpPr txBox="1"/>
          <p:nvPr/>
        </p:nvSpPr>
        <p:spPr>
          <a:xfrm>
            <a:off x="730800" y="1463039"/>
            <a:ext cx="4207680" cy="2617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ai-detectability-research/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configs/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conditions.yaml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style_rules.yaml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validators.yaml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data/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tasks/  context/  human_baselines/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generated/  results/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src/ai_text_quality/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generate.py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detect.py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factcheck.py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linguistic.py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notebooks/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01-05 (design → analysis)</a:t>
            </a:r>
          </a:p>
        </p:txBody>
      </p:sp>
      <p:sp>
        <p:nvSpPr>
          <p:cNvPr id="218" name="Rectangle"/>
          <p:cNvSpPr/>
          <p:nvPr/>
        </p:nvSpPr>
        <p:spPr>
          <a:xfrm>
            <a:off x="5486399" y="1005839"/>
            <a:ext cx="3200762" cy="38408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9" name="Tech Stack"/>
          <p:cNvSpPr txBox="1"/>
          <p:nvPr/>
        </p:nvSpPr>
        <p:spPr>
          <a:xfrm>
            <a:off x="5714279" y="1188719"/>
            <a:ext cx="2744641" cy="29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Tech Stack</a:t>
            </a:r>
          </a:p>
        </p:txBody>
      </p:sp>
      <p:sp>
        <p:nvSpPr>
          <p:cNvPr id="220" name="Generation"/>
          <p:cNvSpPr txBox="1"/>
          <p:nvPr/>
        </p:nvSpPr>
        <p:spPr>
          <a:xfrm>
            <a:off x="5714279" y="1600200"/>
            <a:ext cx="2744641" cy="22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Generation</a:t>
            </a:r>
          </a:p>
        </p:txBody>
      </p:sp>
      <p:sp>
        <p:nvSpPr>
          <p:cNvPr id="221" name="Claude Sonnet 4 via Anthropic API (temp=0.3, 3 runs)"/>
          <p:cNvSpPr txBox="1"/>
          <p:nvPr/>
        </p:nvSpPr>
        <p:spPr>
          <a:xfrm>
            <a:off x="5714279" y="1801440"/>
            <a:ext cx="2744641" cy="204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Claude Sonnet 4 via Anthropic API (temp=0.3, 3 runs)</a:t>
            </a:r>
          </a:p>
        </p:txBody>
      </p:sp>
      <p:sp>
        <p:nvSpPr>
          <p:cNvPr id="222" name="Detection"/>
          <p:cNvSpPr txBox="1"/>
          <p:nvPr/>
        </p:nvSpPr>
        <p:spPr>
          <a:xfrm>
            <a:off x="5714279" y="2331720"/>
            <a:ext cx="2744641" cy="22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Detection</a:t>
            </a:r>
          </a:p>
        </p:txBody>
      </p:sp>
      <p:sp>
        <p:nvSpPr>
          <p:cNvPr id="223" name="GPTZero API + Originality.ai API"/>
          <p:cNvSpPr txBox="1"/>
          <p:nvPr/>
        </p:nvSpPr>
        <p:spPr>
          <a:xfrm>
            <a:off x="5714279" y="2532959"/>
            <a:ext cx="274464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GPTZero API + Originality.ai API</a:t>
            </a:r>
          </a:p>
        </p:txBody>
      </p:sp>
      <p:sp>
        <p:nvSpPr>
          <p:cNvPr id="224" name="Linguistics"/>
          <p:cNvSpPr txBox="1"/>
          <p:nvPr/>
        </p:nvSpPr>
        <p:spPr>
          <a:xfrm>
            <a:off x="5714279" y="3063239"/>
            <a:ext cx="2744641" cy="22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Linguistics</a:t>
            </a:r>
          </a:p>
        </p:txBody>
      </p:sp>
      <p:sp>
        <p:nvSpPr>
          <p:cNvPr id="225" name="spaCy (en_core_web_sm)"/>
          <p:cNvSpPr txBox="1"/>
          <p:nvPr/>
        </p:nvSpPr>
        <p:spPr>
          <a:xfrm>
            <a:off x="5714279" y="3264479"/>
            <a:ext cx="274464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spaCy (en_core_web_sm)</a:t>
            </a:r>
          </a:p>
        </p:txBody>
      </p:sp>
      <p:sp>
        <p:nvSpPr>
          <p:cNvPr id="226" name="Statistics"/>
          <p:cNvSpPr txBox="1"/>
          <p:nvPr/>
        </p:nvSpPr>
        <p:spPr>
          <a:xfrm>
            <a:off x="5714279" y="3794759"/>
            <a:ext cx="2744641" cy="22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Statistics</a:t>
            </a:r>
          </a:p>
        </p:txBody>
      </p:sp>
      <p:sp>
        <p:nvSpPr>
          <p:cNvPr id="227" name="SciPy (Wilcoxon), statsmodels (regression)"/>
          <p:cNvSpPr txBox="1"/>
          <p:nvPr/>
        </p:nvSpPr>
        <p:spPr>
          <a:xfrm>
            <a:off x="5714279" y="3995999"/>
            <a:ext cx="274464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SciPy (Wilcoxon), statsmodels (regression)</a:t>
            </a:r>
          </a:p>
        </p:txBody>
      </p:sp>
      <p:sp>
        <p:nvSpPr>
          <p:cNvPr id="228" name="Rectangle"/>
          <p:cNvSpPr/>
          <p:nvPr/>
        </p:nvSpPr>
        <p:spPr>
          <a:xfrm>
            <a:off x="5486399" y="4069079"/>
            <a:ext cx="3200762" cy="503281"/>
          </a:xfrm>
          <a:prstGeom prst="rect">
            <a:avLst/>
          </a:prstGeom>
          <a:solidFill>
            <a:srgbClr val="191E3C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github.com/yongkyunlee/…"/>
          <p:cNvSpPr txBox="1"/>
          <p:nvPr/>
        </p:nvSpPr>
        <p:spPr>
          <a:xfrm>
            <a:off x="6125759" y="4069079"/>
            <a:ext cx="2378881" cy="363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15000"/>
              </a:lnSpc>
              <a:defRPr sz="900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github.com/yongkyunlee/</a:t>
            </a:r>
          </a:p>
          <a:p>
            <a:pPr>
              <a:lnSpc>
                <a:spcPct val="115000"/>
              </a:lnSpc>
              <a:defRPr sz="900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ai-detectability-research</a:t>
            </a:r>
          </a:p>
        </p:txBody>
      </p:sp>
      <p:sp>
        <p:nvSpPr>
          <p:cNvPr id="230" name="16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16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Example: C1 vs C3 Side-by-Side"/>
          <p:cNvSpPr txBox="1"/>
          <p:nvPr/>
        </p:nvSpPr>
        <p:spPr>
          <a:xfrm>
            <a:off x="776519" y="274320"/>
            <a:ext cx="7225201" cy="44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4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Example: C1 vs C3 Side-by-Side</a:t>
            </a:r>
          </a:p>
        </p:txBody>
      </p:sp>
      <p:sp>
        <p:nvSpPr>
          <p:cNvPr id="233" name="Square"/>
          <p:cNvSpPr/>
          <p:nvPr/>
        </p:nvSpPr>
        <p:spPr>
          <a:xfrm>
            <a:off x="457199" y="868679"/>
            <a:ext cx="3978001" cy="397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4" name="Rectangle"/>
          <p:cNvSpPr/>
          <p:nvPr/>
        </p:nvSpPr>
        <p:spPr>
          <a:xfrm>
            <a:off x="457199" y="868680"/>
            <a:ext cx="3978001" cy="457561"/>
          </a:xfrm>
          <a:prstGeom prst="rect">
            <a:avLst/>
          </a:prstGeom>
          <a:solidFill>
            <a:srgbClr val="94A3B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5" name="C1 (Code Only) - human_prob: [X.XX]"/>
          <p:cNvSpPr txBox="1"/>
          <p:nvPr/>
        </p:nvSpPr>
        <p:spPr>
          <a:xfrm>
            <a:off x="685080" y="868680"/>
            <a:ext cx="3521880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C1 (Code Only) - human_prob: [X.XX]</a:t>
            </a:r>
          </a:p>
        </p:txBody>
      </p:sp>
      <p:sp>
        <p:nvSpPr>
          <p:cNvPr id="236" name="In the world of modern AI frameworks, CrewAI stands out as a powerful tool for building multi-agent systems. It is important to note that installation requires Python 3.10 or newer. Furthermore, the framework provides a streamlined setup process. To get "/>
          <p:cNvSpPr txBox="1"/>
          <p:nvPr/>
        </p:nvSpPr>
        <p:spPr>
          <a:xfrm>
            <a:off x="685080" y="1417319"/>
            <a:ext cx="3521880" cy="1317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40000"/>
              </a:lnSpc>
              <a:defRPr i="1"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 the world of modern AI frameworks, CrewAI stands out as a powerful tool for building multi-agent systems. It is important to note that installation requires Python 3.10 or newer. Furthermore, the framework provides a streamlined setup process. To get started, you can install CrewAI using pip install crewai. Moreover, the project initialization command crewai create crew my_project generates a well-structured template...</a:t>
            </a:r>
          </a:p>
        </p:txBody>
      </p:sp>
      <p:sp>
        <p:nvSpPr>
          <p:cNvPr id="237" name="Line"/>
          <p:cNvSpPr/>
          <p:nvPr/>
        </p:nvSpPr>
        <p:spPr>
          <a:xfrm>
            <a:off x="640079" y="3383279"/>
            <a:ext cx="3611521" cy="1"/>
          </a:xfrm>
          <a:prstGeom prst="line">
            <a:avLst/>
          </a:prstGeom>
          <a:ln w="12600">
            <a:solidFill>
              <a:srgbClr val="E2E8F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8" name="AI tells: &quot;In the world of&quot;, &quot;It is important to note&quot;, &quot;Furthermore&quot;, &quot;Moreover&quot;, uniform sentence length, no contractions"/>
          <p:cNvSpPr txBox="1"/>
          <p:nvPr/>
        </p:nvSpPr>
        <p:spPr>
          <a:xfrm>
            <a:off x="685080" y="3520440"/>
            <a:ext cx="3521880" cy="378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EF434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 tells: "In the world of", "It is important to note", "Furthermore", "Moreover", uniform sentence length, no contractions</a:t>
            </a:r>
          </a:p>
        </p:txBody>
      </p:sp>
      <p:sp>
        <p:nvSpPr>
          <p:cNvPr id="239" name="Square"/>
          <p:cNvSpPr/>
          <p:nvPr/>
        </p:nvSpPr>
        <p:spPr>
          <a:xfrm>
            <a:off x="4709159" y="868679"/>
            <a:ext cx="3978001" cy="397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0" name="Rectangle"/>
          <p:cNvSpPr/>
          <p:nvPr/>
        </p:nvSpPr>
        <p:spPr>
          <a:xfrm>
            <a:off x="4709159" y="868680"/>
            <a:ext cx="3978001" cy="457561"/>
          </a:xfrm>
          <a:prstGeom prst="rect">
            <a:avLst/>
          </a:prstGeom>
          <a:solidFill>
            <a:srgbClr val="0FB981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1" name="C3 (Style Constrained) - human_prob: [X.XX]"/>
          <p:cNvSpPr txBox="1"/>
          <p:nvPr/>
        </p:nvSpPr>
        <p:spPr>
          <a:xfrm>
            <a:off x="4937040" y="868680"/>
            <a:ext cx="352188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C3 (Style Constrained) - human_prob: [X.XX]</a:t>
            </a:r>
          </a:p>
        </p:txBody>
      </p:sp>
      <p:sp>
        <p:nvSpPr>
          <p:cNvPr id="242" name="CrewAI's setup is dead simple - pip install crewai and you're off. You'll need Python 3.10+, which shouldn't be an issue for most teams at this point. Run crewai create crew my_project and it scaffolds the whole thing: agents.yaml for your agent configs,"/>
          <p:cNvSpPr txBox="1"/>
          <p:nvPr/>
        </p:nvSpPr>
        <p:spPr>
          <a:xfrm>
            <a:off x="4937040" y="1417319"/>
            <a:ext cx="3521881" cy="1317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40000"/>
              </a:lnSpc>
              <a:defRPr i="1"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CrewAI's setup is dead simple - pip install crewai and you're off. You'll need Python 3.10+, which shouldn't be an issue for most teams at this point. Run crewai create crew my_project and it scaffolds the whole thing: agents.yaml for your agent configs, tasks.yaml for workflows. I've found the YAML-first approach polarizing. It's great for quick iteration, but if you're managing 20+ agents, you'll want to drop into Python classes eventually...</a:t>
            </a:r>
          </a:p>
        </p:txBody>
      </p:sp>
      <p:sp>
        <p:nvSpPr>
          <p:cNvPr id="243" name="Line"/>
          <p:cNvSpPr/>
          <p:nvPr/>
        </p:nvSpPr>
        <p:spPr>
          <a:xfrm>
            <a:off x="4892040" y="3383279"/>
            <a:ext cx="3611520" cy="1"/>
          </a:xfrm>
          <a:prstGeom prst="line">
            <a:avLst/>
          </a:prstGeom>
          <a:ln w="12600">
            <a:solidFill>
              <a:srgbClr val="E2E8F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4" name="Improvements: Contractions, first person, varied sentence length, specific details, opinionated trade-off"/>
          <p:cNvSpPr txBox="1"/>
          <p:nvPr/>
        </p:nvSpPr>
        <p:spPr>
          <a:xfrm>
            <a:off x="4937040" y="3520440"/>
            <a:ext cx="3521881" cy="378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0FB98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Improvements: Contractions, first person, varied sentence length, specific details, opinionated trade-off</a:t>
            </a:r>
          </a:p>
        </p:txBody>
      </p:sp>
      <p:sp>
        <p:nvSpPr>
          <p:cNvPr id="245" name="17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17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Demo &amp; Links"/>
          <p:cNvSpPr txBox="1"/>
          <p:nvPr/>
        </p:nvSpPr>
        <p:spPr>
          <a:xfrm>
            <a:off x="776519" y="365759"/>
            <a:ext cx="4482001" cy="62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6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Demo &amp; Links</a:t>
            </a:r>
          </a:p>
        </p:txBody>
      </p:sp>
      <p:sp>
        <p:nvSpPr>
          <p:cNvPr id="248" name="Rectangle"/>
          <p:cNvSpPr/>
          <p:nvPr/>
        </p:nvSpPr>
        <p:spPr>
          <a:xfrm>
            <a:off x="457199" y="1188719"/>
            <a:ext cx="3932282" cy="2286362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1D283A"/>
                </a:solidFill>
              </a:defRPr>
            </a:pPr>
          </a:p>
        </p:txBody>
      </p:sp>
      <p:sp>
        <p:nvSpPr>
          <p:cNvPr id="249" name="YouTube Demo"/>
          <p:cNvSpPr txBox="1"/>
          <p:nvPr/>
        </p:nvSpPr>
        <p:spPr>
          <a:xfrm>
            <a:off x="776519" y="1417319"/>
            <a:ext cx="3110401" cy="35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YouTube Demo</a:t>
            </a:r>
          </a:p>
        </p:txBody>
      </p:sp>
      <p:sp>
        <p:nvSpPr>
          <p:cNvPr id="250" name="Pre-recorded walkthrough covering:…"/>
          <p:cNvSpPr txBox="1"/>
          <p:nvPr/>
        </p:nvSpPr>
        <p:spPr>
          <a:xfrm>
            <a:off x="822239" y="2011679"/>
            <a:ext cx="3201842" cy="1001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Pre-recorded walkthrough covering:</a:t>
            </a:r>
            <a:endParaRPr>
              <a:solidFill>
                <a:srgbClr val="1D283A"/>
              </a:solidFill>
            </a:endParaRPr>
          </a:p>
          <a:p>
            <a:pPr marL="161280" indent="-161280">
              <a:spcBef>
                <a:spcPts val="3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Task definition &amp; gold fact setup</a:t>
            </a:r>
            <a:endParaRPr>
              <a:solidFill>
                <a:srgbClr val="1D283A"/>
              </a:solidFill>
            </a:endParaRPr>
          </a:p>
          <a:p>
            <a:pPr marL="161280" indent="-161280">
              <a:spcBef>
                <a:spcPts val="3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Generation across all 5 conditions</a:t>
            </a:r>
            <a:endParaRPr>
              <a:solidFill>
                <a:srgbClr val="1D283A"/>
              </a:solidFill>
            </a:endParaRPr>
          </a:p>
          <a:p>
            <a:pPr marL="161280" indent="-161280">
              <a:spcBef>
                <a:spcPts val="3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Detector API calls &amp; score comparison</a:t>
            </a:r>
            <a:endParaRPr>
              <a:solidFill>
                <a:srgbClr val="1D283A"/>
              </a:solidFill>
            </a:endParaRPr>
          </a:p>
          <a:p>
            <a:pPr marL="161280" indent="-161280">
              <a:spcBef>
                <a:spcPts val="3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Linguistic feature extraction</a:t>
            </a:r>
          </a:p>
        </p:txBody>
      </p:sp>
      <p:sp>
        <p:nvSpPr>
          <p:cNvPr id="251" name="Rectangle"/>
          <p:cNvSpPr/>
          <p:nvPr/>
        </p:nvSpPr>
        <p:spPr>
          <a:xfrm>
            <a:off x="4754879" y="1188719"/>
            <a:ext cx="3932281" cy="91476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1D283A"/>
                </a:solidFill>
              </a:defRPr>
            </a:pPr>
          </a:p>
        </p:txBody>
      </p:sp>
      <p:sp>
        <p:nvSpPr>
          <p:cNvPr id="252" name="github.com/yongkyunlee/ai-detectability-research"/>
          <p:cNvSpPr txBox="1"/>
          <p:nvPr/>
        </p:nvSpPr>
        <p:spPr>
          <a:xfrm>
            <a:off x="5028479" y="1325880"/>
            <a:ext cx="3384721" cy="36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3A82F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github.com/yongkyunlee/ai-detectability-research</a:t>
            </a:r>
          </a:p>
        </p:txBody>
      </p:sp>
      <p:sp>
        <p:nvSpPr>
          <p:cNvPr id="253" name="Rectangle"/>
          <p:cNvSpPr/>
          <p:nvPr/>
        </p:nvSpPr>
        <p:spPr>
          <a:xfrm>
            <a:off x="4754879" y="2285999"/>
            <a:ext cx="3932281" cy="2560682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1D283A"/>
                </a:solidFill>
              </a:defRPr>
            </a:pPr>
          </a:p>
        </p:txBody>
      </p:sp>
      <p:sp>
        <p:nvSpPr>
          <p:cNvPr id="254" name="Key References"/>
          <p:cNvSpPr txBox="1"/>
          <p:nvPr/>
        </p:nvSpPr>
        <p:spPr>
          <a:xfrm>
            <a:off x="5028479" y="2423160"/>
            <a:ext cx="3384721" cy="29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References</a:t>
            </a:r>
          </a:p>
        </p:txBody>
      </p:sp>
      <p:sp>
        <p:nvSpPr>
          <p:cNvPr id="255" name="1. Mitchell et al. (2023) - DetectGPT…"/>
          <p:cNvSpPr txBox="1"/>
          <p:nvPr/>
        </p:nvSpPr>
        <p:spPr>
          <a:xfrm>
            <a:off x="5074200" y="2788920"/>
            <a:ext cx="3293280" cy="133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1. Mitchell et al. (2023) - DetectGPT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2. Kirchenbauer et al. (2023) - Watermarking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3. Sadasivan et al. (2023) - Reliable Detection?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4. Krishna et al. (2023) - Paraphrasing Evades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5. Liang et al. (2023) - Detector Bias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6. Wang et al. (2025) - HUMPA (ICLR)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7. Wu et al. (2024) - DetectRL (NeurIPS)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8. Rivera Soto et al. (2025) - Distinct Style</a:t>
            </a:r>
          </a:p>
        </p:txBody>
      </p:sp>
      <p:sp>
        <p:nvSpPr>
          <p:cNvPr id="256" name="Thank you!"/>
          <p:cNvSpPr txBox="1"/>
          <p:nvPr/>
        </p:nvSpPr>
        <p:spPr>
          <a:xfrm>
            <a:off x="502199" y="4114799"/>
            <a:ext cx="3841922" cy="49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28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257" name="18 / 18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18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DetectGPT  Mitchell et al. (2023)"/>
          <p:cNvSpPr txBox="1"/>
          <p:nvPr/>
        </p:nvSpPr>
        <p:spPr>
          <a:xfrm>
            <a:off x="502199" y="182879"/>
            <a:ext cx="8139602" cy="38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DetectGPT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Mitchell et al. (2023)</a:t>
            </a:r>
          </a:p>
        </p:txBody>
      </p:sp>
      <p:sp>
        <p:nvSpPr>
          <p:cNvPr id="260" name="Eric Mitchell, Yoonho Lee, Alexander Khazatsky, Christopher D. Manning, Chelsea Finn  |  ICML 2023"/>
          <p:cNvSpPr txBox="1"/>
          <p:nvPr/>
        </p:nvSpPr>
        <p:spPr>
          <a:xfrm>
            <a:off x="502199" y="640080"/>
            <a:ext cx="8139602" cy="194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Eric Mitchell, Yoonho Lee, Alexander Khazatsky, Christopher D. Manning, Chelsea Finn  |  ICML 2023</a:t>
            </a:r>
          </a:p>
        </p:txBody>
      </p:sp>
      <p:sp>
        <p:nvSpPr>
          <p:cNvPr id="261" name="Rectangle"/>
          <p:cNvSpPr/>
          <p:nvPr/>
        </p:nvSpPr>
        <p:spPr>
          <a:xfrm>
            <a:off x="457199" y="1005839"/>
            <a:ext cx="3932282" cy="3749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2" name="Core Idea"/>
          <p:cNvSpPr txBox="1"/>
          <p:nvPr/>
        </p:nvSpPr>
        <p:spPr>
          <a:xfrm>
            <a:off x="730799" y="1097280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263" name="AI-generated text occupies negative curvature regions of the source model's log probability function. By generating ~100 perturbations of a passage and comparing log probabilities, DetectGPT identifies machine text without any training data."/>
          <p:cNvSpPr txBox="1"/>
          <p:nvPr/>
        </p:nvSpPr>
        <p:spPr>
          <a:xfrm>
            <a:off x="730799" y="1371600"/>
            <a:ext cx="3384722" cy="692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AI-generated text occupies negative curvature regions of the source model's log probability function. By generating ~100 perturbations of a passage and comparing log probabilities, DetectGPT identifies machine text without any training data.</a:t>
            </a:r>
          </a:p>
        </p:txBody>
      </p:sp>
      <p:sp>
        <p:nvSpPr>
          <p:cNvPr id="264" name="Method"/>
          <p:cNvSpPr txBox="1"/>
          <p:nvPr/>
        </p:nvSpPr>
        <p:spPr>
          <a:xfrm>
            <a:off x="730799" y="237743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265" name="Generate perturbations via T5, compute log probabilities under the source model, classify based on curvature (original has higher log-prob than perturbations)."/>
          <p:cNvSpPr txBox="1"/>
          <p:nvPr/>
        </p:nvSpPr>
        <p:spPr>
          <a:xfrm>
            <a:off x="730799" y="265176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Generate perturbations via T5, compute log probabilities under the source model, classify based on curvature (original has higher log-prob than perturbations).</a:t>
            </a:r>
          </a:p>
        </p:txBody>
      </p:sp>
      <p:sp>
        <p:nvSpPr>
          <p:cNvPr id="266" name="Limitations"/>
          <p:cNvSpPr txBox="1"/>
          <p:nvPr/>
        </p:nvSpPr>
        <p:spPr>
          <a:xfrm>
            <a:off x="730799" y="338327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267" name="Requires access to source model log probabilities. Computationally expensive (~100 forward passes/doc). Degrades when source model is unknown."/>
          <p:cNvSpPr txBox="1"/>
          <p:nvPr/>
        </p:nvSpPr>
        <p:spPr>
          <a:xfrm>
            <a:off x="730799" y="3657599"/>
            <a:ext cx="3384722" cy="529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Requires access to source model log probabilities. Computationally expensive (~100 forward passes/doc). Degrades when source model is unknown.</a:t>
            </a:r>
          </a:p>
        </p:txBody>
      </p:sp>
      <p:sp>
        <p:nvSpPr>
          <p:cNvPr id="268" name="Rectangle"/>
          <p:cNvSpPr/>
          <p:nvPr/>
        </p:nvSpPr>
        <p:spPr>
          <a:xfrm>
            <a:off x="4754879" y="1005839"/>
            <a:ext cx="3932281" cy="2103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9" name="Key Results"/>
          <p:cNvSpPr txBox="1"/>
          <p:nvPr/>
        </p:nvSpPr>
        <p:spPr>
          <a:xfrm>
            <a:off x="5028479" y="1097280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270" name="Improves fake news detection from 0.81 to 0.95 AUROC (GPT-NeoX 20B). Zero-shot: no training data, no classifier, no watermarking required."/>
          <p:cNvSpPr txBox="1"/>
          <p:nvPr/>
        </p:nvSpPr>
        <p:spPr>
          <a:xfrm>
            <a:off x="5028479" y="1371599"/>
            <a:ext cx="3384721" cy="529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Improves fake news detection from 0.81 to 0.95 AUROC (GPT-NeoX 20B). Zero-shot: no training data, no classifier, no watermarking required.</a:t>
            </a:r>
          </a:p>
        </p:txBody>
      </p:sp>
      <p:sp>
        <p:nvSpPr>
          <p:cNvPr id="271" name="Rectangle"/>
          <p:cNvSpPr/>
          <p:nvPr/>
        </p:nvSpPr>
        <p:spPr>
          <a:xfrm>
            <a:off x="4754879" y="3291840"/>
            <a:ext cx="393228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Relevance to This Study"/>
          <p:cNvSpPr txBox="1"/>
          <p:nvPr/>
        </p:nvSpPr>
        <p:spPr>
          <a:xfrm>
            <a:off x="5028479" y="3383279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273" name="Foundational method behind GPTZero and similar tools. Understanding its log-probability basis explains why stylistic interventions can shift detector scores."/>
          <p:cNvSpPr txBox="1"/>
          <p:nvPr/>
        </p:nvSpPr>
        <p:spPr>
          <a:xfrm>
            <a:off x="5028479" y="3657600"/>
            <a:ext cx="3384721" cy="552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Foundational method behind GPTZero and similar tools. Understanding its log-probability basis explains why stylistic interventions can shift detector scores.</a:t>
            </a:r>
          </a:p>
        </p:txBody>
      </p:sp>
      <p:sp>
        <p:nvSpPr>
          <p:cNvPr id="274" name="Appendix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Watermarking LLMs  Kirchenbauer et al. (2023)"/>
          <p:cNvSpPr txBox="1"/>
          <p:nvPr/>
        </p:nvSpPr>
        <p:spPr>
          <a:xfrm>
            <a:off x="502199" y="182879"/>
            <a:ext cx="8139602" cy="38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Watermarking LLMs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Kirchenbauer et al. (2023)</a:t>
            </a:r>
          </a:p>
        </p:txBody>
      </p:sp>
      <p:sp>
        <p:nvSpPr>
          <p:cNvPr id="277" name="John Kirchenbauer, Jonas Geiping, Yuxin Wen, Jonathan Katz, Ian Miers, Tom Goldstein  |  ICML 2023"/>
          <p:cNvSpPr txBox="1"/>
          <p:nvPr/>
        </p:nvSpPr>
        <p:spPr>
          <a:xfrm>
            <a:off x="502199" y="640080"/>
            <a:ext cx="8139602" cy="194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John Kirchenbauer, Jonas Geiping, Yuxin Wen, Jonathan Katz, Ian Miers, Tom Goldstein  |  ICML 2023</a:t>
            </a:r>
          </a:p>
        </p:txBody>
      </p:sp>
      <p:sp>
        <p:nvSpPr>
          <p:cNvPr id="278" name="Rectangle"/>
          <p:cNvSpPr/>
          <p:nvPr/>
        </p:nvSpPr>
        <p:spPr>
          <a:xfrm>
            <a:off x="457199" y="1005839"/>
            <a:ext cx="3932282" cy="3749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9" name="Core Idea"/>
          <p:cNvSpPr txBox="1"/>
          <p:nvPr/>
        </p:nvSpPr>
        <p:spPr>
          <a:xfrm>
            <a:off x="730799" y="1097280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280" name="Embeds an imperceptible statistical signal into LLM output by partitioning vocabulary into green/red token lists at each generation step using a hash of the previous token."/>
          <p:cNvSpPr txBox="1"/>
          <p:nvPr/>
        </p:nvSpPr>
        <p:spPr>
          <a:xfrm>
            <a:off x="730799" y="137160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Embeds an imperceptible statistical signal into LLM output by partitioning vocabulary into green/red token lists at each generation step using a hash of the previous token.</a:t>
            </a:r>
          </a:p>
        </p:txBody>
      </p:sp>
      <p:sp>
        <p:nvSpPr>
          <p:cNvPr id="281" name="Method"/>
          <p:cNvSpPr txBox="1"/>
          <p:nvPr/>
        </p:nvSpPr>
        <p:spPr>
          <a:xfrm>
            <a:off x="730799" y="237743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282" name="Hash previous token to seed RNG, partition vocab into green/red lists, bias sampling toward green tokens. Detection via z-test on green token count."/>
          <p:cNvSpPr txBox="1"/>
          <p:nvPr/>
        </p:nvSpPr>
        <p:spPr>
          <a:xfrm>
            <a:off x="730799" y="265176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Hash previous token to seed RNG, partition vocab into green/red lists, bias sampling toward green tokens. Detection via z-test on green token count.</a:t>
            </a:r>
          </a:p>
        </p:txBody>
      </p:sp>
      <p:sp>
        <p:nvSpPr>
          <p:cNvPr id="283" name="Limitations"/>
          <p:cNvSpPr txBox="1"/>
          <p:nvPr/>
        </p:nvSpPr>
        <p:spPr>
          <a:xfrm>
            <a:off x="730799" y="338327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284" name="Low-entropy sequences (code, formulaic text) hard to watermark. Requires provider cooperation. Vulnerable to paraphrasing attacks."/>
          <p:cNvSpPr txBox="1"/>
          <p:nvPr/>
        </p:nvSpPr>
        <p:spPr>
          <a:xfrm>
            <a:off x="730799" y="3657599"/>
            <a:ext cx="3384722" cy="36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Low-entropy sequences (code, formulaic text) hard to watermark. Requires provider cooperation. Vulnerable to paraphrasing attacks.</a:t>
            </a:r>
          </a:p>
        </p:txBody>
      </p:sp>
      <p:sp>
        <p:nvSpPr>
          <p:cNvPr id="285" name="Rectangle"/>
          <p:cNvSpPr/>
          <p:nvPr/>
        </p:nvSpPr>
        <p:spPr>
          <a:xfrm>
            <a:off x="4754879" y="1005839"/>
            <a:ext cx="3932281" cy="2103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6" name="Key Results"/>
          <p:cNvSpPr txBox="1"/>
          <p:nvPr/>
        </p:nvSpPr>
        <p:spPr>
          <a:xfrm>
            <a:off x="5028479" y="1097280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287" name="Detectable from as few as 25 tokens with negligible quality impact. p-values as low as ~6e-14 for watermarked text. Robust to moderate edits."/>
          <p:cNvSpPr txBox="1"/>
          <p:nvPr/>
        </p:nvSpPr>
        <p:spPr>
          <a:xfrm>
            <a:off x="5028479" y="1371599"/>
            <a:ext cx="3384721" cy="529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Detectable from as few as 25 tokens with negligible quality impact. p-values as low as ~6e-14 for watermarked text. Robust to moderate edits.</a:t>
            </a:r>
          </a:p>
        </p:txBody>
      </p:sp>
      <p:sp>
        <p:nvSpPr>
          <p:cNvPr id="288" name="Rectangle"/>
          <p:cNvSpPr/>
          <p:nvPr/>
        </p:nvSpPr>
        <p:spPr>
          <a:xfrm>
            <a:off x="4754879" y="3291840"/>
            <a:ext cx="393228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Relevance to This Study"/>
          <p:cNvSpPr txBox="1"/>
          <p:nvPr/>
        </p:nvSpPr>
        <p:spPr>
          <a:xfrm>
            <a:off x="5028479" y="3383279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290" name="Demonstrates token distribution patterns as a primary detection axis. Our C3 style constraints work in a complementary space - modifying stylistic patterns rather than token-level statistics."/>
          <p:cNvSpPr txBox="1"/>
          <p:nvPr/>
        </p:nvSpPr>
        <p:spPr>
          <a:xfrm>
            <a:off x="5028479" y="3657600"/>
            <a:ext cx="3384721" cy="552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Demonstrates token distribution patterns as a primary detection axis. Our C3 style constraints work in a complementary space - modifying stylistic patterns rather than token-level statistics.</a:t>
            </a:r>
          </a:p>
        </p:txBody>
      </p:sp>
      <p:sp>
        <p:nvSpPr>
          <p:cNvPr id="291" name="Appendix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Can AI Text Be Reliably Detected?  Sadasivan et al. (2023)"/>
          <p:cNvSpPr txBox="1"/>
          <p:nvPr/>
        </p:nvSpPr>
        <p:spPr>
          <a:xfrm>
            <a:off x="502199" y="182879"/>
            <a:ext cx="8139602" cy="38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Can AI Text Be Reliably Detected?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Sadasivan et al. (2023)</a:t>
            </a:r>
          </a:p>
        </p:txBody>
      </p:sp>
      <p:sp>
        <p:nvSpPr>
          <p:cNvPr id="294" name="Vinu Sankar Sadasivan, Aounon Kumar, Sriram Balasubramanian, Wenxiao Wang, Soheil Feizi  |  arXiv preprint (2023)"/>
          <p:cNvSpPr txBox="1"/>
          <p:nvPr/>
        </p:nvSpPr>
        <p:spPr>
          <a:xfrm>
            <a:off x="502199" y="640080"/>
            <a:ext cx="8139602" cy="194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Vinu Sankar Sadasivan, Aounon Kumar, Sriram Balasubramanian, Wenxiao Wang, Soheil Feizi  |  arXiv preprint (2023)</a:t>
            </a:r>
          </a:p>
        </p:txBody>
      </p:sp>
      <p:sp>
        <p:nvSpPr>
          <p:cNvPr id="295" name="Rectangle"/>
          <p:cNvSpPr/>
          <p:nvPr/>
        </p:nvSpPr>
        <p:spPr>
          <a:xfrm>
            <a:off x="457199" y="1005839"/>
            <a:ext cx="3932282" cy="3749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6" name="Core Idea"/>
          <p:cNvSpPr txBox="1"/>
          <p:nvPr/>
        </p:nvSpPr>
        <p:spPr>
          <a:xfrm>
            <a:off x="730799" y="1097280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297" name="Stress-tests AI text detectors with recursive paraphrasing attacks and spoofing attacks, revealing fundamental vulnerabilities in both watermark-based and statistical detectors."/>
          <p:cNvSpPr txBox="1"/>
          <p:nvPr/>
        </p:nvSpPr>
        <p:spPr>
          <a:xfrm>
            <a:off x="730799" y="137160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Stress-tests AI text detectors with recursive paraphrasing attacks and spoofing attacks, revealing fundamental vulnerabilities in both watermark-based and statistical detectors.</a:t>
            </a:r>
          </a:p>
        </p:txBody>
      </p:sp>
      <p:sp>
        <p:nvSpPr>
          <p:cNvPr id="298" name="Method"/>
          <p:cNvSpPr txBox="1"/>
          <p:nvPr/>
        </p:nvSpPr>
        <p:spPr>
          <a:xfrm>
            <a:off x="730799" y="237743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299" name="Repeatedly paraphrase AI text to remove statistical signatures. Also demonstrates spoofing: inferring watermark schemes to create false positives on human text."/>
          <p:cNvSpPr txBox="1"/>
          <p:nvPr/>
        </p:nvSpPr>
        <p:spPr>
          <a:xfrm>
            <a:off x="730799" y="265176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Repeatedly paraphrase AI text to remove statistical signatures. Also demonstrates spoofing: inferring watermark schemes to create false positives on human text.</a:t>
            </a:r>
          </a:p>
        </p:txBody>
      </p:sp>
      <p:sp>
        <p:nvSpPr>
          <p:cNvPr id="300" name="Limitations"/>
          <p:cNvSpPr txBox="1"/>
          <p:nvPr/>
        </p:nvSpPr>
        <p:spPr>
          <a:xfrm>
            <a:off x="730799" y="338327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01" name="Assumes access to a capable paraphrasing model. Spoofing requires multiple queries to the watermarked LLM."/>
          <p:cNvSpPr txBox="1"/>
          <p:nvPr/>
        </p:nvSpPr>
        <p:spPr>
          <a:xfrm>
            <a:off x="730799" y="3657599"/>
            <a:ext cx="3384722" cy="36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Assumes access to a capable paraphrasing model. Spoofing requires multiple queries to the watermarked LLM.</a:t>
            </a:r>
          </a:p>
        </p:txBody>
      </p:sp>
      <p:sp>
        <p:nvSpPr>
          <p:cNvPr id="302" name="Rectangle"/>
          <p:cNvSpPr/>
          <p:nvPr/>
        </p:nvSpPr>
        <p:spPr>
          <a:xfrm>
            <a:off x="4754879" y="1005839"/>
            <a:ext cx="3932281" cy="2103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3" name="Key Results"/>
          <p:cNvSpPr txBox="1"/>
          <p:nvPr/>
        </p:nvSpPr>
        <p:spPr>
          <a:xfrm>
            <a:off x="5028479" y="1097280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304" name="Watermark detection TPR drops from 99.3% to 9.7%. DetectGPT AUROC drops from 96.5% to 25.2%. 77% of paraphrased passages rated high quality."/>
          <p:cNvSpPr txBox="1"/>
          <p:nvPr/>
        </p:nvSpPr>
        <p:spPr>
          <a:xfrm>
            <a:off x="5028479" y="1371599"/>
            <a:ext cx="3384721" cy="529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Watermark detection TPR drops from 99.3% to 9.7%. DetectGPT AUROC drops from 96.5% to 25.2%. 77% of paraphrased passages rated high quality.</a:t>
            </a:r>
          </a:p>
        </p:txBody>
      </p:sp>
      <p:sp>
        <p:nvSpPr>
          <p:cNvPr id="305" name="Rectangle"/>
          <p:cNvSpPr/>
          <p:nvPr/>
        </p:nvSpPr>
        <p:spPr>
          <a:xfrm>
            <a:off x="4754879" y="3291840"/>
            <a:ext cx="393228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Relevance to This Study"/>
          <p:cNvSpPr txBox="1"/>
          <p:nvPr/>
        </p:nvSpPr>
        <p:spPr>
          <a:xfrm>
            <a:off x="5028479" y="3383279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307" name="Directly motivates C4 (humanization) - paraphrasing is a powerful evasion tool but introduces quality trade-offs. Theoretical bounds contextualize why evasion is possible."/>
          <p:cNvSpPr txBox="1"/>
          <p:nvPr/>
        </p:nvSpPr>
        <p:spPr>
          <a:xfrm>
            <a:off x="5028479" y="3657600"/>
            <a:ext cx="3384721" cy="552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Directly motivates C4 (humanization) - paraphrasing is a powerful evasion tool but introduces quality trade-offs. Theoretical bounds contextualize why evasion is possible.</a:t>
            </a:r>
          </a:p>
        </p:txBody>
      </p:sp>
      <p:sp>
        <p:nvSpPr>
          <p:cNvPr id="308" name="Appendix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araphrasing Evades Detectors  Krishna et al. (2023)"/>
          <p:cNvSpPr txBox="1"/>
          <p:nvPr/>
        </p:nvSpPr>
        <p:spPr>
          <a:xfrm>
            <a:off x="502199" y="182879"/>
            <a:ext cx="8139602" cy="38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Paraphrasing Evades Detectors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Krishna et al. (2023)</a:t>
            </a:r>
          </a:p>
        </p:txBody>
      </p:sp>
      <p:sp>
        <p:nvSpPr>
          <p:cNvPr id="311" name="Kalpesh Krishna, Yixiao Song, Marzena Karpinska, John Wieting, Mohit Iyyer  |  NeurIPS 2023"/>
          <p:cNvSpPr txBox="1"/>
          <p:nvPr/>
        </p:nvSpPr>
        <p:spPr>
          <a:xfrm>
            <a:off x="502199" y="640080"/>
            <a:ext cx="8139602" cy="194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Kalpesh Krishna, Yixiao Song, Marzena Karpinska, John Wieting, Mohit Iyyer  |  NeurIPS 2023</a:t>
            </a:r>
          </a:p>
        </p:txBody>
      </p:sp>
      <p:sp>
        <p:nvSpPr>
          <p:cNvPr id="312" name="Rectangle"/>
          <p:cNvSpPr/>
          <p:nvPr/>
        </p:nvSpPr>
        <p:spPr>
          <a:xfrm>
            <a:off x="457199" y="1005839"/>
            <a:ext cx="3932282" cy="3749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13" name="Core Idea"/>
          <p:cNvSpPr txBox="1"/>
          <p:nvPr/>
        </p:nvSpPr>
        <p:spPr>
          <a:xfrm>
            <a:off x="730799" y="1097280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14" name="Builds DIPPER, an 11B-parameter discourse-level paraphraser with controllable diversity, to attack AI text detectors. Also proposes a retrieval-based defense."/>
          <p:cNvSpPr txBox="1"/>
          <p:nvPr/>
        </p:nvSpPr>
        <p:spPr>
          <a:xfrm>
            <a:off x="730799" y="137160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Builds DIPPER, an 11B-parameter discourse-level paraphraser with controllable diversity, to attack AI text detectors. Also proposes a retrieval-based defense.</a:t>
            </a:r>
          </a:p>
        </p:txBody>
      </p:sp>
      <p:sp>
        <p:nvSpPr>
          <p:cNvPr id="315" name="Method"/>
          <p:cNvSpPr txBox="1"/>
          <p:nvPr/>
        </p:nvSpPr>
        <p:spPr>
          <a:xfrm>
            <a:off x="730799" y="237743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316" name="DIPPER paraphrases paragraph-length text with two control knobs: lexical diversity and content reordering. Retrieval defense stores all LLM outputs and uses BM-25 + embeddings."/>
          <p:cNvSpPr txBox="1"/>
          <p:nvPr/>
        </p:nvSpPr>
        <p:spPr>
          <a:xfrm>
            <a:off x="730799" y="265176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DIPPER paraphrases paragraph-length text with two control knobs: lexical diversity and content reordering. Retrieval defense stores all LLM outputs and uses BM-25 + embeddings.</a:t>
            </a:r>
          </a:p>
        </p:txBody>
      </p:sp>
      <p:sp>
        <p:nvSpPr>
          <p:cNvPr id="317" name="Limitations"/>
          <p:cNvSpPr txBox="1"/>
          <p:nvPr/>
        </p:nvSpPr>
        <p:spPr>
          <a:xfrm>
            <a:off x="730799" y="338327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18" name="Retrieval defense requires API provider cooperation and storage of all generated outputs."/>
          <p:cNvSpPr txBox="1"/>
          <p:nvPr/>
        </p:nvSpPr>
        <p:spPr>
          <a:xfrm>
            <a:off x="730799" y="3657599"/>
            <a:ext cx="3384722" cy="36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Retrieval defense requires API provider cooperation and storage of all generated outputs.</a:t>
            </a:r>
          </a:p>
        </p:txBody>
      </p:sp>
      <p:sp>
        <p:nvSpPr>
          <p:cNvPr id="319" name="Rectangle"/>
          <p:cNvSpPr/>
          <p:nvPr/>
        </p:nvSpPr>
        <p:spPr>
          <a:xfrm>
            <a:off x="4754879" y="1005839"/>
            <a:ext cx="3932281" cy="2103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0" name="Key Results"/>
          <p:cNvSpPr txBox="1"/>
          <p:nvPr/>
        </p:nvSpPr>
        <p:spPr>
          <a:xfrm>
            <a:off x="5028479" y="1097280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321" name="DetectGPT drops from 70.3% to 4.6% after DIPPER. Retrieval defense detects 80-97% of paraphrased text at 1% FPR (tested on 15M generation database)."/>
          <p:cNvSpPr txBox="1"/>
          <p:nvPr/>
        </p:nvSpPr>
        <p:spPr>
          <a:xfrm>
            <a:off x="5028479" y="1371599"/>
            <a:ext cx="3384721" cy="529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DetectGPT drops from 70.3% to 4.6% after DIPPER. Retrieval defense detects 80-97% of paraphrased text at 1% FPR (tested on 15M generation database).</a:t>
            </a:r>
          </a:p>
        </p:txBody>
      </p:sp>
      <p:sp>
        <p:nvSpPr>
          <p:cNvPr id="322" name="Rectangle"/>
          <p:cNvSpPr/>
          <p:nvPr/>
        </p:nvSpPr>
        <p:spPr>
          <a:xfrm>
            <a:off x="4754879" y="3291840"/>
            <a:ext cx="393228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Relevance to This Study"/>
          <p:cNvSpPr txBox="1"/>
          <p:nvPr/>
        </p:nvSpPr>
        <p:spPr>
          <a:xfrm>
            <a:off x="5028479" y="3383279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324" name="DIPPER's controllable paraphrasing directly informs our C4 humanization strategy. The retrieval defense shows evasion has limits when API providers participate."/>
          <p:cNvSpPr txBox="1"/>
          <p:nvPr/>
        </p:nvSpPr>
        <p:spPr>
          <a:xfrm>
            <a:off x="5028479" y="3657600"/>
            <a:ext cx="3384721" cy="552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DIPPER's controllable paraphrasing directly informs our C4 humanization strategy. The retrieval defense shows evasion has limits when API providers participate.</a:t>
            </a:r>
          </a:p>
        </p:txBody>
      </p:sp>
      <p:sp>
        <p:nvSpPr>
          <p:cNvPr id="325" name="Appendix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PT Detectors Are Biased  Liang et al. (2023)"/>
          <p:cNvSpPr txBox="1"/>
          <p:nvPr/>
        </p:nvSpPr>
        <p:spPr>
          <a:xfrm>
            <a:off x="502199" y="182879"/>
            <a:ext cx="8139602" cy="38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GPT Detectors Are Biased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Liang et al. (2023)</a:t>
            </a:r>
          </a:p>
        </p:txBody>
      </p:sp>
      <p:sp>
        <p:nvSpPr>
          <p:cNvPr id="328" name="Weixin Liang, Mert Yuksekgonul, Yining Mao, Eric Wu, James Zou  |  Patterns (Cell Press), 2023"/>
          <p:cNvSpPr txBox="1"/>
          <p:nvPr/>
        </p:nvSpPr>
        <p:spPr>
          <a:xfrm>
            <a:off x="502199" y="640080"/>
            <a:ext cx="8139602" cy="194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Weixin Liang, Mert Yuksekgonul, Yining Mao, Eric Wu, James Zou  |  Patterns (Cell Press), 2023</a:t>
            </a:r>
          </a:p>
        </p:txBody>
      </p:sp>
      <p:sp>
        <p:nvSpPr>
          <p:cNvPr id="329" name="Rectangle"/>
          <p:cNvSpPr/>
          <p:nvPr/>
        </p:nvSpPr>
        <p:spPr>
          <a:xfrm>
            <a:off x="457199" y="1005839"/>
            <a:ext cx="3932282" cy="3749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0" name="Core Idea"/>
          <p:cNvSpPr txBox="1"/>
          <p:nvPr/>
        </p:nvSpPr>
        <p:spPr>
          <a:xfrm>
            <a:off x="730799" y="1097280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31" name="GPT detectors systematically misclassify non-native English writing as AI-generated due to lower linguistic variability, with a 61% average false positive rate on TOEFL essays."/>
          <p:cNvSpPr txBox="1"/>
          <p:nvPr/>
        </p:nvSpPr>
        <p:spPr>
          <a:xfrm>
            <a:off x="730799" y="137160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GPT detectors systematically misclassify non-native English writing as AI-generated due to lower linguistic variability, with a 61% average false positive rate on TOEFL essays.</a:t>
            </a:r>
          </a:p>
        </p:txBody>
      </p:sp>
      <p:sp>
        <p:nvSpPr>
          <p:cNvPr id="332" name="Method"/>
          <p:cNvSpPr txBox="1"/>
          <p:nvPr/>
        </p:nvSpPr>
        <p:spPr>
          <a:xfrm>
            <a:off x="730799" y="237743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333" name="Tested 7 detectors on 91 TOEFL essays + 88 US 8th-grade essays. Also tested mitigation via ChatGPT rewriting prompts."/>
          <p:cNvSpPr txBox="1"/>
          <p:nvPr/>
        </p:nvSpPr>
        <p:spPr>
          <a:xfrm>
            <a:off x="730799" y="2651760"/>
            <a:ext cx="3384722" cy="36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Tested 7 detectors on 91 TOEFL essays + 88 US 8th-grade essays. Also tested mitigation via ChatGPT rewriting prompts.</a:t>
            </a:r>
          </a:p>
        </p:txBody>
      </p:sp>
      <p:sp>
        <p:nvSpPr>
          <p:cNvPr id="334" name="Limitations"/>
          <p:cNvSpPr txBox="1"/>
          <p:nvPr/>
        </p:nvSpPr>
        <p:spPr>
          <a:xfrm>
            <a:off x="730799" y="338327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35" name="Study focused on English-language detectors. Bias patterns may differ for other languages."/>
          <p:cNvSpPr txBox="1"/>
          <p:nvPr/>
        </p:nvSpPr>
        <p:spPr>
          <a:xfrm>
            <a:off x="730799" y="3657599"/>
            <a:ext cx="3384722" cy="36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Study focused on English-language detectors. Bias patterns may differ for other languages.</a:t>
            </a:r>
          </a:p>
        </p:txBody>
      </p:sp>
      <p:sp>
        <p:nvSpPr>
          <p:cNvPr id="336" name="Rectangle"/>
          <p:cNvSpPr/>
          <p:nvPr/>
        </p:nvSpPr>
        <p:spPr>
          <a:xfrm>
            <a:off x="4754879" y="1005839"/>
            <a:ext cx="3932281" cy="2103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7" name="Key Results"/>
          <p:cNvSpPr txBox="1"/>
          <p:nvPr/>
        </p:nvSpPr>
        <p:spPr>
          <a:xfrm>
            <a:off x="5028479" y="1097280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338" name="61% FP rate on non-native essays vs. near-zero on native essays. Simple rewriting prompt reduced FP from 61% to 12%. Simplifying native text raised FP from 5% to 57%."/>
          <p:cNvSpPr txBox="1"/>
          <p:nvPr/>
        </p:nvSpPr>
        <p:spPr>
          <a:xfrm>
            <a:off x="5028479" y="1371599"/>
            <a:ext cx="3384721" cy="529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61% FP rate on non-native essays vs. near-zero on native essays. Simple rewriting prompt reduced FP from 61% to 12%. Simplifying native text raised FP from 5% to 57%.</a:t>
            </a:r>
          </a:p>
        </p:txBody>
      </p:sp>
      <p:sp>
        <p:nvSpPr>
          <p:cNvPr id="339" name="Rectangle"/>
          <p:cNvSpPr/>
          <p:nvPr/>
        </p:nvSpPr>
        <p:spPr>
          <a:xfrm>
            <a:off x="4754879" y="3291840"/>
            <a:ext cx="393228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Relevance to This Study"/>
          <p:cNvSpPr txBox="1"/>
          <p:nvPr/>
        </p:nvSpPr>
        <p:spPr>
          <a:xfrm>
            <a:off x="5028479" y="3383279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341" name="Motivates awareness of fairness when interpreting detector scores. Demonstrates that simple rewriting prompts can dramatically shift detection - validates our C4 approach."/>
          <p:cNvSpPr txBox="1"/>
          <p:nvPr/>
        </p:nvSpPr>
        <p:spPr>
          <a:xfrm>
            <a:off x="5028479" y="3657600"/>
            <a:ext cx="3384721" cy="552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Motivates awareness of fairness when interpreting detector scores. Demonstrates that simple rewriting prompts can dramatically shift detection - validates our C4 approach.</a:t>
            </a:r>
          </a:p>
        </p:txBody>
      </p:sp>
      <p:sp>
        <p:nvSpPr>
          <p:cNvPr id="342" name="Appendix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ALCE - Citation Quality Metrics  Gao et al. (2023)"/>
          <p:cNvSpPr txBox="1"/>
          <p:nvPr/>
        </p:nvSpPr>
        <p:spPr>
          <a:xfrm>
            <a:off x="502199" y="182879"/>
            <a:ext cx="8139602" cy="38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ALCE - Citation Quality Metrics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Gao et al. (2023)</a:t>
            </a:r>
          </a:p>
        </p:txBody>
      </p:sp>
      <p:sp>
        <p:nvSpPr>
          <p:cNvPr id="345" name="Tianyu Gao, Howard Yen, Jiatong Yu, Danqi Chen  |  EMNLP 2023"/>
          <p:cNvSpPr txBox="1"/>
          <p:nvPr/>
        </p:nvSpPr>
        <p:spPr>
          <a:xfrm>
            <a:off x="502199" y="640080"/>
            <a:ext cx="8139602" cy="194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Tianyu Gao, Howard Yen, Jiatong Yu, Danqi Chen  |  EMNLP 2023</a:t>
            </a:r>
          </a:p>
        </p:txBody>
      </p:sp>
      <p:sp>
        <p:nvSpPr>
          <p:cNvPr id="346" name="Rectangle"/>
          <p:cNvSpPr/>
          <p:nvPr/>
        </p:nvSpPr>
        <p:spPr>
          <a:xfrm>
            <a:off x="457199" y="1005839"/>
            <a:ext cx="3932282" cy="3749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7" name="Core Idea"/>
          <p:cNvSpPr txBox="1"/>
          <p:nvPr/>
        </p:nvSpPr>
        <p:spPr>
          <a:xfrm>
            <a:off x="730799" y="1097280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48" name="First reproducible benchmark for evaluating LLM-generated text with citations, measuring fluency, correctness, and citation quality using NLI-based metrics."/>
          <p:cNvSpPr txBox="1"/>
          <p:nvPr/>
        </p:nvSpPr>
        <p:spPr>
          <a:xfrm>
            <a:off x="730799" y="137160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First reproducible benchmark for evaluating LLM-generated text with citations, measuring fluency, correctness, and citation quality using NLI-based metrics.</a:t>
            </a:r>
          </a:p>
        </p:txBody>
      </p:sp>
      <p:sp>
        <p:nvSpPr>
          <p:cNvPr id="349" name="Method"/>
          <p:cNvSpPr txBox="1"/>
          <p:nvPr/>
        </p:nvSpPr>
        <p:spPr>
          <a:xfrm>
            <a:off x="730799" y="237743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350" name="Three datasets: ASQA, QAMPARI, ELI5. Evaluation via MAUVE (fluency), exact match/F1 (correctness), NLI-based citation precision and recall."/>
          <p:cNvSpPr txBox="1"/>
          <p:nvPr/>
        </p:nvSpPr>
        <p:spPr>
          <a:xfrm>
            <a:off x="730799" y="2651760"/>
            <a:ext cx="3384722" cy="36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Three datasets: ASQA, QAMPARI, ELI5. Evaluation via MAUVE (fluency), exact match/F1 (correctness), NLI-based citation precision and recall.</a:t>
            </a:r>
          </a:p>
        </p:txBody>
      </p:sp>
      <p:sp>
        <p:nvSpPr>
          <p:cNvPr id="351" name="Limitations"/>
          <p:cNvSpPr txBox="1"/>
          <p:nvPr/>
        </p:nvSpPr>
        <p:spPr>
          <a:xfrm>
            <a:off x="730799" y="338327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52" name="NLI models may have their own biases. Benchmark focused on English factoid and explanation tasks."/>
          <p:cNvSpPr txBox="1"/>
          <p:nvPr/>
        </p:nvSpPr>
        <p:spPr>
          <a:xfrm>
            <a:off x="730799" y="3657599"/>
            <a:ext cx="3384722" cy="36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NLI models may have their own biases. Benchmark focused on English factoid and explanation tasks.</a:t>
            </a:r>
          </a:p>
        </p:txBody>
      </p:sp>
      <p:sp>
        <p:nvSpPr>
          <p:cNvPr id="353" name="Rectangle"/>
          <p:cNvSpPr/>
          <p:nvPr/>
        </p:nvSpPr>
        <p:spPr>
          <a:xfrm>
            <a:off x="4754879" y="1005839"/>
            <a:ext cx="3932281" cy="2103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4" name="Key Results"/>
          <p:cNvSpPr txBox="1"/>
          <p:nvPr/>
        </p:nvSpPr>
        <p:spPr>
          <a:xfrm>
            <a:off x="5028479" y="1097280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355" name="Even GPT-4 lacks complete citation support ~50% of the time on ELI5. Closed-book models achieve good correctness but poor citation quality."/>
          <p:cNvSpPr txBox="1"/>
          <p:nvPr/>
        </p:nvSpPr>
        <p:spPr>
          <a:xfrm>
            <a:off x="5028479" y="1371599"/>
            <a:ext cx="3384721" cy="529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Even GPT-4 lacks complete citation support ~50% of the time on ELI5. Closed-book models achieve good correctness but poor citation quality.</a:t>
            </a:r>
          </a:p>
        </p:txBody>
      </p:sp>
      <p:sp>
        <p:nvSpPr>
          <p:cNvPr id="356" name="Rectangle"/>
          <p:cNvSpPr/>
          <p:nvPr/>
        </p:nvSpPr>
        <p:spPr>
          <a:xfrm>
            <a:off x="4754879" y="3291840"/>
            <a:ext cx="393228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Relevance to This Study"/>
          <p:cNvSpPr txBox="1"/>
          <p:nvPr/>
        </p:nvSpPr>
        <p:spPr>
          <a:xfrm>
            <a:off x="5028479" y="3383279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358" name="ALCE's citation quality metrics (NLI-based verification) inform our factual accuracy evaluation - we adapt the principle of checking whether claims are supported by source material."/>
          <p:cNvSpPr txBox="1"/>
          <p:nvPr/>
        </p:nvSpPr>
        <p:spPr>
          <a:xfrm>
            <a:off x="5028479" y="3657600"/>
            <a:ext cx="3384721" cy="552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ALCE's citation quality metrics (NLI-based verification) inform our factual accuracy evaluation - we adapt the principle of checking whether claims are supported by source material.</a:t>
            </a:r>
          </a:p>
        </p:txBody>
      </p:sp>
      <p:sp>
        <p:nvSpPr>
          <p:cNvPr id="359" name="Appendix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Verifiability in Generative Search  Liu et al. (2023)"/>
          <p:cNvSpPr txBox="1"/>
          <p:nvPr/>
        </p:nvSpPr>
        <p:spPr>
          <a:xfrm>
            <a:off x="502199" y="182879"/>
            <a:ext cx="8139602" cy="38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Verifiability in Generative Search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Liu et al. (2023)</a:t>
            </a:r>
          </a:p>
        </p:txBody>
      </p:sp>
      <p:sp>
        <p:nvSpPr>
          <p:cNvPr id="362" name="Nelson F. Liu, Tianyi Zhang, Percy Liang  |  EMNLP 2023 (Findings)"/>
          <p:cNvSpPr txBox="1"/>
          <p:nvPr/>
        </p:nvSpPr>
        <p:spPr>
          <a:xfrm>
            <a:off x="502199" y="640080"/>
            <a:ext cx="8139602" cy="194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Nelson F. Liu, Tianyi Zhang, Percy Liang  |  EMNLP 2023 (Findings)</a:t>
            </a:r>
          </a:p>
        </p:txBody>
      </p:sp>
      <p:sp>
        <p:nvSpPr>
          <p:cNvPr id="363" name="Rectangle"/>
          <p:cNvSpPr/>
          <p:nvPr/>
        </p:nvSpPr>
        <p:spPr>
          <a:xfrm>
            <a:off x="457199" y="1005839"/>
            <a:ext cx="3932282" cy="3749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4" name="Core Idea"/>
          <p:cNvSpPr txBox="1"/>
          <p:nvPr/>
        </p:nvSpPr>
        <p:spPr>
          <a:xfrm>
            <a:off x="730799" y="1097280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65" name="Audits four generative search engines for verifiability - whether cited sources actually support generated claims. Finds a significant gap between surface quality and factual support."/>
          <p:cNvSpPr txBox="1"/>
          <p:nvPr/>
        </p:nvSpPr>
        <p:spPr>
          <a:xfrm>
            <a:off x="730799" y="137160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Audits four generative search engines for verifiability - whether cited sources actually support generated claims. Finds a significant gap between surface quality and factual support.</a:t>
            </a:r>
          </a:p>
        </p:txBody>
      </p:sp>
      <p:sp>
        <p:nvSpPr>
          <p:cNvPr id="366" name="Method"/>
          <p:cNvSpPr txBox="1"/>
          <p:nvPr/>
        </p:nvSpPr>
        <p:spPr>
          <a:xfrm>
            <a:off x="730799" y="237743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367" name="Evaluated Bing Chat, NeevaAI, perplexity.ai, YouChat using citation recall (% statements supported) and citation precision (% citations that support their claim)."/>
          <p:cNvSpPr txBox="1"/>
          <p:nvPr/>
        </p:nvSpPr>
        <p:spPr>
          <a:xfrm>
            <a:off x="730799" y="265176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Evaluated Bing Chat, NeevaAI, perplexity.ai, YouChat using citation recall (% statements supported) and citation precision (% citations that support their claim).</a:t>
            </a:r>
          </a:p>
        </p:txBody>
      </p:sp>
      <p:sp>
        <p:nvSpPr>
          <p:cNvPr id="368" name="Limitations"/>
          <p:cNvSpPr txBox="1"/>
          <p:nvPr/>
        </p:nvSpPr>
        <p:spPr>
          <a:xfrm>
            <a:off x="730799" y="338327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69" name="Evaluated only four systems at a single point in time. Systems have evolved since the study."/>
          <p:cNvSpPr txBox="1"/>
          <p:nvPr/>
        </p:nvSpPr>
        <p:spPr>
          <a:xfrm>
            <a:off x="730799" y="3657599"/>
            <a:ext cx="3384722" cy="36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Evaluated only four systems at a single point in time. Systems have evolved since the study.</a:t>
            </a:r>
          </a:p>
        </p:txBody>
      </p:sp>
      <p:sp>
        <p:nvSpPr>
          <p:cNvPr id="370" name="Rectangle"/>
          <p:cNvSpPr/>
          <p:nvPr/>
        </p:nvSpPr>
        <p:spPr>
          <a:xfrm>
            <a:off x="4754879" y="1005839"/>
            <a:ext cx="3932281" cy="2103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1" name="Key Results"/>
          <p:cNvSpPr txBox="1"/>
          <p:nvPr/>
        </p:nvSpPr>
        <p:spPr>
          <a:xfrm>
            <a:off x="5028479" y="1097280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372" name="Only 51.5% of generated sentences are fully supported by citations. Only 74.5% of citations actually support their associated statement."/>
          <p:cNvSpPr txBox="1"/>
          <p:nvPr/>
        </p:nvSpPr>
        <p:spPr>
          <a:xfrm>
            <a:off x="5028479" y="1371599"/>
            <a:ext cx="3384721" cy="36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Only 51.5% of generated sentences are fully supported by citations. Only 74.5% of citations actually support their associated statement.</a:t>
            </a:r>
          </a:p>
        </p:txBody>
      </p:sp>
      <p:sp>
        <p:nvSpPr>
          <p:cNvPr id="373" name="Rectangle"/>
          <p:cNvSpPr/>
          <p:nvPr/>
        </p:nvSpPr>
        <p:spPr>
          <a:xfrm>
            <a:off x="4754879" y="3291840"/>
            <a:ext cx="393228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Relevance to This Study"/>
          <p:cNvSpPr txBox="1"/>
          <p:nvPr/>
        </p:nvSpPr>
        <p:spPr>
          <a:xfrm>
            <a:off x="5028479" y="3383279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375" name="Directly motivates our dual-metric approach: measuring both detectability (surface quality) and factual accuracy. Evading detectors but introducing errors is not useful."/>
          <p:cNvSpPr txBox="1"/>
          <p:nvPr/>
        </p:nvSpPr>
        <p:spPr>
          <a:xfrm>
            <a:off x="5028479" y="3657600"/>
            <a:ext cx="3384721" cy="552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Directly motivates our dual-metric approach: measuring both detectability (surface quality) and factual accuracy. Evading detectors but introducing errors is not useful.</a:t>
            </a:r>
          </a:p>
        </p:txBody>
      </p:sp>
      <p:sp>
        <p:nvSpPr>
          <p:cNvPr id="376" name="Appendix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HUMPA - Proxy Attack  Wang et al. (2025)"/>
          <p:cNvSpPr txBox="1"/>
          <p:nvPr/>
        </p:nvSpPr>
        <p:spPr>
          <a:xfrm>
            <a:off x="502199" y="182879"/>
            <a:ext cx="8139602" cy="38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HUMPA - Proxy Attack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Wang et al. (2025)</a:t>
            </a:r>
          </a:p>
        </p:txBody>
      </p:sp>
      <p:sp>
        <p:nvSpPr>
          <p:cNvPr id="379" name="Tianchun Wang, Yuanzhou Chen, Zichuan Liu, Zhanwen Chen, Haifeng Chen, Xiang Zhang, Wei Cheng  |  ICLR 2025"/>
          <p:cNvSpPr txBox="1"/>
          <p:nvPr/>
        </p:nvSpPr>
        <p:spPr>
          <a:xfrm>
            <a:off x="502199" y="640080"/>
            <a:ext cx="8139602" cy="194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Tianchun Wang, Yuanzhou Chen, Zichuan Liu, Zhanwen Chen, Haifeng Chen, Xiang Zhang, Wei Cheng  |  ICLR 2025</a:t>
            </a:r>
          </a:p>
        </p:txBody>
      </p:sp>
      <p:sp>
        <p:nvSpPr>
          <p:cNvPr id="380" name="Rectangle"/>
          <p:cNvSpPr/>
          <p:nvPr/>
        </p:nvSpPr>
        <p:spPr>
          <a:xfrm>
            <a:off x="457199" y="1005839"/>
            <a:ext cx="3932282" cy="3749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1" name="Core Idea"/>
          <p:cNvSpPr txBox="1"/>
          <p:nvPr/>
        </p:nvSpPr>
        <p:spPr>
          <a:xfrm>
            <a:off x="730799" y="1097280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82" name="A proxy attack (HUMPA) that uses a small, RL-fine-tuned &quot;humanized&quot; language model to shift a large source model's output distribution toward human-like text during decoding."/>
          <p:cNvSpPr txBox="1"/>
          <p:nvPr/>
        </p:nvSpPr>
        <p:spPr>
          <a:xfrm>
            <a:off x="730799" y="137160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 proxy attack (HUMPA) that uses a small, RL-fine-tuned "humanized" language model to shift a large source model's output distribution toward human-like text during decoding.</a:t>
            </a:r>
          </a:p>
        </p:txBody>
      </p:sp>
      <p:sp>
        <p:nvSpPr>
          <p:cNvPr id="383" name="Method"/>
          <p:cNvSpPr txBox="1"/>
          <p:nvPr/>
        </p:nvSpPr>
        <p:spPr>
          <a:xfrm>
            <a:off x="730799" y="237743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384" name="Fine-tune a small LM (e.g., Llama3-8B) via DPO with detector-derived preferences. At inference, the humanized SLM modifies the source model's token probabilities. No source model fine-tuning needed."/>
          <p:cNvSpPr txBox="1"/>
          <p:nvPr/>
        </p:nvSpPr>
        <p:spPr>
          <a:xfrm>
            <a:off x="730799" y="265176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Fine-tune a small LM (e.g., Llama3-8B) via DPO with detector-derived preferences. At inference, the humanized SLM modifies the source model's token probabilities. No source model fine-tuning needed.</a:t>
            </a:r>
          </a:p>
        </p:txBody>
      </p:sp>
      <p:sp>
        <p:nvSpPr>
          <p:cNvPr id="385" name="Limitations"/>
          <p:cNvSpPr txBox="1"/>
          <p:nvPr/>
        </p:nvSpPr>
        <p:spPr>
          <a:xfrm>
            <a:off x="730799" y="338327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86" name="Requires training a proxy model. Utility-detectability tradeoff still exists at extreme settings."/>
          <p:cNvSpPr txBox="1"/>
          <p:nvPr/>
        </p:nvSpPr>
        <p:spPr>
          <a:xfrm>
            <a:off x="730799" y="3657599"/>
            <a:ext cx="3384722" cy="36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Requires training a proxy model. Utility-detectability tradeoff still exists at extreme settings.</a:t>
            </a:r>
          </a:p>
        </p:txBody>
      </p:sp>
      <p:sp>
        <p:nvSpPr>
          <p:cNvPr id="387" name="Rectangle"/>
          <p:cNvSpPr/>
          <p:nvPr/>
        </p:nvSpPr>
        <p:spPr>
          <a:xfrm>
            <a:off x="4754879" y="1005839"/>
            <a:ext cx="3932281" cy="2103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8" name="Key Results"/>
          <p:cNvSpPr txBox="1"/>
          <p:nvPr/>
        </p:nvSpPr>
        <p:spPr>
          <a:xfrm>
            <a:off x="5028479" y="1097280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389" name="Average AUROC drop of 70.4% across datasets. Maximum drop of 95.0% on single dataset. Cross-language scenarios: up to 91.3% relative decrease in detection."/>
          <p:cNvSpPr txBox="1"/>
          <p:nvPr/>
        </p:nvSpPr>
        <p:spPr>
          <a:xfrm>
            <a:off x="5028479" y="1371599"/>
            <a:ext cx="3384721" cy="529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Average AUROC drop of 70.4% across datasets. Maximum drop of 95.0% on single dataset. Cross-language scenarios: up to 91.3% relative decrease in detection.</a:t>
            </a:r>
          </a:p>
        </p:txBody>
      </p:sp>
      <p:sp>
        <p:nvSpPr>
          <p:cNvPr id="390" name="Rectangle"/>
          <p:cNvSpPr/>
          <p:nvPr/>
        </p:nvSpPr>
        <p:spPr>
          <a:xfrm>
            <a:off x="4754879" y="3291840"/>
            <a:ext cx="393228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Relevance to This Study"/>
          <p:cNvSpPr txBox="1"/>
          <p:nvPr/>
        </p:nvSpPr>
        <p:spPr>
          <a:xfrm>
            <a:off x="5028479" y="3383279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392" name="Extends evasion beyond post-hoc paraphrasing to generation-time intervention. Our C4 tests a simpler version; HUMPA shows stronger results at the model level."/>
          <p:cNvSpPr txBox="1"/>
          <p:nvPr/>
        </p:nvSpPr>
        <p:spPr>
          <a:xfrm>
            <a:off x="5028479" y="3657600"/>
            <a:ext cx="3384721" cy="552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Extends evasion beyond post-hoc paraphrasing to generation-time intervention. Our C4 tests a simpler version; HUMPA shows stronger results at the model level.</a:t>
            </a:r>
          </a:p>
        </p:txBody>
      </p:sp>
      <p:sp>
        <p:nvSpPr>
          <p:cNvPr id="393" name="Appendix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DetectRL - Real-World Benchmark  Wu et al. (2024)"/>
          <p:cNvSpPr txBox="1"/>
          <p:nvPr/>
        </p:nvSpPr>
        <p:spPr>
          <a:xfrm>
            <a:off x="502199" y="182879"/>
            <a:ext cx="8139602" cy="38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DetectRL - Real-World Benchmark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Wu et al. (2024)</a:t>
            </a:r>
          </a:p>
        </p:txBody>
      </p:sp>
      <p:sp>
        <p:nvSpPr>
          <p:cNvPr id="396" name="Junchao Wu, Runzhe Zhan, Derek F. Wong, Shu Yang, Xinyi Yang, Yulin Yuan, Lidia S. Chao  |  NeurIPS 2024 (Datasets and Benchmarks Track)"/>
          <p:cNvSpPr txBox="1"/>
          <p:nvPr/>
        </p:nvSpPr>
        <p:spPr>
          <a:xfrm>
            <a:off x="502199" y="640080"/>
            <a:ext cx="8139602" cy="194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Junchao Wu, Runzhe Zhan, Derek F. Wong, Shu Yang, Xinyi Yang, Yulin Yuan, Lidia S. Chao  |  NeurIPS 2024 (Datasets and Benchmarks Track)</a:t>
            </a:r>
          </a:p>
        </p:txBody>
      </p:sp>
      <p:sp>
        <p:nvSpPr>
          <p:cNvPr id="397" name="Rectangle"/>
          <p:cNvSpPr/>
          <p:nvPr/>
        </p:nvSpPr>
        <p:spPr>
          <a:xfrm>
            <a:off x="457199" y="1005839"/>
            <a:ext cx="3932282" cy="3749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98" name="Core Idea"/>
          <p:cNvSpPr txBox="1"/>
          <p:nvPr/>
        </p:nvSpPr>
        <p:spPr>
          <a:xfrm>
            <a:off x="730799" y="1097280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99" name="A benchmark showing that SOTA detectors underperform significantly in real-world conditions vs. idealized lab settings, with adversarial perturbations reducing all zero-shot detectors by 39% AUROC."/>
          <p:cNvSpPr txBox="1"/>
          <p:nvPr/>
        </p:nvSpPr>
        <p:spPr>
          <a:xfrm>
            <a:off x="730799" y="137160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 benchmark showing that SOTA detectors underperform significantly in real-world conditions vs. idealized lab settings, with adversarial perturbations reducing all zero-shot detectors by 39% AUROC.</a:t>
            </a:r>
          </a:p>
        </p:txBody>
      </p:sp>
      <p:sp>
        <p:nvSpPr>
          <p:cNvPr id="400" name="Method"/>
          <p:cNvSpPr txBox="1"/>
          <p:nvPr/>
        </p:nvSpPr>
        <p:spPr>
          <a:xfrm>
            <a:off x="730799" y="237743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401" name="Tests various prompt styles, human revisions, spelling noise, adversarial perturbations, and domain diversity across GPT-3.5, PaLM-2, Claude-instant, Llama-2-70b."/>
          <p:cNvSpPr txBox="1"/>
          <p:nvPr/>
        </p:nvSpPr>
        <p:spPr>
          <a:xfrm>
            <a:off x="730799" y="265176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Tests various prompt styles, human revisions, spelling noise, adversarial perturbations, and domain diversity across GPT-3.5, PaLM-2, Claude-instant, Llama-2-70b.</a:t>
            </a:r>
          </a:p>
        </p:txBody>
      </p:sp>
      <p:sp>
        <p:nvSpPr>
          <p:cNvPr id="402" name="Limitations"/>
          <p:cNvSpPr txBox="1"/>
          <p:nvPr/>
        </p:nvSpPr>
        <p:spPr>
          <a:xfrm>
            <a:off x="730799" y="338327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403" name="Benchmark uses specific LLMs; newer models may produce different results."/>
          <p:cNvSpPr txBox="1"/>
          <p:nvPr/>
        </p:nvSpPr>
        <p:spPr>
          <a:xfrm>
            <a:off x="730799" y="3657599"/>
            <a:ext cx="3384722" cy="36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Benchmark uses specific LLMs; newer models may produce different results.</a:t>
            </a:r>
          </a:p>
        </p:txBody>
      </p:sp>
      <p:sp>
        <p:nvSpPr>
          <p:cNvPr id="404" name="Rectangle"/>
          <p:cNvSpPr/>
          <p:nvPr/>
        </p:nvSpPr>
        <p:spPr>
          <a:xfrm>
            <a:off x="4754879" y="1005839"/>
            <a:ext cx="3932281" cy="2103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05" name="Key Results"/>
          <p:cNvSpPr txBox="1"/>
          <p:nvPr/>
        </p:nvSpPr>
        <p:spPr>
          <a:xfrm>
            <a:off x="5028479" y="1097280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406" name="Adversarial attacks reduce zero-shot detectors by 39.28% AUROC on average. Informal domain data degrades detection most. Supervised detectors more robust than zero-shot."/>
          <p:cNvSpPr txBox="1"/>
          <p:nvPr/>
        </p:nvSpPr>
        <p:spPr>
          <a:xfrm>
            <a:off x="5028479" y="1371599"/>
            <a:ext cx="3384721" cy="529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Adversarial attacks reduce zero-shot detectors by 39.28% AUROC on average. Informal domain data degrades detection most. Supervised detectors more robust than zero-shot.</a:t>
            </a:r>
          </a:p>
        </p:txBody>
      </p:sp>
      <p:sp>
        <p:nvSpPr>
          <p:cNvPr id="407" name="Rectangle"/>
          <p:cNvSpPr/>
          <p:nvPr/>
        </p:nvSpPr>
        <p:spPr>
          <a:xfrm>
            <a:off x="4754879" y="3291840"/>
            <a:ext cx="393228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8" name="Relevance to This Study"/>
          <p:cNvSpPr txBox="1"/>
          <p:nvPr/>
        </p:nvSpPr>
        <p:spPr>
          <a:xfrm>
            <a:off x="5028479" y="3383279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409" name="Validates our multi-detector evaluation approach and the importance of testing under realistic conditions (not just clean AI output vs. clean human text)."/>
          <p:cNvSpPr txBox="1"/>
          <p:nvPr/>
        </p:nvSpPr>
        <p:spPr>
          <a:xfrm>
            <a:off x="5028479" y="3657600"/>
            <a:ext cx="3384721" cy="552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Validates our multi-detector evaluation approach and the importance of testing under realistic conditions (not just clean AI output vs. clean human text).</a:t>
            </a:r>
          </a:p>
        </p:txBody>
      </p:sp>
      <p:sp>
        <p:nvSpPr>
          <p:cNvPr id="410" name="Appendix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Distinct Style Persists  Rivera Soto et al. (2025)"/>
          <p:cNvSpPr txBox="1"/>
          <p:nvPr/>
        </p:nvSpPr>
        <p:spPr>
          <a:xfrm>
            <a:off x="502199" y="182879"/>
            <a:ext cx="8139602" cy="38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Distinct Style Persists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Rivera Soto et al. (2025)</a:t>
            </a:r>
          </a:p>
        </p:txBody>
      </p:sp>
      <p:sp>
        <p:nvSpPr>
          <p:cNvPr id="413" name="Rafael Rivera Soto, Barry Chen, Nicholas Andrews  |  arXiv preprint (2025)"/>
          <p:cNvSpPr txBox="1"/>
          <p:nvPr/>
        </p:nvSpPr>
        <p:spPr>
          <a:xfrm>
            <a:off x="502199" y="640080"/>
            <a:ext cx="8139602" cy="194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Rafael Rivera Soto, Barry Chen, Nicholas Andrews  |  arXiv preprint (2025)</a:t>
            </a:r>
          </a:p>
        </p:txBody>
      </p:sp>
      <p:sp>
        <p:nvSpPr>
          <p:cNvPr id="414" name="Rectangle"/>
          <p:cNvSpPr/>
          <p:nvPr/>
        </p:nvSpPr>
        <p:spPr>
          <a:xfrm>
            <a:off x="457199" y="1005839"/>
            <a:ext cx="3932282" cy="3749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5" name="Core Idea"/>
          <p:cNvSpPr txBox="1"/>
          <p:nvPr/>
        </p:nvSpPr>
        <p:spPr>
          <a:xfrm>
            <a:off x="730799" y="1097280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416" name="Even when LLMs are explicitly optimized via RL to evade detectors, they retain identifiable stylistic signatures in a stylistic feature space. Style-aware paraphrasing is needed to truly close the gap."/>
          <p:cNvSpPr txBox="1"/>
          <p:nvPr/>
        </p:nvSpPr>
        <p:spPr>
          <a:xfrm>
            <a:off x="730799" y="137160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Even when LLMs are explicitly optimized via RL to evade detectors, they retain identifiable stylistic signatures in a stylistic feature space. Style-aware paraphrasing is needed to truly close the gap.</a:t>
            </a:r>
          </a:p>
        </p:txBody>
      </p:sp>
      <p:sp>
        <p:nvSpPr>
          <p:cNvPr id="417" name="Method"/>
          <p:cNvSpPr txBox="1"/>
          <p:nvPr/>
        </p:nvSpPr>
        <p:spPr>
          <a:xfrm>
            <a:off x="730799" y="237743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418" name="Analyzes stylistic features of RL-optimized models. Proposes style-aware paraphrasing that targets both statistical and stylistic detection axes."/>
          <p:cNvSpPr txBox="1"/>
          <p:nvPr/>
        </p:nvSpPr>
        <p:spPr>
          <a:xfrm>
            <a:off x="730799" y="2651760"/>
            <a:ext cx="3384722" cy="52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Analyzes stylistic features of RL-optimized models. Proposes style-aware paraphrasing that targets both statistical and stylistic detection axes.</a:t>
            </a:r>
          </a:p>
        </p:txBody>
      </p:sp>
      <p:sp>
        <p:nvSpPr>
          <p:cNvPr id="419" name="Limitations"/>
          <p:cNvSpPr txBox="1"/>
          <p:nvPr/>
        </p:nvSpPr>
        <p:spPr>
          <a:xfrm>
            <a:off x="730799" y="3383279"/>
            <a:ext cx="3384722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420" name="Multi-sample detection requires multiple documents from the same source, which may not always be available."/>
          <p:cNvSpPr txBox="1"/>
          <p:nvPr/>
        </p:nvSpPr>
        <p:spPr>
          <a:xfrm>
            <a:off x="730799" y="3657599"/>
            <a:ext cx="3384722" cy="36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Multi-sample detection requires multiple documents from the same source, which may not always be available.</a:t>
            </a:r>
          </a:p>
        </p:txBody>
      </p:sp>
      <p:sp>
        <p:nvSpPr>
          <p:cNvPr id="421" name="Rectangle"/>
          <p:cNvSpPr/>
          <p:nvPr/>
        </p:nvSpPr>
        <p:spPr>
          <a:xfrm>
            <a:off x="4754879" y="1005839"/>
            <a:ext cx="3932281" cy="2103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2" name="Key Results"/>
          <p:cNvSpPr txBox="1"/>
          <p:nvPr/>
        </p:nvSpPr>
        <p:spPr>
          <a:xfrm>
            <a:off x="5028479" y="1097280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423" name="Models fine-tuned to fool detectors still have a distinct writing style. Style-aware paraphrasing evades single-sample detection but multi-sample analysis remains robust."/>
          <p:cNvSpPr txBox="1"/>
          <p:nvPr/>
        </p:nvSpPr>
        <p:spPr>
          <a:xfrm>
            <a:off x="5028479" y="1371599"/>
            <a:ext cx="3384721" cy="529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Models fine-tuned to fool detectors still have a distinct writing style. Style-aware paraphrasing evades single-sample detection but multi-sample analysis remains robust.</a:t>
            </a:r>
          </a:p>
        </p:txBody>
      </p:sp>
      <p:sp>
        <p:nvSpPr>
          <p:cNvPr id="424" name="Rectangle"/>
          <p:cNvSpPr/>
          <p:nvPr/>
        </p:nvSpPr>
        <p:spPr>
          <a:xfrm>
            <a:off x="4754879" y="3291840"/>
            <a:ext cx="393228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Relevance to This Study"/>
          <p:cNvSpPr txBox="1"/>
          <p:nvPr/>
        </p:nvSpPr>
        <p:spPr>
          <a:xfrm>
            <a:off x="5028479" y="3383279"/>
            <a:ext cx="3384721" cy="2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426" name="Directly supports our H5 hypothesis - measurable linguistic features (sentence variance, contractions, discourse markers) form a robust detection axis. Aligns with our 10-feature analysis."/>
          <p:cNvSpPr txBox="1"/>
          <p:nvPr/>
        </p:nvSpPr>
        <p:spPr>
          <a:xfrm>
            <a:off x="5028479" y="3657600"/>
            <a:ext cx="3384721" cy="552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Directly supports our H5 hypothesis - measurable linguistic features (sentence variance, contractions, discourse markers) form a robust detection axis. Aligns with our 10-feature analysis.</a:t>
            </a:r>
          </a:p>
        </p:txBody>
      </p:sp>
      <p:sp>
        <p:nvSpPr>
          <p:cNvPr id="427" name="Appendix"/>
          <p:cNvSpPr txBox="1"/>
          <p:nvPr/>
        </p:nvSpPr>
        <p:spPr>
          <a:xfrm>
            <a:off x="8091719" y="4754879"/>
            <a:ext cx="824401" cy="204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00" name="Literature Review"/>
          <p:cNvSpPr txBox="1"/>
          <p:nvPr/>
        </p:nvSpPr>
        <p:spPr>
          <a:xfrm>
            <a:off x="776519" y="320039"/>
            <a:ext cx="4482001" cy="559901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3200" lang="en-US">
                <a:solidFill>
                  <a:srgbClr val="1D283A"/>
                </a:solidFill>
                <a:latin typeface="Trebuchet MS"/>
              </a:rPr>
              <a:t>Literature Review</a:t>
            </a:r>
          </a:p>
        </p:txBody>
      </p:sp>
      <!-- CATEGORY SUBTITLE -->
      <p:sp>
        <p:nvSpPr>
          <p:cNvPr id="201" name="Category"/>
          <p:cNvSpPr txBox="1"/>
          <p:nvPr/>
        </p:nvSpPr>
        <p:spPr>
          <a:xfrm>
            <a:off x="776519" y="900000"/>
            <a:ext cx="7591081" cy="3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800" lang="en-US">
                <a:solidFill>
                  <a:srgbClr val="F59E0A"/>
                </a:solidFill>
                <a:latin typeface="Trebuchet MS"/>
              </a:rPr>
              <a:t>Detector Limitations &amp; Stylistic Features</a:t>
            </a:r>
          </a:p>
        </p:txBody>
      </p:sp>
      <!-- PAPER 1: Liang et al. -->
      <p:sp>
        <p:nvSpPr>
          <p:cNvPr id="202" name="Paper 1"/>
          <p:cNvSpPr txBox="1"/>
          <p:nvPr/>
        </p:nvSpPr>
        <p:spPr>
          <a:xfrm>
            <a:off x="776519" y="1250000"/>
            <a:ext cx="7591081" cy="9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300" lang="en-US">
                <a:solidFill>
                  <a:srgbClr val="F59E0A"/>
                </a:solidFill>
                <a:latin typeface="Calibri"/>
              </a:rPr>
              <a:t>Liang et al. (2023)</a:t>
            </a:r>
          </a:p>
          <a:p>
            <a:pPr/>
            <a:r>
              <a:rPr b="1" i="1" sz="1300" lang="en-US">
                <a:solidFill>
                  <a:srgbClr val="1D283A"/>
                </a:solidFill>
                <a:latin typeface="Calibri"/>
              </a:rPr>
              <a:t>GPT Detectors Are Biased Against Non-Native English Writers</a:t>
            </a:r>
          </a:p>
          <a:p>
            <a:pPr>
              <a:lnSpc>
                <a:spcPct val="130000"/>
              </a:lnSpc>
            </a:pPr>
            <a:r>
              <a:rPr sz="1300" lang="en-US">
                <a:solidFill>
                  <a:srgbClr val="63738B"/>
                </a:solidFill>
                <a:latin typeface="Calibri"/>
              </a:rPr>
              <a:t>Detectors show 61% false positive rate on non-native English writing. Highlights equity concerns in detector deployment and evaluation.</a:t>
            </a:r>
          </a:p>
        </p:txBody>
      </p:sp>
      <!-- PAPER 2: Wu et al. -->
      <p:sp>
        <p:nvSpPr>
          <p:cNvPr id="203" name="Paper 2"/>
          <p:cNvSpPr txBox="1"/>
          <p:nvPr/>
        </p:nvSpPr>
        <p:spPr>
          <a:xfrm>
            <a:off x="776519" y="2150000"/>
            <a:ext cx="7591081" cy="95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300" lang="en-US">
                <a:solidFill>
                  <a:srgbClr val="F59E0A"/>
                </a:solidFill>
                <a:latin typeface="Calibri"/>
              </a:rPr>
              <a:t>Wu et al. (2024)</a:t>
            </a:r>
          </a:p>
          <a:p>
            <a:pPr/>
            <a:r>
              <a:rPr b="1" i="1" sz="1300" lang="en-US">
                <a:solidFill>
                  <a:srgbClr val="1D283A"/>
                </a:solidFill>
                <a:latin typeface="Calibri"/>
              </a:rPr>
              <a:t>DetectRL: Benchmarking LLM-Generated Text Detection in Real-World Scenarios (NeurIPS 2024)</a:t>
            </a:r>
          </a:p>
          <a:p>
            <a:pPr>
              <a:lnSpc>
                <a:spcPct val="130000"/>
              </a:lnSpc>
            </a:pPr>
            <a:r>
              <a:rPr sz="1300" lang="en-US">
                <a:solidFill>
                  <a:srgbClr val="63738B"/>
                </a:solidFill>
                <a:latin typeface="Calibri"/>
              </a:rPr>
              <a:t>Benchmarks SOTA detectors on real-world text, showing significant performance drops vs. lab conditions. Motivates ecological validity.</a:t>
            </a:r>
          </a:p>
        </p:txBody>
      </p:sp>
      <!-- PAPER 3: Rivera Soto et al. -->
      <p:sp>
        <p:nvSpPr>
          <p:cNvPr id="204" name="Paper 3"/>
          <p:cNvSpPr txBox="1"/>
          <p:nvPr/>
        </p:nvSpPr>
        <p:spPr>
          <a:xfrm>
            <a:off x="776519" y="3200000"/>
            <a:ext cx="7591081" cy="95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300" lang="en-US">
                <a:solidFill>
                  <a:srgbClr val="F59E0A"/>
                </a:solidFill>
                <a:latin typeface="Calibri"/>
              </a:rPr>
              <a:t>Rivera Soto et al. (2025)</a:t>
            </a:r>
          </a:p>
          <a:p>
            <a:pPr/>
            <a:r>
              <a:rPr b="1" i="1" sz="1300" lang="en-US">
                <a:solidFill>
                  <a:srgbClr val="1D283A"/>
                </a:solidFill>
                <a:latin typeface="Calibri"/>
              </a:rPr>
              <a:t>LLMs Maintain a Distinct Style Despite Adversarial Training</a:t>
            </a:r>
          </a:p>
          <a:p>
            <a:pPr>
              <a:lnSpc>
                <a:spcPct val="130000"/>
              </a:lnSpc>
            </a:pPr>
            <a:r>
              <a:rPr sz="1300" lang="en-US">
                <a:solidFill>
                  <a:srgbClr val="63738B"/>
                </a:solidFill>
                <a:latin typeface="Calibri"/>
              </a:rPr>
              <a:t>Models trained to evade detectors still retain measurable stylistic fingerprints. Supports using linguistic feature analysis as a complementary detection axis.</a:t>
            </a:r>
          </a:p>
        </p:txBody>
      </p:sp>
      <!-- PAGE NUMBER -->
      <p:sp>
        <p:nvSpPr>
          <p:cNvPr id="205" name="Page Number"/>
          <p:cNvSpPr txBox="1"/>
          <p:nvPr/>
        </p:nvSpPr>
        <p:spPr>
          <a:xfrm>
            <a:off x="8091719" y="4754879"/>
            <a:ext cx="952381" cy="3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 algn="r"/>
            <a:r>
              <a:rPr sz="1300" lang="en-US">
                <a:solidFill>
                  <a:srgbClr val="63738B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00" name="Literature Review"/>
          <p:cNvSpPr txBox="1"/>
          <p:nvPr/>
        </p:nvSpPr>
        <p:spPr>
          <a:xfrm>
            <a:off x="776519" y="320039"/>
            <a:ext cx="4482001" cy="559901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3200" lang="en-US">
                <a:solidFill>
                  <a:srgbClr val="1D283A"/>
                </a:solidFill>
                <a:latin typeface="Trebuchet MS"/>
              </a:rPr>
              <a:t>Literature Review</a:t>
            </a:r>
          </a:p>
        </p:txBody>
      </p:sp>
      <!-- CATEGORY SUBTITLE -->
      <p:sp>
        <p:nvSpPr>
          <p:cNvPr id="201" name="Category"/>
          <p:cNvSpPr txBox="1"/>
          <p:nvPr/>
        </p:nvSpPr>
        <p:spPr>
          <a:xfrm>
            <a:off x="776519" y="900000"/>
            <a:ext cx="7591081" cy="3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800" lang="en-US">
                <a:solidFill>
                  <a:srgbClr val="0FB981"/>
                </a:solidFill>
                <a:latin typeface="Trebuchet MS"/>
              </a:rPr>
              <a:t>Accuracy Metrics &amp; Research Gap</a:t>
            </a:r>
          </a:p>
        </p:txBody>
      </p:sp>
      <!-- PAPER 1: Gao et al. -->
      <p:sp>
        <p:nvSpPr>
          <p:cNvPr id="202" name="Paper 1"/>
          <p:cNvSpPr txBox="1"/>
          <p:nvPr/>
        </p:nvSpPr>
        <p:spPr>
          <a:xfrm>
            <a:off x="776519" y="1250000"/>
            <a:ext cx="7591081" cy="9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300" lang="en-US">
                <a:solidFill>
                  <a:srgbClr val="0FB981"/>
                </a:solidFill>
                <a:latin typeface="Calibri"/>
              </a:rPr>
              <a:t>Gao et al. (2023)</a:t>
            </a:r>
          </a:p>
          <a:p>
            <a:pPr/>
            <a:r>
              <a:rPr b="1" i="1" sz="1300" lang="en-US">
                <a:solidFill>
                  <a:srgbClr val="1D283A"/>
                </a:solidFill>
                <a:latin typeface="Calibri"/>
              </a:rPr>
              <a:t>ALCE: Enabling Fine-Grained Evaluation of Language Model Citations (EMNLP 2023)</a:t>
            </a:r>
          </a:p>
          <a:p>
            <a:pPr>
              <a:lnSpc>
                <a:spcPct val="130000"/>
              </a:lnSpc>
            </a:pPr>
            <a:r>
              <a:rPr sz="1300" lang="en-US">
                <a:solidFill>
                  <a:srgbClr val="63738B"/>
                </a:solidFill>
                <a:latin typeface="Calibri"/>
              </a:rPr>
              <a:t>Proposes citation-level precision and recall metrics for evaluating factual grounding. Framework adopted for accuracy evaluation in this study.</a:t>
            </a:r>
          </a:p>
        </p:txBody>
      </p:sp>
      <!-- PAPER 2: Liu et al. -->
      <p:sp>
        <p:nvSpPr>
          <p:cNvPr id="203" name="Paper 2"/>
          <p:cNvSpPr txBox="1"/>
          <p:nvPr/>
        </p:nvSpPr>
        <p:spPr>
          <a:xfrm>
            <a:off x="776519" y="2200000"/>
            <a:ext cx="7591081" cy="9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300" lang="en-US">
                <a:solidFill>
                  <a:srgbClr val="0FB981"/>
                </a:solidFill>
                <a:latin typeface="Calibri"/>
              </a:rPr>
              <a:t>Liu et al. (2023)</a:t>
            </a:r>
          </a:p>
          <a:p>
            <a:pPr/>
            <a:r>
              <a:rPr b="1" i="1" sz="1300" lang="en-US">
                <a:solidFill>
                  <a:srgbClr val="1D283A"/>
                </a:solidFill>
                <a:latin typeface="Calibri"/>
              </a:rPr>
              <a:t>Evaluating Verifiability in Generative Search Engines (EMNLP 2023)</a:t>
            </a:r>
          </a:p>
          <a:p>
            <a:pPr>
              <a:lnSpc>
                <a:spcPct val="130000"/>
              </a:lnSpc>
            </a:pPr>
            <a:r>
              <a:rPr sz="1300" lang="en-US">
                <a:solidFill>
                  <a:srgbClr val="63738B"/>
                </a:solidFill>
                <a:latin typeface="Calibri"/>
              </a:rPr>
              <a:t>Shows high surface fluency does not guarantee factual accuracy. Motivates our dual-metric design (detectability + factual accuracy).</a:t>
            </a:r>
          </a:p>
        </p:txBody>
      </p:sp>
      <!-- GAP SECTION -->
      <p:sp>
        <p:nvSpPr>
          <p:cNvPr id="204" name="Gap Title"/>
          <p:cNvSpPr txBox="1"/>
          <p:nvPr/>
        </p:nvSpPr>
        <p:spPr>
          <a:xfrm>
            <a:off x="776519" y="3180000"/>
            <a:ext cx="7591081" cy="4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/>
            <a:r>
              <a:rPr b="1" sz="1500" lang="en-US">
                <a:solidFill>
                  <a:srgbClr val="3B82F6"/>
                </a:solidFill>
                <a:latin typeface="Trebuchet MS"/>
              </a:rPr>
              <a:t>Gap This Study Addresses</a:t>
            </a:r>
          </a:p>
        </p:txBody>
      </p:sp>
      <!-- GAP DESCRIPTION -->
      <p:sp>
        <p:nvSpPr>
          <p:cNvPr id="205" name="Gap Description"/>
          <p:cNvSpPr txBox="1"/>
          <p:nvPr/>
        </p:nvSpPr>
        <p:spPr>
          <a:xfrm>
            <a:off x="776519" y="3650000"/>
            <a:ext cx="7591081" cy="10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>
              <a:lnSpc>
                <a:spcPct val="130000"/>
              </a:lnSpc>
            </a:pPr>
            <a:r>
              <a:rPr sz="1300" lang="en-US">
                <a:solidFill>
                  <a:srgbClr val="63738B"/>
                </a:solidFill>
                <a:latin typeface="Calibri"/>
              </a:rPr>
              <a:t>No prior work systematically isolates which content generation pipeline decisions reduce detectability while tracking factual accuracy as a co-metric. This study fills that gap with a controlled ablation design.</a:t>
            </a:r>
          </a:p>
        </p:txBody>
      </p:sp>
      <!-- PAGE NUMBER -->
      <p:sp>
        <p:nvSpPr>
          <p:cNvPr id="206" name="Page Number"/>
          <p:cNvSpPr txBox="1"/>
          <p:nvPr/>
        </p:nvSpPr>
        <p:spPr>
          <a:xfrm>
            <a:off x="8091719" y="4754879"/>
            <a:ext cx="952381" cy="300000"/>
          </a:xfrm>
          <a:prstGeom prst="rect">
            <a:avLst/>
          </a:prstGeom>
          <a:noFill/>
        </p:spPr>
        <p:txBody>
          <a:bodyPr lIns="44999" tIns="44999" rIns="44999" bIns="44999">
            <a:spAutoFit/>
          </a:bodyPr>
          <a:lstStyle/>
          <a:p>
            <a:pPr algn="r"/>
            <a:r>
              <a:rPr sz="1300" lang="en-US">
                <a:solidFill>
                  <a:srgbClr val="63738B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